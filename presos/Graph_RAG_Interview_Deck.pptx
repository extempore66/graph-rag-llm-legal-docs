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a:p>
            <a:r>
              <a:t>Say "document", not "page". Page-level citation is my system, which tracks a page number per passage. What their documentation supports is a citable_url per file and "document references" from Instant Search. Claiming page-level precision for their product, in front of their engineers, is exactly the kind of small overreach that costs credibility for nothing.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09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merge-as-an-edge matters more than it sounds. The alternative is to pick a winner, rewrite every edge pointing at the loser, and delete it. That is expensive, it destroys the record of what was originally decided, and it cannot be undone. Keeping identity as a link means a wrong merge is one delete away from being fixed, and every mention still points where it was first resolved — which is what lets you audit the decision later.</a:t>
            </a:r>
          </a:p>
          <a:p>
            <a:r>
              <a:t>Three things that stay genuinely hard, if pressed. First, order dependence: whichever spelling loads first becomes the node's display name, so "Det. Recarey" can end up canonical by accident. Fixable by choosing the family's best name at query time instead of storing a winner. Second, non-determinism: the same documents loaded in a different order give a slightly different graph, which is uncomfortable for evidence. The answer is to log each resolution decision with its inputs, so a result can be explained rather than merely reproduced. Third, cascades: merging A with B can make the pair match C. I would do one pass and flag the rest rather than iterate — chasing a fixed point is how one node ends up swallowing the graph.</a:t>
            </a:r>
          </a:p>
          <a:p>
            <a:r>
              <a:t>Operationally this wants a queue rather than a script: per-document jobs, retries, and one unreadable PDF that cannot stall the matter. Chunk-level resumability already exists, so a crashed job resumes instead of starting over. For court filings the RECAP/PACER API means you can watch a docket rather than wait for someone to drop files in a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tenancy choice is a real trade, so do not present it as obvious. A database per matter buys hard isolation and clean deletion, and costs you cross-matter queries plus a few hundred databases to administer. One database sharded on the matter keeps cross-matter questions available and turns deletion into a large filtered delete. I would take the database per matter, because the isolation requirement here is ethical rather than technical, and requirements of that kind should not rest on everyone remembering a WHERE clause.</a:t>
            </a:r>
          </a:p>
          <a:p>
            <a:r>
              <a:t>The per-corpus settings point is this deck's own argument, turned into a config file. If the kind of documents you have decides the approach — slide 06 — then the pipeline should take the kind of documents as a parameter. Right now the thresholds are environment variables, which is fine for one corpus and wrong for many.</a:t>
            </a:r>
          </a:p>
          <a:p>
            <a:r>
              <a:t>On the warning. Both of my worst defects were library defaults behaving reasonably: case-sensitive name comparison, and taking five candidates off an unsorted list. Neither was visible by reading the code, both were obvious in the output, and both scaled with entity count so a small test could not surface them. The practical step after a first full run is to sort the entities by name similarity and read the top few hundred clusters. It is an afternoon, and it catches the class of bug that only exists at scale.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It reads everything once, so nobody on your team has to read it again.</a:t>
            </a:r>
          </a:p>
          <a:p>
            <a:pPr>
              <a:spcBef>
                <a:spcPts val="300"/>
              </a:spcBef>
              <a:spcAft>
                <a:spcPts val="100"/>
              </a:spcAft>
            </a:pPr>
            <a:r>
              <a:rPr sz="1200" b="0" i="0">
                <a:solidFill>
                  <a:srgbClr val="14171B"/>
                </a:solidFill>
                <a:latin typeface="Helvetica Neue"/>
              </a:rPr>
              <a:t>•  Every answer carries a reference back to its source document.</a:t>
            </a:r>
          </a:p>
          <a:p>
            <a:pPr lvl="1">
              <a:spcBef>
                <a:spcPts val="0"/>
              </a:spcBef>
              <a:spcAft>
                <a:spcPts val="400"/>
              </a:spcAft>
            </a:pPr>
            <a:r>
              <a:rPr sz="1100" b="0" i="1">
                <a:solidFill>
                  <a:srgbClr val="4A5158"/>
                </a:solidFill>
                <a:latin typeface="Georgia"/>
              </a:rPr>
              <a:t>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37464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answers about the collection as a whole. It reads the pre-written topic reports rather than walking the graph. Available through the API only — a prospect evaluating from the web interface never sees it.</a:t>
            </a:r>
          </a:p>
          <a:p>
            <a:pPr lvl="1">
              <a:spcBef>
                <a:spcPts val="0"/>
              </a:spcBef>
              <a:spcAft>
                <a:spcPts val="400"/>
              </a:spcAft>
            </a:pPr>
            <a:r>
              <a:rPr sz="1100" b="0" i="1">
                <a:solidFill>
                  <a:srgbClr val="4A5158"/>
                </a:solidFill>
                <a:latin typeface="Georgia"/>
              </a:rPr>
              <a:t>"What is actually in here?" is the first thing anyone asks, and ordinary search cannot do it.</a:t>
            </a:r>
          </a:p>
          <a:p>
            <a:pPr>
              <a:spcBef>
                <a:spcPts val="300"/>
              </a:spcBef>
              <a:spcAft>
                <a:spcPts val="100"/>
              </a:spcAft>
            </a:pPr>
            <a:r>
              <a:rPr sz="1200" b="0" i="0">
                <a:solidFill>
                  <a:srgbClr val="14171B"/>
                </a:solidFill>
                <a:latin typeface="Helvetica Neue"/>
              </a:rPr>
              <a:t>•  Theirs is five methods you choose between. Mine runs four at once. Meaning, keywords, document density and graph traversal each search the whole corpus, and the results are merged by rank.</a:t>
            </a:r>
          </a:p>
          <a:p>
            <a:pPr lvl="1">
              <a:spcBef>
                <a:spcPts val="0"/>
              </a:spcBef>
              <a:spcAft>
                <a:spcPts val="400"/>
              </a:spcAft>
            </a:pPr>
            <a:r>
              <a:rPr sz="1100" b="0" i="1">
                <a:solidFill>
                  <a:srgbClr val="4A5158"/>
                </a:solidFill>
                <a:latin typeface="Georgia"/>
              </a:rPr>
              <a:t>No single method's blind spot gets to decide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7782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LESS THAN IDEAL FIT</a:t>
            </a:r>
          </a:p>
          <a:p>
            <a:pPr>
              <a:spcBef>
                <a:spcPts val="300"/>
              </a:spcBef>
              <a:spcAft>
                <a:spcPts val="300"/>
              </a:spcAft>
            </a:pPr>
            <a:r>
              <a:rPr sz="1200" b="0" i="0">
                <a:solidFill>
                  <a:srgbClr val="14171B"/>
                </a:solidFill>
                <a:latin typeface="Helvetica Neue"/>
              </a:rPr>
              <a:t>•  Answers that live in one passage rather than in a topic. Chunk embeddings are off by default, so a single sentence that does not characterise its topic has no surface to be found on until you switch them on.</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that opens up the chances of discrepancies and problems.</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855464"/>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Groups the graph into topics, and writes a report on each. Global Search reads the reports rather than walking the graph.</a:t>
            </a:r>
          </a:p>
          <a:p>
            <a:pPr lvl="1">
              <a:spcBef>
                <a:spcPts val="0"/>
              </a:spcBef>
              <a:spcAft>
                <a:spcPts val="400"/>
              </a:spcAft>
            </a:pPr>
            <a:r>
              <a:rPr sz="1100" b="0" i="1">
                <a:solidFill>
                  <a:srgbClr val="4A5158"/>
                </a:solidFill>
                <a:latin typeface="Georgia"/>
              </a:rPr>
              <a:t>It can describe a whole collection, not just find a passage in it.</a:t>
            </a:r>
          </a:p>
          <a:p>
            <a:pPr>
              <a:spcBef>
                <a:spcPts val="300"/>
              </a:spcBef>
              <a:spcAft>
                <a:spcPts val="100"/>
              </a:spcAft>
            </a:pPr>
            <a:r>
              <a:rPr sz="1200" b="0" i="0">
                <a:solidFill>
                  <a:srgbClr val="14171B"/>
                </a:solidFill>
                <a:latin typeface="Helvetica Neue"/>
              </a:rPr>
              <a:t>•  Those reports should absorb duplicate names — two spellings land in one topic, described as one person. (my reading, not their docs)</a:t>
            </a:r>
          </a:p>
          <a:p>
            <a:pPr lvl="1">
              <a:spcBef>
                <a:spcPts val="0"/>
              </a:spcBef>
              <a:spcAft>
                <a:spcPts val="400"/>
              </a:spcAft>
            </a:pPr>
            <a:r>
              <a:rPr sz="1100" b="0" i="1">
                <a:solidFill>
                  <a:srgbClr val="4A5158"/>
                </a:solidFill>
                <a:latin typeface="Georgia"/>
              </a:rPr>
              <a:t>On well-named documents, the problem mostly solves itself.</a:t>
            </a:r>
          </a:p>
          <a:p>
            <a:pPr>
              <a:spcBef>
                <a:spcPts val="300"/>
              </a:spcBef>
              <a:spcAft>
                <a:spcPts val="100"/>
              </a:spcAft>
            </a:pPr>
            <a:r>
              <a:rPr sz="1200" b="0" i="0">
                <a:solidFill>
                  <a:srgbClr val="14171B"/>
                </a:solidFill>
                <a:latin typeface="Helvetica Neue"/>
              </a:rPr>
              <a:t>•  Suits consistently-named material — documentation, reports, structured filings. (inferred; their stated target is broader)</a:t>
            </a:r>
          </a:p>
          <a:p>
            <a:pPr lvl="1">
              <a:spcBef>
                <a:spcPts val="0"/>
              </a:spcBef>
              <a:spcAft>
                <a:spcPts val="400"/>
              </a:spcAft>
            </a:pPr>
            <a:r>
              <a:rPr sz="1100" b="0" i="1">
                <a:solidFill>
                  <a:srgbClr val="4A5158"/>
                </a:solidFill>
                <a:latin typeface="Georgia"/>
              </a:rPr>
              <a:t>Most business content is written this way.</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Their full parameter reference has no merge or resolution setting. A knob exists for entities the model missed. None asks whether it counted one twice.</a:t>
            </a:r>
          </a:p>
          <a:p>
            <a:pPr lvl="1">
              <a:spcBef>
                <a:spcPts val="0"/>
              </a:spcBef>
              <a:spcAft>
                <a:spcPts val="400"/>
              </a:spcAft>
            </a:pPr>
            <a:r>
              <a:rPr sz="1100" b="0" i="1">
                <a:solidFill>
                  <a:srgbClr val="4A5158"/>
                </a:solidFill>
                <a:latin typeface="Georgia"/>
              </a:rPr>
              <a:t>Finding more is a setting. Not double-counting is not.</a:t>
            </a:r>
          </a:p>
          <a:p>
            <a:pPr>
              <a:spcBef>
                <a:spcPts val="300"/>
              </a:spcBef>
              <a:spcAft>
                <a:spcPts val="100"/>
              </a:spcAft>
            </a:pPr>
            <a:r>
              <a:rPr sz="1200" b="0" i="0">
                <a:solidFill>
                  <a:srgbClr val="14171B"/>
                </a:solidFill>
                <a:latin typeface="Helvetica Neue"/>
              </a:rPr>
              <a:t>•  Two nodes for one person means half the connections, with no warning. (my reading)</a:t>
            </a:r>
          </a:p>
          <a:p>
            <a:pPr lvl="1">
              <a:spcBef>
                <a:spcPts val="0"/>
              </a:spcBef>
              <a:spcAft>
                <a:spcPts val="400"/>
              </a:spcAft>
            </a:pPr>
            <a:r>
              <a:rPr sz="1100" b="0" i="1">
                <a:solidFill>
                  <a:srgbClr val="4A5158"/>
                </a:solidFill>
                <a:latin typeface="Georgia"/>
              </a:rPr>
              <a:t>The answer looks complete when it is not.</a:t>
            </a:r>
          </a:p>
          <a:p>
            <a:pPr>
              <a:spcBef>
                <a:spcPts val="300"/>
              </a:spcBef>
              <a:spcAft>
                <a:spcPts val="100"/>
              </a:spcAft>
            </a:pPr>
            <a:r>
              <a:rPr sz="1200" b="0" i="0">
                <a:solidFill>
                  <a:srgbClr val="14171B"/>
                </a:solidFill>
                <a:latin typeface="Helvetica Neue"/>
              </a:rPr>
              <a:t>•  My documents name people loosely. RECAREY, JOSEPH · Det. Recarey · Mr. Recarey — one man, one docket. Resolving 19,009 mentions into 2,014 people took 19.8 hours, the most expensive stage in the build.</a:t>
            </a:r>
          </a:p>
          <a:p>
            <a:pPr lvl="1">
              <a:spcBef>
                <a:spcPts val="0"/>
              </a:spcBef>
              <a:spcAft>
                <a:spcPts val="400"/>
              </a:spcAft>
            </a:pPr>
            <a:r>
              <a:rPr sz="1100" b="0" i="1">
                <a:solidFill>
                  <a:srgbClr val="4A5158"/>
                </a:solidFill>
                <a:latin typeface="Georgia"/>
              </a:rPr>
              <a:t>Documents that name things consistently never need this step.</a:t>
            </a:r>
          </a:p>
          <a:p>
            <a:pPr>
              <a:spcBef>
                <a:spcPts val="700"/>
              </a:spcBef>
              <a:spcAft>
                <a:spcPts val="400"/>
              </a:spcAft>
            </a:pPr>
            <a:r>
              <a:rPr sz="1200" b="0" i="1">
                <a:solidFill>
                  <a:srgbClr val="1E3A5F"/>
                </a:solidFill>
                <a:latin typeface="Helvetica Neue"/>
              </a:rPr>
              <a:t>Said carefully: I read their docs, not their source, and did not test the product. They do publish entity resolution — as an AQL pattern users write, matching structured attributes rather than names in prose. The fair question is on their ground: how does the Importer handle k8s versus Kubernetes?</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153915"/>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DOCUMENTS TO A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Loading new filings into a graph that already exists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Cheaper than the first build, for a reason worth stating.</a:t>
            </a:r>
          </a:p>
          <a:p>
            <a:pPr>
              <a:spcBef>
                <a:spcPts val="300"/>
              </a:spcBef>
              <a:spcAft>
                <a:spcPts val="300"/>
              </a:spcAft>
            </a:pPr>
            <a:r>
              <a:rPr sz="1200" b="0" i="0">
                <a:solidFill>
                  <a:srgbClr val="14171B"/>
                </a:solidFill>
                <a:latin typeface="Helvetica Neue"/>
              </a:rPr>
              <a:t>•  The 19.8 hours was a one-off. That built 2,014 people from nothing, so nearly every mention needed a judgment call. One new filing brings about a hundred mentions against a graph that already exists — minutes, not hours.</a:t>
            </a:r>
          </a:p>
          <a:p>
            <a:pPr>
              <a:spcBef>
                <a:spcPts val="300"/>
              </a:spcBef>
              <a:spcAft>
                <a:spcPts val="300"/>
              </a:spcAft>
            </a:pPr>
            <a:r>
              <a:rPr sz="1200" b="0" i="0">
                <a:solidFill>
                  <a:srgbClr val="14171B"/>
                </a:solidFill>
                <a:latin typeface="Helvetica Neue"/>
              </a:rPr>
              <a:t>•  Extraction runs in parallel. Resolution cannot. Ten documents can be chunked and read at once, but two workers resolving names in the same matter would each create their own "Mr. Recarey".</a:t>
            </a:r>
          </a:p>
          <a:p>
            <a:pPr>
              <a:spcBef>
                <a:spcPts val="300"/>
              </a:spcBef>
              <a:spcAft>
                <a:spcPts val="300"/>
              </a:spcAft>
            </a:pPr>
            <a:r>
              <a:rPr sz="1200" b="0" i="0">
                <a:solidFill>
                  <a:srgbClr val="14171B"/>
                </a:solidFill>
                <a:latin typeface="Helvetica Neue"/>
              </a:rPr>
              <a:t>•  Key documents on their contents, not their filename. Courts re-file corrected versions constantly, so the same bytes arriving twice has to be a no-op.</a:t>
            </a:r>
          </a:p>
          <a:p>
            <a:pPr>
              <a:spcBef>
                <a:spcPts val="300"/>
              </a:spcBef>
              <a:spcAft>
                <a:spcPts val="300"/>
              </a:spcAft>
            </a:pPr>
            <a:r>
              <a:rPr sz="1200" b="0" i="0">
                <a:solidFill>
                  <a:srgbClr val="14171B"/>
                </a:solidFill>
                <a:latin typeface="Helvetica Neue"/>
              </a:rPr>
              <a:t>•  Sweep backwards after every batch. A new filing can reveal that two people already in the graph were always one person. Nothing in the pipeline looks back today.</a:t>
            </a:r>
          </a:p>
          <a:p>
            <a:pPr>
              <a:spcBef>
                <a:spcPts val="300"/>
              </a:spcBef>
              <a:spcAft>
                <a:spcPts val="300"/>
              </a:spcAft>
            </a:pPr>
            <a:r>
              <a:rPr sz="1200" b="0" i="0">
                <a:solidFill>
                  <a:srgbClr val="14171B"/>
                </a:solidFill>
                <a:latin typeface="Helvetica Neue"/>
              </a:rPr>
              <a:t>•  A merge is one edge, not a rewrite. Identity is a link between nodes rather than a collapse of them, so joining two people is a single insert — and deleting that edge undoes it.</a:t>
            </a:r>
          </a:p>
          <a:p>
            <a:pPr>
              <a:spcBef>
                <a:spcPts val="700"/>
              </a:spcBef>
              <a:spcAft>
                <a:spcPts val="400"/>
              </a:spcAft>
            </a:pPr>
            <a:r>
              <a:rPr sz="1200" b="0" i="1">
                <a:solidFill>
                  <a:srgbClr val="1E3A5F"/>
                </a:solidFill>
                <a:latin typeface="Helvetica Neue"/>
              </a:rPr>
              <a:t>The same sweep should re-examine the 413 flagged pairs. New evidence can settle an old "not sure", and right now nothing ever revisits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A NEW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Onboarding a matter, or a different kind of corpus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different problem, and the hard part is not compute.</a:t>
            </a:r>
          </a:p>
          <a:p>
            <a:pPr>
              <a:spcBef>
                <a:spcPts val="300"/>
              </a:spcBef>
              <a:spcAft>
                <a:spcPts val="300"/>
              </a:spcAft>
            </a:pPr>
            <a:r>
              <a:rPr sz="1200" b="0" i="0">
                <a:solidFill>
                  <a:srgbClr val="14171B"/>
                </a:solidFill>
                <a:latin typeface="Helvetica Neue"/>
              </a:rPr>
              <a:t>•  Isolation comes first. Two matters both have a John Smith and they are not the same man. Name resolution must never look across the boundary.</a:t>
            </a:r>
          </a:p>
          <a:p>
            <a:pPr>
              <a:spcBef>
                <a:spcPts val="300"/>
              </a:spcBef>
              <a:spcAft>
                <a:spcPts val="300"/>
              </a:spcAft>
            </a:pPr>
            <a:r>
              <a:rPr sz="1200" b="0" i="0">
                <a:solidFill>
                  <a:srgbClr val="14171B"/>
                </a:solidFill>
                <a:latin typeface="Helvetica Neue"/>
              </a:rPr>
              <a:t>•  One database per matter. Isolation stops depending on every future query remembering a filter, and closing an engagement becomes a single delete rather than a careful one.</a:t>
            </a:r>
          </a:p>
          <a:p>
            <a:pPr>
              <a:spcBef>
                <a:spcPts val="300"/>
              </a:spcBef>
              <a:spcAft>
                <a:spcPts val="300"/>
              </a:spcAft>
            </a:pPr>
            <a:r>
              <a:rPr sz="1200" b="0" i="0">
                <a:solidFill>
                  <a:srgbClr val="14171B"/>
                </a:solidFill>
                <a:latin typeface="Helvetica Neue"/>
              </a:rPr>
              <a:t>•  People who span matters are a separate, curated list. The same expert witness appears in thirty cases. That link is a decision someone makes, never an automatic merge.</a:t>
            </a:r>
          </a:p>
          <a:p>
            <a:pPr>
              <a:spcBef>
                <a:spcPts val="300"/>
              </a:spcBef>
              <a:spcAft>
                <a:spcPts val="300"/>
              </a:spcAft>
            </a:pPr>
            <a:r>
              <a:rPr sz="1200" b="0" i="0">
                <a:solidFill>
                  <a:srgbClr val="14171B"/>
                </a:solidFill>
                <a:latin typeface="Helvetica Neue"/>
              </a:rPr>
              <a:t>•  Settings belong to the corpus, not the environment. Depositions and product documentation want different chunking and a different matching threshold. Today those are global.</a:t>
            </a:r>
          </a:p>
          <a:p>
            <a:pPr>
              <a:spcBef>
                <a:spcPts val="300"/>
              </a:spcBef>
              <a:spcAft>
                <a:spcPts val="300"/>
              </a:spcAft>
            </a:pPr>
            <a:r>
              <a:rPr sz="1200" b="0" i="0">
                <a:solidFill>
                  <a:srgbClr val="14171B"/>
                </a:solidFill>
                <a:latin typeface="Helvetica Neue"/>
              </a:rPr>
              <a:t>•  Calibrate before committing. Load a sample, have someone label a hundred pairs by hand, then set the threshold and quote the cost — before anyone starts a nine-hour run.</a:t>
            </a:r>
          </a:p>
          <a:p>
            <a:pPr>
              <a:spcBef>
                <a:spcPts val="700"/>
              </a:spcBef>
              <a:spcAft>
                <a:spcPts val="400"/>
              </a:spcAft>
            </a:pPr>
            <a:r>
              <a:rPr sz="1200" b="0" i="0">
                <a:solidFill>
                  <a:srgbClr val="A6382C"/>
                </a:solidFill>
                <a:latin typeface="Helvetica Neue"/>
              </a:rPr>
              <a:t>A sample predicts cost. It does not predict correctness. The bug that produced 38 duplicate "Mr. Barton" nodes could not appear in a 200-chunk test, because it only triggers once enough similar names exist to crowd out the right one. A new corpus needs an audit of the full first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