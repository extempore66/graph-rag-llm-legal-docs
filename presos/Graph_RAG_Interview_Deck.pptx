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service names once and then stop using them. The panel will hear "Importer" and "Retriever" all day from their own people; what they want to know is whether a stranger can explain the split cleanly, and whether the split is the sensible one. It is — rebuilding a graph is slow and occasional, answering is fast and constant, and those two things should never share a deployment.</a:t>
            </a:r>
          </a:p>
          <a:p>
            <a:r>
              <a:t>The four build steps are the same first move I made. Steps one and two are mine almost exactly. Steps three and four — clustering into topics and summarising each — are the part I do not have, and that is deliberate on their side, not an extra. Slide 06 is where that matters.</a:t>
            </a:r>
          </a:p>
          <a:p>
            <a:r>
              <a:t>On "runs where the data lives": their self-hosted path uses Triton. Mine used Ollama on a laptop. Architecturally that is the same decision — local inference for data that cannot leave — made with much cheaper machinery. Worth saying, because it shows I understand why the option exists rather than just that it exists.</a:t>
            </a:r>
          </a:p>
          <a:p>
            <a:r>
              <a:t>If someone pushes on cost, the honest line is that consolidating three systems into one saves licence and staffing money, and I have not measured it. Do not quote their TCO figures as if they were mine.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Instant and Deep are exposed in the web interface. Global, Local and Custom are API-only, which is a real detail worth knowing — a prospect evaluating from the UI alone will not see the capability that most differentiates the product.</a:t>
            </a:r>
          </a:p>
          <a:p>
            <a:r>
              <a:t>My 11-of-35 fallback number is the strongest thing on this slide, because it is a measurement of my own shortfall that their architecture answers. Concentrated in two categories: counting questions and aggregation questions. Both name nothing, so both have no entry point.</a:t>
            </a:r>
          </a:p>
          <a:p>
            <a:r>
              <a:t>Deep Search is worth a second look — it is Local Search with a model planning its own steps. That is an agentic loop over the graph, and a different answer to multi-step questions than my single-pass traversal.</a:t>
            </a:r>
          </a:p>
          <a:p>
            <a:r>
              <a:t>If asked which I would sell first: Instant, because it demos in one screen and needs no explanation. Global is the one that wins the second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whole talk is built around. Do not rush it. The argument is not that they got something wrong. It is that whether you need identity resolution depends on your documents rather than on the database, so leaving it to the user is a reasonable call.</a:t>
            </a:r>
          </a:p>
          <a:p>
            <a:r>
              <a:t>Why their design is right for their market. Good technical writing declares a name and then repeats the exact token — the name is the identifier. One authorial voice, usually to a style guide. And the entities are mostly concepts and products, which have no honorifics, no initials, no maiden names. My corpus inverts all three: multi-author and adversarial, quoted speech nested inside transcripts nested inside exhibits, and people whose names vary by register on purpose.</a:t>
            </a:r>
          </a:p>
          <a:p>
            <a:r>
              <a:t>One detail worth mentioning if the conversation goes technical. Their settings include a knob for catching entities the model missed. There is nothing that asks whether it counted the same one twice. That tells you what they were solving for, and it is worth raising as an observation rather than a gotcha.</a:t>
            </a:r>
          </a:p>
          <a:p>
            <a:r>
              <a:t>Two honesty checks, and say them before anyone else does. First, "we do resolution, they don't" is too clean and it is not true of me either — I resolved people. The same rule ran backwards on places, wrote 11 wrong links out of 14 in a trial, and I stopped it and scoped the pass to people. Place and organisation resolution is still not done. Second, deduplication is invisible when it works; you cannot screenshot two nodes that were secretly one person. Topic summaries demo beautifully. Product surface follows what demos, and that is not cynicism, it is how roadmaps get built.</a:t>
            </a:r>
          </a:p>
          <a:p>
            <a:r>
              <a:t>The counter-case, if someone asks why not just merge aggressively. Jane Doe, Jane Doe 2, Jane Doe 3 are near-identical to any name-matching algorithm and are three different people. A system that merges them is worse than one that merges nothing, because it invents a connection between real people.</a:t>
            </a:r>
          </a:p>
          <a:p>
            <a:r>
              <a:t>Where to land it: they publish a sameAs pattern already. Running that over the entity collection after import is where this work would go. Offer it as a use case for their product, not as something they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I owe this slide. An earlier version of this deck said "SmartGraphs with partition_id". There is no such parameter — the real mechanism is smartGraphAttribute, and partition_id was my own placeholder name for the field I would nominate. Worth stating plainly if anyone knows the product well, because inventing a parameter name is exactly the kind of thing that costs credibility.</a:t>
            </a:r>
          </a:p>
          <a:p>
            <a:r>
              <a:t>Two stores was the quick choice and it shows. A few passages exist in the graph with no matching row in LanceDB. That is not a hypothetical consistency risk; it already happened.</a:t>
            </a:r>
          </a:p>
          <a:p>
            <a:r>
              <a:t>What I deliberately did not build: person-to-person edges. This is an index of who appears where, not a map of how people relate. The only link I could honestly derive is "mentioned in the same passage", which in a 190-filing docket says almost nothing.</a:t>
            </a:r>
          </a:p>
          <a:p>
            <a:r>
              <a:t>Also on the list, lower down: a review screen for the 413 flagged pairs, and a second slower model to re-order the final shortlist — a cross-encoder reranker. There is no reranker in the system today; what it has is rank fusion, which is a different thing, and B1 covers it if anyone asks.</a:t>
            </a:r>
          </a:p>
          <a:p>
            <a:r>
              <a:t>On the shard_count question. Ask it as a question. If the answer is "yes, that is a pre-release limit and it is going away", I have learned something. If the answer is "no, here is how", I have learned more. Either way it beats asserting a limitation at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09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merge-as-an-edge matters more than it sounds. The alternative is to pick a winner, rewrite every edge pointing at the loser, and delete it. That is expensive, it destroys the record of what was originally decided, and it cannot be undone. Keeping identity as a link means a wrong merge is one delete away from being fixed, and every mention still points where it was first resolved — which is what lets you audit the decision later.</a:t>
            </a:r>
          </a:p>
          <a:p>
            <a:r>
              <a:t>Three things that stay genuinely hard, if pressed. First, order dependence: whichever spelling loads first becomes the node's display name, so "Det. Recarey" can end up canonical by accident. Fixable by choosing the family's best name at query time instead of storing a winner. Second, non-determinism: the same documents loaded in a different order give a slightly different graph, which is uncomfortable for evidence. The answer is to log each resolution decision with its inputs, so a result can be explained rather than merely reproduced. Third, cascades: merging A with B can make the pair match C. I would do one pass and flag the rest rather than iterate — chasing a fixed point is how one node ends up swallowing the graph.</a:t>
            </a:r>
          </a:p>
          <a:p>
            <a:r>
              <a:t>Operationally this wants a queue rather than a script: per-document jobs, retries, and one unreadable PDF that cannot stall the matter. Chunk-level resumability already exists, so a crashed job resumes instead of starting over. For court filings the RECAP/PACER API means you can watch a docket rather than wait for someone to drop files in a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tenancy choice is a real trade, so do not present it as obvious. A database per matter buys hard isolation and clean deletion, and costs you cross-matter queries plus a few hundred databases to administer. One database sharded on the matter keeps cross-matter questions available and turns deletion into a large filtered delete. I would take the database per matter, because the isolation requirement here is ethical rather than technical, and requirements of that kind should not rest on everyone remembering a WHERE clause.</a:t>
            </a:r>
          </a:p>
          <a:p>
            <a:r>
              <a:t>The per-corpus settings point is this deck's own argument, turned into a config file. If the kind of documents you have decides the approach — slide 06 — then the pipeline should take the kind of documents as a parameter. Right now the thresholds are environment variables, which is fine for one corpus and wrong for many.</a:t>
            </a:r>
          </a:p>
          <a:p>
            <a:r>
              <a:t>On the warning. Both of my worst defects were library defaults behaving reasonably: case-sensitive name comparison, and taking five candidates off an unsorted list. Neither was visible by reading the code, both were obvious in the output, and both scaled with entity count so a small test could not surface them. The practical step after a first full run is to sort the entities by name similarity and read the top few hundred clusters. It is an afternoon, and it catches the class of bug that only exists at scale.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the suite actually does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017012"/>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Two services. One draws the map, the other reads it.</a:t>
            </a:r>
          </a:p>
          <a:p>
            <a:pPr>
              <a:spcBef>
                <a:spcPts val="300"/>
              </a:spcBef>
              <a:spcAft>
                <a:spcPts val="100"/>
              </a:spcAft>
            </a:pPr>
            <a:r>
              <a:rPr sz="1200" b="0" i="0">
                <a:solidFill>
                  <a:srgbClr val="14171B"/>
                </a:solidFill>
                <a:latin typeface="Helvetica Neue"/>
              </a:rPr>
              <a:t>•  The Importer builds, the Retriever answers. Raw files go in one end and come out as a knowledge graph; questions go to the other.</a:t>
            </a:r>
          </a:p>
          <a:p>
            <a:pPr lvl="1">
              <a:spcBef>
                <a:spcPts val="0"/>
              </a:spcBef>
              <a:spcAft>
                <a:spcPts val="400"/>
              </a:spcAft>
            </a:pPr>
            <a:r>
              <a:rPr sz="1100" b="0" i="1">
                <a:solidFill>
                  <a:srgbClr val="4A5158"/>
                </a:solidFill>
                <a:latin typeface="Georgia"/>
              </a:rPr>
              <a:t>You can redraw the map without touching the thing your users talk to.</a:t>
            </a:r>
          </a:p>
          <a:p>
            <a:pPr>
              <a:spcBef>
                <a:spcPts val="300"/>
              </a:spcBef>
              <a:spcAft>
                <a:spcPts val="100"/>
              </a:spcAft>
            </a:pPr>
            <a:r>
              <a:rPr sz="1200" b="0" i="0">
                <a:solidFill>
                  <a:srgbClr val="14171B"/>
                </a:solidFill>
                <a:latin typeface="Helvetica Neue"/>
              </a:rPr>
              <a:t>•  Four steps to build it. Split the documents into passages, have a model find the people, places and organisations, group related ones into topics, then have the model write a short report on each topic.</a:t>
            </a:r>
          </a:p>
          <a:p>
            <a:pPr lvl="1">
              <a:spcBef>
                <a:spcPts val="0"/>
              </a:spcBef>
              <a:spcAft>
                <a:spcPts val="400"/>
              </a:spcAft>
            </a:pPr>
            <a:r>
              <a:rPr sz="1100" b="0" i="1">
                <a:solidFill>
                  <a:srgbClr val="4A5158"/>
                </a:solidFill>
                <a:latin typeface="Georgia"/>
              </a:rPr>
              <a:t>It reads everything once, so nobody on your team has to read it again.</a:t>
            </a:r>
          </a:p>
          <a:p>
            <a:pPr>
              <a:spcBef>
                <a:spcPts val="300"/>
              </a:spcBef>
              <a:spcAft>
                <a:spcPts val="100"/>
              </a:spcAft>
            </a:pPr>
            <a:r>
              <a:rPr sz="1200" b="0" i="0">
                <a:solidFill>
                  <a:srgbClr val="14171B"/>
                </a:solidFill>
                <a:latin typeface="Helvetica Neue"/>
              </a:rPr>
              <a:t>•  Every answer cites the page it came from.</a:t>
            </a:r>
          </a:p>
          <a:p>
            <a:pPr lvl="1">
              <a:spcBef>
                <a:spcPts val="0"/>
              </a:spcBef>
              <a:spcAft>
                <a:spcPts val="400"/>
              </a:spcAft>
            </a:pPr>
            <a:r>
              <a:rPr sz="1100" b="0" i="1">
                <a:solidFill>
                  <a:srgbClr val="4A5158"/>
                </a:solidFill>
                <a:latin typeface="Georgia"/>
              </a:rPr>
              <a:t>A person can check the work — which is the difference between a tool a regulated business can use and one it cannot.</a:t>
            </a:r>
          </a:p>
          <a:p>
            <a:pPr>
              <a:spcBef>
                <a:spcPts val="300"/>
              </a:spcBef>
              <a:spcAft>
                <a:spcPts val="100"/>
              </a:spcAft>
            </a:pPr>
            <a:r>
              <a:rPr sz="1200" b="0" i="0">
                <a:solidFill>
                  <a:srgbClr val="14171B"/>
                </a:solidFill>
                <a:latin typeface="Helvetica Neue"/>
              </a:rPr>
              <a:t>•  It runs where the data already lives, including air-gapped, against models on your own hardware.</a:t>
            </a:r>
          </a:p>
          <a:p>
            <a:pPr lvl="1">
              <a:spcBef>
                <a:spcPts val="0"/>
              </a:spcBef>
              <a:spcAft>
                <a:spcPts val="400"/>
              </a:spcAft>
            </a:pPr>
            <a:r>
              <a:rPr sz="1100" b="0" i="1">
                <a:solidFill>
                  <a:srgbClr val="4A5158"/>
                </a:solidFill>
                <a:latin typeface="Georgia"/>
              </a:rPr>
              <a:t>Nothing leaves the building, and one database replaces three to secure and staff.</a:t>
            </a:r>
          </a:p>
          <a:p>
            <a:pPr>
              <a:spcBef>
                <a:spcPts val="700"/>
              </a:spcBef>
              <a:spcAft>
                <a:spcPts val="400"/>
              </a:spcAft>
            </a:pPr>
            <a:r>
              <a:rPr sz="1200" b="0" i="1">
                <a:solidFill>
                  <a:srgbClr val="1E3A5F"/>
                </a:solidFill>
                <a:latin typeface="Helvetica Neue"/>
              </a:rPr>
              <a:t>The executive question is never "how does the retriever work". It is what can my team ask on Monday that they could not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ways to ask a question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8658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Different business questions need different retrieval. Most products ship one.</a:t>
            </a:r>
          </a:p>
        </p:txBody>
      </p:sp>
      <p:graphicFrame>
        <p:nvGraphicFramePr>
          <p:cNvPr id="7" name="Table 6"/>
          <p:cNvGraphicFramePr>
            <a:graphicFrameLocks noGrp="1"/>
          </p:cNvGraphicFramePr>
          <p:nvPr/>
        </p:nvGraphicFramePr>
        <p:xfrm>
          <a:off x="566928" y="1986788"/>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8" name="TextBox 7"/>
          <p:cNvSpPr txBox="1"/>
          <p:nvPr/>
        </p:nvSpPr>
        <p:spPr>
          <a:xfrm>
            <a:off x="566928" y="4222496"/>
            <a:ext cx="11057839" cy="1374648"/>
          </a:xfrm>
          <a:prstGeom prst="rect">
            <a:avLst/>
          </a:prstGeom>
          <a:noFill/>
        </p:spPr>
        <p:txBody>
          <a:bodyPr wrap="square" lIns="0" rIns="0" tIns="0" bIns="0">
            <a:spAutoFit/>
          </a:bodyPr>
          <a:lstStyle/>
          <a:p>
            <a:pPr>
              <a:spcBef>
                <a:spcPts val="0"/>
              </a:spcBef>
              <a:spcAft>
                <a:spcPts val="100"/>
              </a:spcAft>
            </a:pPr>
            <a:r>
              <a:rPr sz="1200" b="0" i="0">
                <a:solidFill>
                  <a:srgbClr val="14171B"/>
                </a:solidFill>
                <a:latin typeface="Helvetica Neue"/>
              </a:rPr>
              <a:t>•  Global Search is the one nobody else ships. It reads the pre-written topic reports instead of walking the graph, so it can answer a question about the collection as a whole.</a:t>
            </a:r>
          </a:p>
          <a:p>
            <a:pPr lvl="1">
              <a:spcBef>
                <a:spcPts val="0"/>
              </a:spcBef>
              <a:spcAft>
                <a:spcPts val="400"/>
              </a:spcAft>
            </a:pPr>
            <a:r>
              <a:rPr sz="1100" b="0" i="1">
                <a:solidFill>
                  <a:srgbClr val="4A5158"/>
                </a:solidFill>
                <a:latin typeface="Georgia"/>
              </a:rPr>
              <a:t>"what is actually in here?" — the first thing anyone asks, and the one thing ordinary search cannot do.</a:t>
            </a:r>
          </a:p>
          <a:p>
            <a:pPr>
              <a:spcBef>
                <a:spcPts val="300"/>
              </a:spcBef>
              <a:spcAft>
                <a:spcPts val="100"/>
              </a:spcAft>
            </a:pPr>
            <a:r>
              <a:rPr sz="1200" b="0" i="0">
                <a:solidFill>
                  <a:srgbClr val="14171B"/>
                </a:solidFill>
                <a:latin typeface="Helvetica Neue"/>
              </a:rPr>
              <a:t>•  Graph search needs a name to start from. Ask "which courts appear in these documents" and there is nothing to anchor on. Mine falls back to plain similarity search on 11 of 35 test questions for exactly that reason.</a:t>
            </a:r>
          </a:p>
          <a:p>
            <a:pPr lvl="1">
              <a:spcBef>
                <a:spcPts val="0"/>
              </a:spcBef>
              <a:spcAft>
                <a:spcPts val="400"/>
              </a:spcAft>
            </a:pPr>
            <a:r>
              <a:rPr sz="1100" b="0" i="1">
                <a:solidFill>
                  <a:srgbClr val="4A5158"/>
                </a:solidFill>
                <a:latin typeface="Georgia"/>
              </a:rPr>
              <a:t>This is where my design stops and theirs keeps going. I would rather show you the gap than hide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Ideal fit, and less than ideal fit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679700"/>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IDEAL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1200"/>
              </a:spcBef>
              <a:spcAft>
                <a:spcPts val="200"/>
              </a:spcAft>
            </a:pPr>
            <a:r>
              <a:rPr sz="1100" b="1" i="0">
                <a:solidFill>
                  <a:srgbClr val="4A5158"/>
                </a:solidFill>
                <a:latin typeface="Helvetica Neue"/>
              </a:rPr>
              <a:t>NOT THE BEST FIT</a:t>
            </a:r>
          </a:p>
          <a:p>
            <a:pPr>
              <a:spcBef>
                <a:spcPts val="300"/>
              </a:spcBef>
              <a:spcAft>
                <a:spcPts val="300"/>
              </a:spcAft>
            </a:pPr>
            <a:r>
              <a:rPr sz="1200" b="0" i="0">
                <a:solidFill>
                  <a:srgbClr val="14171B"/>
                </a:solidFill>
                <a:latin typeface="Helvetica Neue"/>
              </a:rPr>
              <a:t>•  Purely conceptual questions. There is no name to start from, so plain meaning-based search (cosine) wins.</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Solutions comparison at a glance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the join between the two is where bugs live.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WHERE IT SITS ALONGSIDE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ArangoDB excels at — and where mine might complement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306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The kind of documents you have decides which approach works.</a:t>
            </a:r>
          </a:p>
          <a:p>
            <a:pPr>
              <a:spcBef>
                <a:spcPts val="1200"/>
              </a:spcBef>
              <a:spcAft>
                <a:spcPts val="200"/>
              </a:spcAft>
            </a:pPr>
            <a:r>
              <a:rPr sz="1100" b="1" i="0">
                <a:solidFill>
                  <a:srgbClr val="4A5158"/>
                </a:solidFill>
                <a:latin typeface="Helvetica Neue"/>
              </a:rPr>
              <a:t>WHAT ARANGODB EXCELS AT</a:t>
            </a:r>
          </a:p>
          <a:p>
            <a:pPr>
              <a:spcBef>
                <a:spcPts val="300"/>
              </a:spcBef>
              <a:spcAft>
                <a:spcPts val="100"/>
              </a:spcAft>
            </a:pPr>
            <a:r>
              <a:rPr sz="1200" b="0" i="0">
                <a:solidFill>
                  <a:srgbClr val="14171B"/>
                </a:solidFill>
                <a:latin typeface="Helvetica Neue"/>
              </a:rPr>
              <a:t>•  Groups the graph into topics, and writes a report on each.</a:t>
            </a:r>
          </a:p>
          <a:p>
            <a:pPr lvl="1">
              <a:spcBef>
                <a:spcPts val="0"/>
              </a:spcBef>
              <a:spcAft>
                <a:spcPts val="400"/>
              </a:spcAft>
            </a:pPr>
            <a:r>
              <a:rPr sz="1100" b="0" i="1">
                <a:solidFill>
                  <a:srgbClr val="4A5158"/>
                </a:solidFill>
                <a:latin typeface="Georgia"/>
              </a:rPr>
              <a:t>It can describe a whole collection, not just find a passage in it.</a:t>
            </a:r>
          </a:p>
          <a:p>
            <a:pPr>
              <a:spcBef>
                <a:spcPts val="300"/>
              </a:spcBef>
              <a:spcAft>
                <a:spcPts val="100"/>
              </a:spcAft>
            </a:pPr>
            <a:r>
              <a:rPr sz="1200" b="0" i="0">
                <a:solidFill>
                  <a:srgbClr val="14171B"/>
                </a:solidFill>
                <a:latin typeface="Helvetica Neue"/>
              </a:rPr>
              <a:t>•  Those reports absorb duplicate names on their own.</a:t>
            </a:r>
          </a:p>
          <a:p>
            <a:pPr lvl="1">
              <a:spcBef>
                <a:spcPts val="0"/>
              </a:spcBef>
              <a:spcAft>
                <a:spcPts val="400"/>
              </a:spcAft>
            </a:pPr>
            <a:r>
              <a:rPr sz="1100" b="0" i="1">
                <a:solidFill>
                  <a:srgbClr val="4A5158"/>
                </a:solidFill>
                <a:latin typeface="Georgia"/>
              </a:rPr>
              <a:t>On well-named documents, the problem mostly solves itself.</a:t>
            </a:r>
          </a:p>
          <a:p>
            <a:pPr>
              <a:spcBef>
                <a:spcPts val="300"/>
              </a:spcBef>
              <a:spcAft>
                <a:spcPts val="100"/>
              </a:spcAft>
            </a:pPr>
            <a:r>
              <a:rPr sz="1200" b="0" i="0">
                <a:solidFill>
                  <a:srgbClr val="14171B"/>
                </a:solidFill>
                <a:latin typeface="Helvetica Neue"/>
              </a:rPr>
              <a:t>•  Best on precise material — documentation, reports, structured filings.</a:t>
            </a:r>
          </a:p>
          <a:p>
            <a:pPr lvl="1">
              <a:spcBef>
                <a:spcPts val="0"/>
              </a:spcBef>
              <a:spcAft>
                <a:spcPts val="400"/>
              </a:spcAft>
            </a:pPr>
            <a:r>
              <a:rPr sz="1100" b="0" i="1">
                <a:solidFill>
                  <a:srgbClr val="4A5158"/>
                </a:solidFill>
                <a:latin typeface="Georgia"/>
              </a:rPr>
              <a:t>Most business content is written this way.</a:t>
            </a:r>
          </a:p>
          <a:p>
            <a:pPr>
              <a:spcBef>
                <a:spcPts val="1200"/>
              </a:spcBef>
              <a:spcAft>
                <a:spcPts val="200"/>
              </a:spcAft>
            </a:pPr>
            <a:r>
              <a:rPr sz="1100" b="1" i="0">
                <a:solidFill>
                  <a:srgbClr val="4A5158"/>
                </a:solidFill>
                <a:latin typeface="Helvetica Neue"/>
              </a:rPr>
              <a:t>WHERE MINE MIGHT COMPLEMENT</a:t>
            </a:r>
          </a:p>
          <a:p>
            <a:pPr>
              <a:spcBef>
                <a:spcPts val="300"/>
              </a:spcBef>
              <a:spcAft>
                <a:spcPts val="100"/>
              </a:spcAft>
            </a:pPr>
            <a:r>
              <a:rPr sz="1200" b="0" i="0">
                <a:solidFill>
                  <a:srgbClr val="14171B"/>
                </a:solidFill>
                <a:latin typeface="Helvetica Neue"/>
              </a:rPr>
              <a:t>•  That absorption stops at Local Search. Two nodes for one person, half the connections, no warning.</a:t>
            </a:r>
          </a:p>
          <a:p>
            <a:pPr lvl="1">
              <a:spcBef>
                <a:spcPts val="0"/>
              </a:spcBef>
              <a:spcAft>
                <a:spcPts val="400"/>
              </a:spcAft>
            </a:pPr>
            <a:r>
              <a:rPr sz="1100" b="0" i="1">
                <a:solidFill>
                  <a:srgbClr val="4A5158"/>
                </a:solidFill>
                <a:latin typeface="Georgia"/>
              </a:rPr>
              <a:t>The answer looks complete when it is not.</a:t>
            </a:r>
          </a:p>
          <a:p>
            <a:pPr>
              <a:spcBef>
                <a:spcPts val="300"/>
              </a:spcBef>
              <a:spcAft>
                <a:spcPts val="100"/>
              </a:spcAft>
            </a:pPr>
            <a:r>
              <a:rPr sz="1200" b="0" i="0">
                <a:solidFill>
                  <a:srgbClr val="14171B"/>
                </a:solidFill>
                <a:latin typeface="Helvetica Neue"/>
              </a:rPr>
              <a:t>•  My documents name people loosely. RECAREY, JOSEPH · Det. Recarey · Mr. Recarey — one man, one docket.</a:t>
            </a:r>
          </a:p>
          <a:p>
            <a:pPr lvl="1">
              <a:spcBef>
                <a:spcPts val="0"/>
              </a:spcBef>
              <a:spcAft>
                <a:spcPts val="400"/>
              </a:spcAft>
            </a:pPr>
            <a:r>
              <a:rPr sz="1100" b="0" i="1">
                <a:solidFill>
                  <a:srgbClr val="4A5158"/>
                </a:solidFill>
                <a:latin typeface="Georgia"/>
              </a:rPr>
              <a:t>Documents that name things consistently never need this step.</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ACTUAL PEOPLE</a:t>
            </a:r>
          </a:p>
          <a:p>
            <a:pPr>
              <a:spcBef>
                <a:spcPts val="600"/>
              </a:spcBef>
              <a:spcAft>
                <a:spcPts val="200"/>
              </a:spcAft>
            </a:pPr>
            <a:r>
              <a:rPr sz="2000" b="1" i="0">
                <a:solidFill>
                  <a:srgbClr val="1E3A5F"/>
                </a:solidFill>
                <a:latin typeface="Georgia"/>
              </a:rPr>
              <a:t>19.8h   </a:t>
            </a:r>
            <a:r>
              <a:rPr sz="1000" b="0" i="0">
                <a:solidFill>
                  <a:srgbClr val="838B93"/>
                </a:solidFill>
                <a:latin typeface="Helvetica Neue"/>
              </a:rPr>
              <a:t>THE MOST EXPENSIVE STAGE</a:t>
            </a:r>
          </a:p>
          <a:p>
            <a:pPr>
              <a:spcBef>
                <a:spcPts val="700"/>
              </a:spcBef>
              <a:spcAft>
                <a:spcPts val="400"/>
              </a:spcAft>
            </a:pPr>
            <a:r>
              <a:rPr sz="1200" b="0" i="1">
                <a:solidFill>
                  <a:srgbClr val="1E3A5F"/>
                </a:solidFill>
                <a:latin typeface="Helvetica Neue"/>
              </a:rPr>
              <a:t>Said carefully: I read their published documentation, not their source, and I did not test the product. Their docs describe no identity-resolution step, but that is an argument from silence. The fair question is on their ground, not mine: how does the Importer handle k8s versus Kubernetes?</a:t>
            </a:r>
          </a:p>
          <a:p>
            <a:pPr>
              <a:spcBef>
                <a:spcPts val="700"/>
              </a:spcBef>
              <a:spcAft>
                <a:spcPts val="400"/>
              </a:spcAft>
            </a:pPr>
            <a:r>
              <a:rPr sz="1200" b="0" i="0">
                <a:solidFill>
                  <a:srgbClr val="14171B"/>
                </a:solidFill>
                <a:latin typeface="Helvetica Neue"/>
              </a:rPr>
              <a:t>190 unsealed filings from a single civil docket, public record. Every model ran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153915"/>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What I built proves the idea. It is not what I would deploy.</a:t>
            </a:r>
          </a:p>
          <a:p>
            <a:pPr>
              <a:spcBef>
                <a:spcPts val="300"/>
              </a:spcBef>
              <a:spcAft>
                <a:spcPts val="100"/>
              </a:spcAft>
            </a:pPr>
            <a:r>
              <a:rPr sz="1200" b="0" i="0">
                <a:solidFill>
                  <a:srgbClr val="14171B"/>
                </a:solidFill>
                <a:latin typeface="Helvetica Neue"/>
              </a:rPr>
              <a:t>•  I would delete the second database. The graph is in ArangoDB and the text and vectors are in LanceDB. ArangoDB 3.12 has a native vector index, so the two collapse into one.</a:t>
            </a:r>
          </a:p>
          <a:p>
            <a:pPr lvl="1">
              <a:spcBef>
                <a:spcPts val="0"/>
              </a:spcBef>
              <a:spcAft>
                <a:spcPts val="400"/>
              </a:spcAft>
            </a:pPr>
            <a:r>
              <a:rPr sz="1100" b="0" i="1">
                <a:solidFill>
                  <a:srgbClr val="4A5158"/>
                </a:solidFill>
                <a:latin typeface="Georgia"/>
              </a:rPr>
              <a:t>A whole class of bug — the two stores quietly disagreeing — stops existing, and a join across two systems becomes one lookup.</a:t>
            </a:r>
          </a:p>
          <a:p>
            <a:pPr>
              <a:spcBef>
                <a:spcPts val="300"/>
              </a:spcBef>
              <a:spcAft>
                <a:spcPts val="100"/>
              </a:spcAft>
            </a:pPr>
            <a:r>
              <a:rPr sz="1200" b="0" i="0">
                <a:solidFill>
                  <a:srgbClr val="14171B"/>
                </a:solidFill>
                <a:latin typeface="Helvetica Neue"/>
              </a:rPr>
              <a:t>•  I would shard the graph by legal matter. A SmartGraph is split on an attribute you nominate; put every vertex of one matter on the same shard and a traversal never crosses the network. It is also the customer boundary.</a:t>
            </a:r>
          </a:p>
          <a:p>
            <a:pPr lvl="1">
              <a:spcBef>
                <a:spcPts val="0"/>
              </a:spcBef>
              <a:spcAft>
                <a:spcPts val="400"/>
              </a:spcAft>
            </a:pPr>
            <a:r>
              <a:rPr sz="1100" b="0" i="1">
                <a:solidFill>
                  <a:srgbClr val="4A5158"/>
                </a:solidFill>
                <a:latin typeface="Georgia"/>
              </a:rPr>
              <a:t>One client's documents stay in one place — faster to query, and far easier to explain to their auditor.</a:t>
            </a:r>
          </a:p>
          <a:p>
            <a:pPr>
              <a:spcBef>
                <a:spcPts val="300"/>
              </a:spcBef>
              <a:spcAft>
                <a:spcPts val="100"/>
              </a:spcAft>
            </a:pPr>
            <a:r>
              <a:rPr sz="1200" b="0" i="0">
                <a:solidFill>
                  <a:srgbClr val="14171B"/>
                </a:solidFill>
                <a:latin typeface="Helvetica Neue"/>
              </a:rPr>
              <a:t>•  I would keep the entity index on every node as a satellite collection, because every single traversal touches it.</a:t>
            </a:r>
          </a:p>
          <a:p>
            <a:pPr lvl="1">
              <a:spcBef>
                <a:spcPts val="0"/>
              </a:spcBef>
              <a:spcAft>
                <a:spcPts val="400"/>
              </a:spcAft>
            </a:pPr>
            <a:r>
              <a:rPr sz="1100" b="0" i="1">
                <a:solidFill>
                  <a:srgbClr val="4A5158"/>
                </a:solidFill>
                <a:latin typeface="Georgia"/>
              </a:rPr>
              <a:t>Don't make the most-used lookup in the system take a network hop.</a:t>
            </a:r>
          </a:p>
          <a:p>
            <a:pPr>
              <a:spcBef>
                <a:spcPts val="300"/>
              </a:spcBef>
              <a:spcAft>
                <a:spcPts val="100"/>
              </a:spcAft>
            </a:pPr>
            <a:r>
              <a:rPr sz="1200" b="0" i="0">
                <a:solidFill>
                  <a:srgbClr val="14171B"/>
                </a:solidFill>
                <a:latin typeface="Helvetica Neue"/>
              </a:rPr>
              <a:t>•  I would budget and staff a human review step. 413 uncertain name matches are queued and nobody has looked at them. A wrong merge invents a connection between real people; a missed one only means we find less.</a:t>
            </a:r>
          </a:p>
          <a:p>
            <a:pPr lvl="1">
              <a:spcBef>
                <a:spcPts val="0"/>
              </a:spcBef>
              <a:spcAft>
                <a:spcPts val="400"/>
              </a:spcAft>
            </a:pPr>
            <a:r>
              <a:rPr sz="1100" b="0" i="1">
                <a:solidFill>
                  <a:srgbClr val="4A5158"/>
                </a:solidFill>
                <a:latin typeface="Georgia"/>
              </a:rPr>
              <a:t>I would rather miss a link than invent one — and someone has to be paid to make that call.</a:t>
            </a:r>
          </a:p>
          <a:p>
            <a:pPr>
              <a:spcBef>
                <a:spcPts val="300"/>
              </a:spcBef>
              <a:spcAft>
                <a:spcPts val="100"/>
              </a:spcAft>
            </a:pPr>
            <a:r>
              <a:rPr sz="1200" b="0" i="0">
                <a:solidFill>
                  <a:srgbClr val="14171B"/>
                </a:solidFill>
                <a:latin typeface="Helvetica Neue"/>
              </a:rPr>
              <a:t>•  Unsolved: adding documents without rebuilding. Matching names across all 190 filings took 19 hours, and that cost grows with the number of mentions, not the number of documents.</a:t>
            </a:r>
          </a:p>
          <a:p>
            <a:pPr lvl="1">
              <a:spcBef>
                <a:spcPts val="0"/>
              </a:spcBef>
              <a:spcAft>
                <a:spcPts val="400"/>
              </a:spcAft>
            </a:pPr>
            <a:r>
              <a:rPr sz="1100" b="0" i="1">
                <a:solidFill>
                  <a:srgbClr val="4A5158"/>
                </a:solidFill>
                <a:latin typeface="Georgia"/>
              </a:rPr>
              <a:t>Today, one new filing means redoing the whole graph. That is the hard problem, and I have not solved it.</a:t>
            </a:r>
          </a:p>
          <a:p>
            <a:pPr>
              <a:spcBef>
                <a:spcPts val="700"/>
              </a:spcBef>
              <a:spcAft>
                <a:spcPts val="400"/>
              </a:spcAft>
            </a:pPr>
            <a:r>
              <a:rPr sz="1200" b="0" i="0">
                <a:solidFill>
                  <a:srgbClr val="A6382C"/>
                </a:solidFill>
                <a:latin typeface="Helvetica Neue"/>
              </a:rPr>
              <a:t>A question for you, not a criticism: the Technical Overview says SmartGraph creation through the Importer currently accepts only shard_count: 1. So is the sharding above something I would have to build outside the Importer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other seven can no longer affect the verdict on the first.</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ADDING DOCUMENTS TO A MATTER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Loading new filings into a graph that already exists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995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Cheaper than the first build, for a reason worth stating.</a:t>
            </a:r>
          </a:p>
          <a:p>
            <a:pPr>
              <a:spcBef>
                <a:spcPts val="300"/>
              </a:spcBef>
              <a:spcAft>
                <a:spcPts val="300"/>
              </a:spcAft>
            </a:pPr>
            <a:r>
              <a:rPr sz="1200" b="0" i="0">
                <a:solidFill>
                  <a:srgbClr val="14171B"/>
                </a:solidFill>
                <a:latin typeface="Helvetica Neue"/>
              </a:rPr>
              <a:t>•  The 19.8 hours was a one-off. That built 2,014 people from nothing, so nearly every mention needed a judgment call. One new filing brings about a hundred mentions against a graph that already exists — minutes, not hours.</a:t>
            </a:r>
          </a:p>
          <a:p>
            <a:pPr>
              <a:spcBef>
                <a:spcPts val="300"/>
              </a:spcBef>
              <a:spcAft>
                <a:spcPts val="300"/>
              </a:spcAft>
            </a:pPr>
            <a:r>
              <a:rPr sz="1200" b="0" i="0">
                <a:solidFill>
                  <a:srgbClr val="14171B"/>
                </a:solidFill>
                <a:latin typeface="Helvetica Neue"/>
              </a:rPr>
              <a:t>•  Extraction runs in parallel. Resolution cannot. Ten documents can be chunked and read at once, but two workers resolving names in the same matter would each create their own "Mr. Recarey".</a:t>
            </a:r>
          </a:p>
          <a:p>
            <a:pPr>
              <a:spcBef>
                <a:spcPts val="300"/>
              </a:spcBef>
              <a:spcAft>
                <a:spcPts val="300"/>
              </a:spcAft>
            </a:pPr>
            <a:r>
              <a:rPr sz="1200" b="0" i="0">
                <a:solidFill>
                  <a:srgbClr val="14171B"/>
                </a:solidFill>
                <a:latin typeface="Helvetica Neue"/>
              </a:rPr>
              <a:t>•  Key documents on their contents, not their filename. Courts re-file corrected versions constantly, so the same bytes arriving twice has to be a no-op.</a:t>
            </a:r>
          </a:p>
          <a:p>
            <a:pPr>
              <a:spcBef>
                <a:spcPts val="300"/>
              </a:spcBef>
              <a:spcAft>
                <a:spcPts val="300"/>
              </a:spcAft>
            </a:pPr>
            <a:r>
              <a:rPr sz="1200" b="0" i="0">
                <a:solidFill>
                  <a:srgbClr val="14171B"/>
                </a:solidFill>
                <a:latin typeface="Helvetica Neue"/>
              </a:rPr>
              <a:t>•  Sweep backwards after every batch. A new filing can reveal that two people already in the graph were always one person. Nothing in the pipeline looks back today.</a:t>
            </a:r>
          </a:p>
          <a:p>
            <a:pPr>
              <a:spcBef>
                <a:spcPts val="300"/>
              </a:spcBef>
              <a:spcAft>
                <a:spcPts val="300"/>
              </a:spcAft>
            </a:pPr>
            <a:r>
              <a:rPr sz="1200" b="0" i="0">
                <a:solidFill>
                  <a:srgbClr val="14171B"/>
                </a:solidFill>
                <a:latin typeface="Helvetica Neue"/>
              </a:rPr>
              <a:t>•  A merge is one edge, not a rewrite. Identity is a link between nodes rather than a collapse of them, so joining two people is a single insert — and deleting that edge undoes it.</a:t>
            </a:r>
          </a:p>
          <a:p>
            <a:pPr>
              <a:spcBef>
                <a:spcPts val="700"/>
              </a:spcBef>
              <a:spcAft>
                <a:spcPts val="400"/>
              </a:spcAft>
            </a:pPr>
            <a:r>
              <a:rPr sz="1200" b="0" i="1">
                <a:solidFill>
                  <a:srgbClr val="1E3A5F"/>
                </a:solidFill>
                <a:latin typeface="Helvetica Neue"/>
              </a:rPr>
              <a:t>The same sweep should re-examine the 413 flagged pairs. New evidence can settle an old "not sure", and right now nothing ever revisits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ADDING A NEW MATTER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Onboarding a matter, or a different kind of corpus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995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different problem, and the hard part is not compute.</a:t>
            </a:r>
          </a:p>
          <a:p>
            <a:pPr>
              <a:spcBef>
                <a:spcPts val="300"/>
              </a:spcBef>
              <a:spcAft>
                <a:spcPts val="300"/>
              </a:spcAft>
            </a:pPr>
            <a:r>
              <a:rPr sz="1200" b="0" i="0">
                <a:solidFill>
                  <a:srgbClr val="14171B"/>
                </a:solidFill>
                <a:latin typeface="Helvetica Neue"/>
              </a:rPr>
              <a:t>•  Isolation comes first. Two matters both have a John Smith and they are not the same man. Name resolution must never look across the boundary.</a:t>
            </a:r>
          </a:p>
          <a:p>
            <a:pPr>
              <a:spcBef>
                <a:spcPts val="300"/>
              </a:spcBef>
              <a:spcAft>
                <a:spcPts val="300"/>
              </a:spcAft>
            </a:pPr>
            <a:r>
              <a:rPr sz="1200" b="0" i="0">
                <a:solidFill>
                  <a:srgbClr val="14171B"/>
                </a:solidFill>
                <a:latin typeface="Helvetica Neue"/>
              </a:rPr>
              <a:t>•  One database per matter. Isolation stops depending on every future query remembering a filter, and closing an engagement becomes a single delete rather than a careful one.</a:t>
            </a:r>
          </a:p>
          <a:p>
            <a:pPr>
              <a:spcBef>
                <a:spcPts val="300"/>
              </a:spcBef>
              <a:spcAft>
                <a:spcPts val="300"/>
              </a:spcAft>
            </a:pPr>
            <a:r>
              <a:rPr sz="1200" b="0" i="0">
                <a:solidFill>
                  <a:srgbClr val="14171B"/>
                </a:solidFill>
                <a:latin typeface="Helvetica Neue"/>
              </a:rPr>
              <a:t>•  People who span matters are a separate, curated list. The same expert witness appears in thirty cases. That link is a decision someone makes, never an automatic merge.</a:t>
            </a:r>
          </a:p>
          <a:p>
            <a:pPr>
              <a:spcBef>
                <a:spcPts val="300"/>
              </a:spcBef>
              <a:spcAft>
                <a:spcPts val="300"/>
              </a:spcAft>
            </a:pPr>
            <a:r>
              <a:rPr sz="1200" b="0" i="0">
                <a:solidFill>
                  <a:srgbClr val="14171B"/>
                </a:solidFill>
                <a:latin typeface="Helvetica Neue"/>
              </a:rPr>
              <a:t>•  Settings belong to the corpus, not the environment. Depositions and product documentation want different chunking and a different matching threshold. Today those are global.</a:t>
            </a:r>
          </a:p>
          <a:p>
            <a:pPr>
              <a:spcBef>
                <a:spcPts val="300"/>
              </a:spcBef>
              <a:spcAft>
                <a:spcPts val="300"/>
              </a:spcAft>
            </a:pPr>
            <a:r>
              <a:rPr sz="1200" b="0" i="0">
                <a:solidFill>
                  <a:srgbClr val="14171B"/>
                </a:solidFill>
                <a:latin typeface="Helvetica Neue"/>
              </a:rPr>
              <a:t>•  Calibrate before committing. Load a sample, have someone label a hundred pairs by hand, then set the threshold and quote the cost — before anyone starts a nine-hour run.</a:t>
            </a:r>
          </a:p>
          <a:p>
            <a:pPr>
              <a:spcBef>
                <a:spcPts val="700"/>
              </a:spcBef>
              <a:spcAft>
                <a:spcPts val="400"/>
              </a:spcAft>
            </a:pPr>
            <a:r>
              <a:rPr sz="1200" b="0" i="0">
                <a:solidFill>
                  <a:srgbClr val="A6382C"/>
                </a:solidFill>
                <a:latin typeface="Helvetica Neue"/>
              </a:rPr>
              <a:t>A sample predicts cost. It does not predict correctness. The bug that produced 38 duplicate "Mr. Barton" nodes could not appear in a 200-chunk test, because it only triggers once enough similar names exist to crowd out the right one. A new corpus needs an audit of the full first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