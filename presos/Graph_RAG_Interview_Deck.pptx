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tabLst>
                <a:tab pos="0" algn="l"/>
              </a:tabLst>
            </a:pPr>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5" name="PlaceHolder 4"/>
          <p:cNvSpPr>
            <a:spLocks noGrp="1"/>
          </p:cNvSpPr>
          <p:nvPr>
            <p:ph type="dt" idx="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6" name="PlaceHolder 5"/>
          <p:cNvSpPr>
            <a:spLocks noGrp="1"/>
          </p:cNvSpPr>
          <p:nvPr>
            <p:ph type="ftr" idx="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 name="PlaceHolder 6"/>
          <p:cNvSpPr>
            <a:spLocks noGrp="1"/>
          </p:cNvSpPr>
          <p:nvPr>
            <p:ph type="sldNum" idx="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07BBB31-24B5-43B4-BF4E-BD3F4152C7E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1143000" y="685800"/>
            <a:ext cx="4571280" cy="3428280"/>
          </a:xfrm>
          <a:prstGeom prst="rect">
            <a:avLst/>
          </a:prstGeom>
          <a:ln w="0">
            <a:noFill/>
          </a:ln>
        </p:spPr>
      </p:sp>
      <p:sp>
        <p:nvSpPr>
          <p:cNvPr id="108"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"Everything in this deck is measured. Several of the numbers contradict what I expected before I measured them, and I've kept those in."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Set the contract in the first fifteen seconds: this is a working system, not a slideware architecture, and the honesty is deliberate. It buys permission for slide 11.</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four numbers are the whole build in one line — 19,009 mentions collapsing to 2,014 entities is the story of identity resolution.</a:t>
            </a:r>
            <a:endParaRPr lang="en-US" sz="2000" b="0" u="none" strike="noStrike">
              <a:solidFill>
                <a:srgbClr val="000000"/>
              </a:solidFill>
              <a:effectLst/>
              <a:uFillTx/>
              <a:latin typeface="Arial"/>
            </a:endParaRPr>
          </a:p>
        </p:txBody>
      </p:sp>
      <p:sp>
        <p:nvSpPr>
          <p:cNvPr id="109" name="PlaceHolder 3"/>
          <p:cNvSpPr>
            <a:spLocks noGrp="1"/>
          </p:cNvSpPr>
          <p:nvPr>
            <p:ph type="sldNum" idx="10"/>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9BB4880-B258-4394-85ED-E4C3E14CE87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1143000" y="685800"/>
            <a:ext cx="4571280" cy="3428280"/>
          </a:xfrm>
          <a:prstGeom prst="rect">
            <a:avLst/>
          </a:prstGeom>
          <a:ln w="0">
            <a:noFill/>
          </a:ln>
        </p:spPr>
      </p:sp>
      <p:sp>
        <p:nvSpPr>
          <p:cNvPr id="11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Keep to eight minutes and resist the urge to narrate a CV. The panel is listening for whether you want this job or a job.</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Be specific about what you have run in anger versus read about — a panel of engineers will find the seam if you blur it.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Land the closing line deliberately. It is the hinge into Act two.</a:t>
            </a:r>
            <a:endParaRPr lang="en-US" sz="2000" b="0" u="none" strike="noStrike">
              <a:solidFill>
                <a:srgbClr val="000000"/>
              </a:solidFill>
              <a:effectLst/>
              <a:uFillTx/>
              <a:latin typeface="Arial"/>
            </a:endParaRPr>
          </a:p>
        </p:txBody>
      </p:sp>
      <p:sp>
        <p:nvSpPr>
          <p:cNvPr id="112" name="PlaceHolder 3"/>
          <p:cNvSpPr>
            <a:spLocks noGrp="1"/>
          </p:cNvSpPr>
          <p:nvPr>
            <p:ph type="sldNum" idx="11"/>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9D1CC31-2050-4FC7-8BE0-1719C01FAD0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1143000" y="685800"/>
            <a:ext cx="4571280" cy="3428280"/>
          </a:xfrm>
          <a:prstGeom prst="rect">
            <a:avLst/>
          </a:prstGeom>
          <a:ln w="0">
            <a:noFill/>
          </a:ln>
        </p:spPr>
      </p:sp>
      <p:sp>
        <p:nvSpPr>
          <p:cNvPr id="11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Say the two service names once and then stop using them. The panel will hear "Importer" and "Retriever" all day from their own people; what they want to know is whether a stranger can explain the split cleanly, and whether the split is the sensible one. It is — rebuilding a graph is slow and occasional, answering is fast and constant, and those two things should never share a deployment.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four build steps are the same first move I made. Steps one and two are mine almost exactly. Steps three and four — clustering into topics and summarising each — are the part I do not have, and that is deliberate on their side, not an extra. Slide 06 is where that matters.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"runs where the data lives": their self-hosted path uses Triton. Mine used Ollama on a laptop. Architecturally that is the same decision — local inference for data that cannot leave — made with much cheaper machinery. Worth saying, because it shows I understand why the option exists rather than just that it exists.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someone pushes on cost, the honest line is that consolidating three systems into one saves licence and staffing money, and I have not measured it. Do not quote their TCO figures as if they were mine.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Say "document", not "page". Page-level citation is my system, which tracks a page number per passage. What their documentation supports is a citable_url per file and "document references" from Instant Search. Claiming page-level precision for their product, in front of their engineers, is exactly the kind of small overreach that costs credibility for nothing.</a:t>
            </a:r>
            <a:endParaRPr lang="en-US" sz="2000" b="0" u="none" strike="noStrike">
              <a:solidFill>
                <a:srgbClr val="000000"/>
              </a:solidFill>
              <a:effectLst/>
              <a:uFillTx/>
              <a:latin typeface="Arial"/>
            </a:endParaRPr>
          </a:p>
        </p:txBody>
      </p:sp>
      <p:sp>
        <p:nvSpPr>
          <p:cNvPr id="115" name="PlaceHolder 3"/>
          <p:cNvSpPr>
            <a:spLocks noGrp="1"/>
          </p:cNvSpPr>
          <p:nvPr>
            <p:ph type="sldNum" idx="12"/>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E9F097D-99BA-48B1-B6DF-375C5E42E7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1143000" y="685800"/>
            <a:ext cx="4571280" cy="3428280"/>
          </a:xfrm>
          <a:prstGeom prst="rect">
            <a:avLst/>
          </a:prstGeom>
          <a:ln w="0">
            <a:noFill/>
          </a:ln>
        </p:spPr>
      </p:sp>
      <p:sp>
        <p:nvSpPr>
          <p:cNvPr id="11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Only Instant and Deep are exposed in the web interface. Global, Local and Custom are API-only, which is a real detail worth knowing — a prospect evaluating from the UI alone will not see the capability that most differentiates the product.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My 11-of-35 fallback number is the strongest thing on this slide, because it is a measurement of my own shortfall that their architecture answers. Concentrated in two categories: counting questions and aggregation questions. Both name nothing, so both have no entry point.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Deep Search is worth a second look — it is Local Search with a model planning its own steps. That is an agentic loop over the graph, and a different answer to multi-step questions than my single-pass traversal.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asked which I would sell first: Instant, because it demos in one screen and needs no explanation. Global is the one that wins the second meeting.</a:t>
            </a:r>
            <a:endParaRPr lang="en-US" sz="2000" b="0" u="none" strike="noStrike">
              <a:solidFill>
                <a:srgbClr val="000000"/>
              </a:solidFill>
              <a:effectLst/>
              <a:uFillTx/>
              <a:latin typeface="Arial"/>
            </a:endParaRPr>
          </a:p>
        </p:txBody>
      </p:sp>
      <p:sp>
        <p:nvSpPr>
          <p:cNvPr id="118" name="PlaceHolder 3"/>
          <p:cNvSpPr>
            <a:spLocks noGrp="1"/>
          </p:cNvSpPr>
          <p:nvPr>
            <p:ph type="sldNum" idx="13"/>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00B268E-9198-47C9-B011-FED21A46B10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1143000" y="685800"/>
            <a:ext cx="4571280" cy="3428280"/>
          </a:xfrm>
          <a:prstGeom prst="rect">
            <a:avLst/>
          </a:prstGeom>
          <a:ln w="0">
            <a:noFill/>
          </a:ln>
        </p:spPr>
      </p:sp>
      <p:sp>
        <p:nvSpPr>
          <p:cNvPr id="120"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slide the whole talk is built around. Do not rush it. The argument is not that they got something wrong. It is that whether you need identity resolution depends on your documents rather than on the database, so leaving it to the user is a reasonable call.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Why their design is right for their market. Good technical writing declares a name and then repeats the exact token — the name is the identifier. One authorial voice, usually to a style guide. And the entities are mostly concepts and products, which have no honorifics, no initials, no maiden names. My corpus inverts all three: multi-author and adversarial, quoted speech nested inside transcripts nested inside exhibits, and people whose names vary by register on purpose.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One detail worth mentioning if the conversation goes technical. Their settings include a knob for catching entities the model missed. There is nothing that asks whether it counted the same one twice. That tells you what they were solving for, and it is worth raising as an observation rather than a gotcha.</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Two honesty checks, and say them before anyone else does. First, "we do resolution, they don't" is too clean and it is not true of me either — I resolved people. The same rule ran backwards on places, wrote 11 wrong links out of 14 in a trial, and I stopped it and scoped the pass to people. Place and organisation resolution is still not done. Second, deduplication is invisible when it works; you cannot screenshot two nodes that were secretly one person. Topic summaries demo beautifully. Product surface follows what demos, and that is not cynicism, it is how roadmaps get built.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counter-case, if someone asks why not just merge aggressively. Jane Doe, Jane Doe 2, Jane Doe 3 are near-identical to any name-matching algorithm and are three different people. A system that merges them is worse than one that merges nothing, because it invents a connection between real people.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Where to land it: they publish a sameAs pattern already. Running that over the entity collection after import is where this work would go. Offer it as a use case for their product, not as something they are missing.</a:t>
            </a:r>
            <a:endParaRPr lang="en-US" sz="2000" b="0" u="none" strike="noStrike">
              <a:solidFill>
                <a:srgbClr val="000000"/>
              </a:solidFill>
              <a:effectLst/>
              <a:uFillTx/>
              <a:latin typeface="Arial"/>
            </a:endParaRPr>
          </a:p>
        </p:txBody>
      </p:sp>
      <p:sp>
        <p:nvSpPr>
          <p:cNvPr id="121" name="PlaceHolder 3"/>
          <p:cNvSpPr>
            <a:spLocks noGrp="1"/>
          </p:cNvSpPr>
          <p:nvPr>
            <p:ph type="sldNum" idx="14"/>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58E5035-DB8E-438A-BA79-D21E107B42E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1143000" y="685800"/>
            <a:ext cx="4571280" cy="3428280"/>
          </a:xfrm>
          <a:prstGeom prst="rect">
            <a:avLst/>
          </a:prstGeom>
          <a:ln w="0">
            <a:noFill/>
          </a:ln>
        </p:spPr>
      </p:sp>
      <p:sp>
        <p:nvSpPr>
          <p:cNvPr id="123"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second-store point is not theoretical for me — I hit it. My build keeps chunk text and vectors in LanceDB and the graph in ArangoDB, and a handful of chunks exist as graph anchors with no LanceDB row. The graph channel has to filter ids before fusion or it hydrates a row with no text. That is the seam, and I can describe it from experience rather than from a competitive brief.</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disclaimer at the bottom is not weakness. If you claim a benchmark you did not run, an engineer on the panel will ask for the methodology and the whole deck loses credit. Saying it first is stronger.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pushed on cost: their comparison page puts annual TCO at $127,025 for GraphRAG against $205,290 for vector-database RAG at 1 TB and 10K queries/day, the saving resting largely on not recomputing embeddings. I would not lead with it — it is vendor marketing with unstated assumptions, and it does not transfer to my system, which uses embeddings for both retrieval and dedup candidates.</a:t>
            </a:r>
            <a:endParaRPr lang="en-US" sz="2000" b="0" u="none" strike="noStrike">
              <a:solidFill>
                <a:srgbClr val="000000"/>
              </a:solidFill>
              <a:effectLst/>
              <a:uFillTx/>
              <a:latin typeface="Arial"/>
            </a:endParaRPr>
          </a:p>
        </p:txBody>
      </p:sp>
      <p:sp>
        <p:nvSpPr>
          <p:cNvPr id="124" name="PlaceHolder 3"/>
          <p:cNvSpPr>
            <a:spLocks noGrp="1"/>
          </p:cNvSpPr>
          <p:nvPr>
            <p:ph type="sldNum" idx="15"/>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3D9DFB1-716B-4400-AAE8-B8229E241FD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1143000" y="685800"/>
            <a:ext cx="4571280" cy="3428280"/>
          </a:xfrm>
          <a:prstGeom prst="rect">
            <a:avLst/>
          </a:prstGeom>
          <a:ln w="0">
            <a:noFill/>
          </a:ln>
        </p:spPr>
      </p:sp>
      <p:sp>
        <p:nvSpPr>
          <p:cNvPr id="126"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Runbook. Start the server, open ask.html, and have the ArangoDB web UI already on a second tab with the named graph created. Do not run an eval beforehand — Ollama serialises generation and a queued request takes 75 seconds instead of a few.</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Move 1 — "Who is Alfredo Rodriguez and what was his role in relation to Jeffrey Epstein?" on the graph strategy. Retrieval renders in ~60ms. Point at the coreference families before the answer arrives; that panel is the most interesting thing on screen.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Move 2 — "What is the obiter dicta in this case?" Two things to name out loud: the amber fallback banner (graph could not anchor, so it degraded to vector search — and it says so rather than taking credit), and then the refusal. Abstention failed four times before it worked; this is the hardest thing the system does.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Move 3 — je_entities/1348883 for Recarey; je_entities/1285748 for Jane Doe 2. Set the viewer's label attribute to name or every node shows a numeric key. Never click "load full graph" — 2,014 vertices and 19,009 edges will crawl.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Move 4 — the family-reach query is the punchline: it quantifies what coreference bought, in chunks.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Timing: aim for six minutes on moves 1–2, four on 3–4, leaving room for interruptions. Expect them.</a:t>
            </a:r>
            <a:endParaRPr lang="en-US" sz="2000" b="0" u="none" strike="noStrike">
              <a:solidFill>
                <a:srgbClr val="000000"/>
              </a:solidFill>
              <a:effectLst/>
              <a:uFillTx/>
              <a:latin typeface="Arial"/>
            </a:endParaRPr>
          </a:p>
        </p:txBody>
      </p:sp>
      <p:sp>
        <p:nvSpPr>
          <p:cNvPr id="127" name="PlaceHolder 3"/>
          <p:cNvSpPr>
            <a:spLocks noGrp="1"/>
          </p:cNvSpPr>
          <p:nvPr>
            <p:ph type="sldNum" idx="16"/>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FD6348C-0E1E-4DC8-8B80-1E2C708D3D4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1143000" y="685800"/>
            <a:ext cx="4571280" cy="3428280"/>
          </a:xfrm>
          <a:prstGeom prst="rect">
            <a:avLst/>
          </a:prstGeom>
          <a:ln w="0">
            <a:noFill/>
          </a:ln>
        </p:spPr>
      </p:sp>
      <p:sp>
        <p:nvSpPr>
          <p:cNvPr id="129"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Correction I owe this slide. An earlier version of this deck said "SmartGraphs with partition_id". There is no such parameter — the real mechanism is smartGraphAttribute, and partition_id was my own placeholder name for the field I would nominate. Worth stating plainly if anyone knows the product well, because inventing a parameter name is exactly the kind of thing that costs credibility.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Two stores was the quick choice and it shows. A few passages exist in the graph with no matching row in LanceDB. That is not a hypothetical consistency risk; it already happened.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What I deliberately did not build: person-to-person edges. This is an index of who appears where, not a map of how people relate. The only link I could honestly derive is "mentioned in the same passage", which in a 190-filing docket says almost nothing.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Also on the list, lower down: a review screen for the 413 flagged pairs, and a second slower model to re-order the final shortlist — a cross-encoder reranker. There is no reranker in the system today; what it has is rank fusion, which is a different thing, and B1 covers it if anyone asks.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shard_count question. Ask it as a question. If the answer is "yes, that is a pre-release limit and it is going away", I have learned something. If the answer is "no, here is how", I have learned more. Either way it beats asserting a limitation at them.</a:t>
            </a:r>
            <a:endParaRPr lang="en-US" sz="2000" b="0" u="none" strike="noStrike">
              <a:solidFill>
                <a:srgbClr val="000000"/>
              </a:solidFill>
              <a:effectLst/>
              <a:uFillTx/>
              <a:latin typeface="Arial"/>
            </a:endParaRPr>
          </a:p>
        </p:txBody>
      </p:sp>
      <p:sp>
        <p:nvSpPr>
          <p:cNvPr id="130" name="PlaceHolder 3"/>
          <p:cNvSpPr>
            <a:spLocks noGrp="1"/>
          </p:cNvSpPr>
          <p:nvPr>
            <p:ph type="sldNum" idx="1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0754292-5C67-43D9-A883-1BD553D0D9B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1143000" y="685800"/>
            <a:ext cx="4571280" cy="3428280"/>
          </a:xfrm>
          <a:prstGeom prst="rect">
            <a:avLst/>
          </a:prstGeom>
          <a:ln w="0">
            <a:noFill/>
          </a:ln>
        </p:spPr>
      </p:sp>
      <p:sp>
        <p:nvSpPr>
          <p:cNvPr id="132"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 SOUTHERN DISTRICT OF NEW YORK scored 0.517 against its own title case, nowhere near the 0.85 threshold. Combined with capping an unsorted candidate list, true matches were crowded out by weaker partial ones. It failed in the safe direction — missed merges, never false ones — but fragmented the graph badly. A 200-chunk test could not surface it, because the defect only appears at entity density.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2. The flag table held both "Ms. Maxwell" ↔ "Maxwell" and "baron Robert Maxwell" ↔ "Maxwell" — identical surface shape, opposite correct answers. The fix was to change the question from pairs to partitions: judge a whole name family at once, using mention counts, document spread and roles.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3. Found by reading prompt_eval_count and noticing it was suspiciously round — exactly 4096 on every call. A real token count is never a round power of two. Confirmed by re-running the identical prompt with a larger context, which reported the true 4,235. Nothing in any log said a word.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direction of the cut is the part worth telling. I first assumed the tail of the last passage was lost, then tested it: a prompt with markers at both ends, run at 4096, came back seeing only the last marker. Ollama truncates from the front and does not protect the system message. So the tokens dropped were not evidence — they were the opening of the instructions, the part that says to use only the supplied sources. The system prompt on the path that produced every eval row measures 322 tokens, so a 139-token overrun removes roughly its first 40%.</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4. Roughly 3B parameters are active per token in a 30B-A3B model. It is a 30B download, not 30B of thinking. I also tested a prompt amendment that made both models worse, and abandoned it rather than iterating.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human in the middle — worth saying out loud, because a panel looking at an AI-assisted project will be wondering. Not one of these four defects was raised by the model. Each surfaced because I was reading real output: a prompt_eval_count that was suspiciously round, a merged name I recognised as two different people, an entity count that did not match what I knew about the corpus. An LLM is a fast, tireless implementer that will build the wrong thing with complete confidence. Deciding what to build, what to measure, and when to distrust a passing result stayed on my side of the loop — and that is the part of the skill set this project actually grew.</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the panel only remembers one thing from this slide, it should be the method: measure real output at real scale, because every one of these was invisible in a small test.</a:t>
            </a:r>
            <a:endParaRPr lang="en-US" sz="2000" b="0" u="none" strike="noStrike">
              <a:solidFill>
                <a:srgbClr val="000000"/>
              </a:solidFill>
              <a:effectLst/>
              <a:uFillTx/>
              <a:latin typeface="Arial"/>
            </a:endParaRPr>
          </a:p>
        </p:txBody>
      </p:sp>
      <p:sp>
        <p:nvSpPr>
          <p:cNvPr id="133" name="PlaceHolder 3"/>
          <p:cNvSpPr>
            <a:spLocks noGrp="1"/>
          </p:cNvSpPr>
          <p:nvPr>
            <p:ph type="sldNum" idx="18"/>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5B8BA99-17DE-499C-8705-326A834F8D9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1143000" y="685800"/>
            <a:ext cx="4571280" cy="3428280"/>
          </a:xfrm>
          <a:prstGeom prst="rect">
            <a:avLst/>
          </a:prstGeom>
          <a:ln w="0">
            <a:noFill/>
          </a:ln>
        </p:spPr>
      </p:sp>
      <p:sp>
        <p:nvSpPr>
          <p:cNvPr id="135"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 SOUTHERN DISTRICT OF NEW YORK scored 0.517 against its own title case, nowhere near the 0.85 threshold. Combined with capping an unsorted candidate list, true matches were crowded out by weaker partial ones. It failed in the safe direction — missed merges, never false ones — but fragmented the graph badly. A 200-chunk test could not surface it, because the defect only appears at entity density.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2. The flag table held both "Ms. Maxwell" ↔ "Maxwell" and "baron Robert Maxwell" ↔ "Maxwell" — identical surface shape, opposite correct answers. The fix was to change the question from pairs to partitions: judge a whole name family at once, using mention counts, document spread and roles.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3. Found by reading prompt_eval_count and noticing it was suspiciously round — exactly 4096 on every call. A real token count is never a round power of two. Confirmed by re-running the identical prompt with a larger context, which reported the true 4,235. Nothing in any log said a word.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direction of the cut is the part worth telling. I first assumed the tail of the last passage was lost, then tested it: a prompt with markers at both ends, run at 4096, came back seeing only the last marker. Ollama truncates from the front and does not protect the system message. So the tokens dropped were not evidence — they were the opening of the instructions, the part that says to use only the supplied sources. The system prompt on the path that produced every eval row measures 322 tokens, so a 139-token overrun removes roughly its first 40%.</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4. Roughly 3B parameters are active per token in a 30B-A3B model. It is a 30B download, not 30B of thinking. I also tested a prompt amendment that made both models worse, and abandoned it rather than iterating.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human in the middle — worth saying out loud, because a panel looking at an AI-assisted project will be wondering. Not one of these four defects was raised by the model. Each surfaced because I was reading real output: a prompt_eval_count that was suspiciously round, a merged name I recognised as two different people, an entity count that did not match what I knew about the corpus. An LLM is a fast, tireless implementer that will build the wrong thing with complete confidence. Deciding what to build, what to measure, and when to distrust a passing result stayed on my side of the loop — and that is the part of the skill set this project actually grew.</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the panel only remembers one thing from this slide, it should be the method: measure real output at real scale, because every one of these was invisible in a small test.</a:t>
            </a:r>
            <a:endParaRPr lang="en-US" sz="2000" b="0" u="none" strike="noStrike">
              <a:solidFill>
                <a:srgbClr val="000000"/>
              </a:solidFill>
              <a:effectLst/>
              <a:uFillTx/>
              <a:latin typeface="Arial"/>
            </a:endParaRPr>
          </a:p>
        </p:txBody>
      </p:sp>
      <p:sp>
        <p:nvSpPr>
          <p:cNvPr id="136" name="PlaceHolder 3"/>
          <p:cNvSpPr>
            <a:spLocks noGrp="1"/>
          </p:cNvSpPr>
          <p:nvPr>
            <p:ph type="sldNum" idx="19"/>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8F54A56-9F05-469A-9306-517034C21A1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1143000" y="685800"/>
            <a:ext cx="4571280" cy="3428280"/>
          </a:xfrm>
          <a:prstGeom prst="rect">
            <a:avLst/>
          </a:prstGeom>
          <a:ln w="0">
            <a:noFill/>
          </a:ln>
        </p:spPr>
      </p:sp>
      <p:sp>
        <p:nvSpPr>
          <p:cNvPr id="138"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 SOUTHERN DISTRICT OF NEW YORK scored 0.517 against its own title case, nowhere near the 0.85 threshold. Combined with capping an unsorted candidate list, true matches were crowded out by weaker partial ones. It failed in the safe direction — missed merges, never false ones — but fragmented the graph badly. A 200-chunk test could not surface it, because the defect only appears at entity density.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2. The flag table held both "Ms. Maxwell" ↔ "Maxwell" and "baron Robert Maxwell" ↔ "Maxwell" — identical surface shape, opposite correct answers. The fix was to change the question from pairs to partitions: judge a whole name family at once, using mention counts, document spread and roles.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3. Found by reading prompt_eval_count and noticing it was suspiciously round — exactly 4096 on every call. A real token count is never a round power of two. Confirmed by re-running the identical prompt with a larger context, which reported the true 4,235. Nothing in any log said a word.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direction of the cut is the part worth telling. I first assumed the tail of the last passage was lost, then tested it: a prompt with markers at both ends, run at 4096, came back seeing only the last marker. Ollama truncates from the front and does not protect the system message. So the tokens dropped were not evidence — they were the opening of the instructions, the part that says to use only the supplied sources. The system prompt on the path that produced every eval row measures 322 tokens, so a 139-token overrun removes roughly its first 40%.</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4. Roughly 3B parameters are active per token in a 30B-A3B model. It is a 30B download, not 30B of thinking. I also tested a prompt amendment that made both models worse, and abandoned it rather than iterating.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human in the middle — worth saying out loud, because a panel looking at an AI-assisted project will be wondering. Not one of these four defects was raised by the model. Each surfaced because I was reading real output: a prompt_eval_count that was suspiciously round, a merged name I recognised as two different people, an entity count that did not match what I knew about the corpus. An LLM is a fast, tireless implementer that will build the wrong thing with complete confidence. Deciding what to build, what to measure, and when to distrust a passing result stayed on my side of the loop — and that is the part of the skill set this project actually grew.</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the panel only remembers one thing from this slide, it should be the method: measure real output at real scale, because every one of these was invisible in a small test.</a:t>
            </a:r>
            <a:endParaRPr lang="en-US" sz="2000" b="0" u="none" strike="noStrike">
              <a:solidFill>
                <a:srgbClr val="000000"/>
              </a:solidFill>
              <a:effectLst/>
              <a:uFillTx/>
              <a:latin typeface="Arial"/>
            </a:endParaRPr>
          </a:p>
        </p:txBody>
      </p:sp>
      <p:sp>
        <p:nvSpPr>
          <p:cNvPr id="139" name="PlaceHolder 3"/>
          <p:cNvSpPr>
            <a:spLocks noGrp="1"/>
          </p:cNvSpPr>
          <p:nvPr>
            <p:ph type="sldNum" idx="20"/>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0244B0A8-BF39-4D9E-92E0-8CFCF30BB93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1143000" y="685800"/>
            <a:ext cx="4571280" cy="3428280"/>
          </a:xfrm>
          <a:prstGeom prst="rect">
            <a:avLst/>
          </a:prstGeom>
          <a:ln w="0">
            <a:noFill/>
          </a:ln>
        </p:spPr>
      </p:sp>
      <p:sp>
        <p:nvSpPr>
          <p:cNvPr id="14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If asked why rank fusion rather than combining the scores — the four channels return numbers that are not comparable. Vector gives a similarity of 0.42. Lexical gives a keyword score of 14.7, unbounded, and it shifts with query length. Density gives a raw count, like nine chunks. Graph gives a hop distance. To fuse by score you would first have to put all four on one scale, then decide how much each one counts: final = 0.5·vector + 0.2·lexical + 0.2·density + 0.1·graph. Those four numbers are the invention. There is no principled source for them here, because fitting weights honestly needs labelled data — a set of questions with known-correct passages to optimise against. This project deliberately has none. So in practice they would be guessed, then nudged while watching five or six questions, which is tuning to those five or six questions rather than to the problem. Rank fusion sidesteps it.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Every channel searches the whole corpus. This is deliberately not retrieve-then-rerank: a reranker can only reorder what stage one returned, so anything ranked badly first is unrecoverable. The obiter case proves the point — those chunks sit at #329–#2970 by cosine, so a bi-encoder-then-rerank design would never surface them.</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reserved slots: the first version fused all channels equally. It fixed the obiter question and simultaneously broke "who is Alfredo Rodriguez" — the deposition that answers it, #3 by plain cosine, fell out of the top 8 entirely because density ranks that document #12 and outvoted the channel that was right. Equal-weight fusion is only sound when channels are independent, and these are inversely correlated by construction.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graph channel abstains rather than falling back when a question anchors on nothing. Falling back would feed the vector ranking into RRF a second time under a different name — doubling vector's weight on exactly the questions where graph contributes nothing.</a:t>
            </a:r>
            <a:endParaRPr lang="en-US" sz="2000" b="0" u="none" strike="noStrike">
              <a:solidFill>
                <a:srgbClr val="000000"/>
              </a:solidFill>
              <a:effectLst/>
              <a:uFillTx/>
              <a:latin typeface="Arial"/>
            </a:endParaRPr>
          </a:p>
        </p:txBody>
      </p:sp>
      <p:sp>
        <p:nvSpPr>
          <p:cNvPr id="142" name="PlaceHolder 3"/>
          <p:cNvSpPr>
            <a:spLocks noGrp="1"/>
          </p:cNvSpPr>
          <p:nvPr>
            <p:ph type="sldNum" idx="21"/>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40E35038-908E-4E3A-862D-8D0041E8399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1143000" y="685800"/>
            <a:ext cx="4571280" cy="3428280"/>
          </a:xfrm>
          <a:prstGeom prst="rect">
            <a:avLst/>
          </a:prstGeom>
          <a:ln w="0">
            <a:noFill/>
          </a:ln>
        </p:spPr>
      </p:sp>
      <p:sp>
        <p:nvSpPr>
          <p:cNvPr id="14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is the credibility purchase. A solutions architect who has never talked a customer out of something is a salesperson with a diagram. Spending thirty seconds here buys belief in everything else.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Arango's own engineering blog concedes the first point: graph retrieval "struggles with semantic connections based on conceptual meaning rather than explicit relationships." I measured the same thing independently — my AB-01 question, where all three strategies returned identical results because there was nothing to anchor 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They are also deliberately unenthusiastic about HybridRAG in that post: it "can be beneficial and sometimes necessary", but they argue the added complexity needs justifying per application. Agreeing with them here is both honest and disarming.</a:t>
            </a:r>
            <a:endParaRPr lang="en-US" sz="2000" b="0" u="none" strike="noStrike">
              <a:solidFill>
                <a:srgbClr val="000000"/>
              </a:solidFill>
              <a:effectLst/>
              <a:uFillTx/>
              <a:latin typeface="Arial"/>
            </a:endParaRPr>
          </a:p>
        </p:txBody>
      </p:sp>
      <p:sp>
        <p:nvSpPr>
          <p:cNvPr id="145" name="PlaceHolder 3"/>
          <p:cNvSpPr>
            <a:spLocks noGrp="1"/>
          </p:cNvSpPr>
          <p:nvPr>
            <p:ph type="sldNum" idx="22"/>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D9B6890-5F31-4FC1-B10A-8B6139F60E2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1143000" y="685800"/>
            <a:ext cx="4571280" cy="3428280"/>
          </a:xfrm>
          <a:prstGeom prst="rect">
            <a:avLst/>
          </a:prstGeom>
          <a:ln w="0">
            <a:noFill/>
          </a:ln>
        </p:spPr>
      </p:sp>
      <p:sp>
        <p:nvSpPr>
          <p:cNvPr id="147"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numbers. Five questions the documents cannot answer, run through all three strategies — fifteen runs. Before the split, it answered all fifteen. After both fixes, it declines eleven. And every single refusal across the full 105-run set was checked by hand against the corpus: none of them was wrong.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What the old version was really doing. Asked which judge signed the January 2024 order, it wrote about adverse inference instructions. Asked what the errata sheet said, it wrote about a passport stamp. Both times: confident, fluent, all eight sources cited, and about a different question. The citation counts in the old results measured nothing at all.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Why the second bug is the interesting one. My first instinct was that the past tense broke it — "who were" failed, "who are" worked. That was wrong. Holding the retrieved passages fixed, both wordings give the same verdict; changing the wording only moved the query embedding, which swapped three of the eight passages. The tense was never the cause. Blaming the user's phrasing would have shipped the bug.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Cost. Eight small calls instead of one large one. It came out faster — the same passages are read either way, but each call now writes a handful of tokens instead of a paragraph.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 instruction a model can ignore becomes a rule it cannot, once it moves into code. Both fixes are the same move, and it is the same lesson as pinning minItems/maxItems in the dedup schema. It is the single most transferable idea in the build.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Still broken, if asked. Two of the five still get answered. "What sentence did the court impose on Jeffrey Epstein?" produces two different sentences from two strategies, so at least one is invented — and the phrase it quotes appears nowhere in the corpus. "What did Prince Andrew say in his deposition?" describes what he did not say in a deposition that never happened. The documents hold a great deal about both subjects, which is why per-passage judging says yes. That is answer relevance, a different problem from absence.</a:t>
            </a:r>
            <a:endParaRPr lang="en-US" sz="2000" b="0" u="none" strike="noStrike">
              <a:solidFill>
                <a:srgbClr val="000000"/>
              </a:solidFill>
              <a:effectLst/>
              <a:uFillTx/>
              <a:latin typeface="Arial"/>
            </a:endParaRPr>
          </a:p>
        </p:txBody>
      </p:sp>
      <p:sp>
        <p:nvSpPr>
          <p:cNvPr id="148" name="PlaceHolder 3"/>
          <p:cNvSpPr>
            <a:spLocks noGrp="1"/>
          </p:cNvSpPr>
          <p:nvPr>
            <p:ph type="sldNum" idx="23"/>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719A977-F4A1-4A5B-9AE4-5E119D1C63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1143000" y="685800"/>
            <a:ext cx="4571280" cy="3428280"/>
          </a:xfrm>
          <a:prstGeom prst="rect">
            <a:avLst/>
          </a:prstGeom>
          <a:ln w="0">
            <a:noFill/>
          </a:ln>
        </p:spPr>
      </p:sp>
      <p:sp>
        <p:nvSpPr>
          <p:cNvPr id="150"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Pre-registration is the methodological point worth making. Several of my predictions were wrong — I expected graph to dominate the counting stratum and it fell back on four of five. Being wrong about a frozen hypothesis is a result; being right about a hypothesis formed afterwards is a story.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35 gold answers are standing human work, not an automation gap waiting on a better model. In a legal setting that is the right shape: the machine narrows 3,338 passages to eight and shows its working; a person decides whether the answer is right.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cheap next step is an answer-in-context rate: for extractive questions, check whether the expected answer string appears in the retrieved text. One label per question instead of thousands, and it splits the error — string present but answer wrong is a generation bug, string absent is a retrieval bug.</a:t>
            </a:r>
            <a:endParaRPr lang="en-US" sz="2000" b="0" u="none" strike="noStrike">
              <a:solidFill>
                <a:srgbClr val="000000"/>
              </a:solidFill>
              <a:effectLst/>
              <a:uFillTx/>
              <a:latin typeface="Arial"/>
            </a:endParaRPr>
          </a:p>
        </p:txBody>
      </p:sp>
      <p:sp>
        <p:nvSpPr>
          <p:cNvPr id="151" name="PlaceHolder 3"/>
          <p:cNvSpPr>
            <a:spLocks noGrp="1"/>
          </p:cNvSpPr>
          <p:nvPr>
            <p:ph type="sldNum" idx="24"/>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D4C8D1D-B9E4-47F2-9C19-3D7C71FFFBA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1143000" y="685800"/>
            <a:ext cx="4571280" cy="3428280"/>
          </a:xfrm>
          <a:prstGeom prst="rect">
            <a:avLst/>
          </a:prstGeom>
          <a:ln w="0">
            <a:noFill/>
          </a:ln>
        </p:spPr>
      </p:sp>
      <p:sp>
        <p:nvSpPr>
          <p:cNvPr id="153"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Distinguishing "Royal makes a different town" from "Jeffrey does not make a different person" is world knowledge a token rule does not have. The likely fix is a type-aware rule plus an LLM judgment for the place cases, which is the same two-layer pattern used everywhere else in this build.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answering the wrong question: a grounded, fluent but non-responsive answer remains possible when the corpus does hold the right material. That is an answer-relevance problem; abstention only covers the case where the material is absent.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Keep this slide in reserve. If the panel asks "what's left", it is the answer. If they don't, do not volunteer all five — slide 09 has already established the candour.</a:t>
            </a:r>
            <a:endParaRPr lang="en-US" sz="2000" b="0" u="none" strike="noStrike">
              <a:solidFill>
                <a:srgbClr val="000000"/>
              </a:solidFill>
              <a:effectLst/>
              <a:uFillTx/>
              <a:latin typeface="Arial"/>
            </a:endParaRPr>
          </a:p>
        </p:txBody>
      </p:sp>
      <p:sp>
        <p:nvSpPr>
          <p:cNvPr id="154" name="PlaceHolder 3"/>
          <p:cNvSpPr>
            <a:spLocks noGrp="1"/>
          </p:cNvSpPr>
          <p:nvPr>
            <p:ph type="sldNum" idx="25"/>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D791A59-F03E-44D0-A60D-8DE756433D3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1143000" y="685800"/>
            <a:ext cx="4571280" cy="3428280"/>
          </a:xfrm>
          <a:prstGeom prst="rect">
            <a:avLst/>
          </a:prstGeom>
          <a:ln w="0">
            <a:noFill/>
          </a:ln>
        </p:spPr>
      </p:sp>
      <p:sp>
        <p:nvSpPr>
          <p:cNvPr id="156"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Why merge-as-an-edge matters more than it sounds. The alternative is to pick a winner, rewrite every edge pointing at the loser, and delete it. That is expensive, it destroys the record of what was originally decided, and it cannot be undone. Keeping identity as a link means a wrong merge is one delete away from being fixed, and every mention still points where it was first resolved — which is what lets you audit the decision later.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Three things that stay genuinely hard, if pressed. First, order dependence: whichever spelling loads first becomes the node's display name, so "Det. Recarey" can end up canonical by accident. Fixable by choosing the family's best name at query time instead of storing a winner. Second, non-determinism: the same documents loaded in a different order give a slightly different graph, which is uncomfortable for evidence. The answer is to log each resolution decision with its inputs, so a result can be explained rather than merely reproduced. Third, cascades: merging A with B can make the pair match C. I would do one pass and flag the rest rather than iterate — chasing a fixed point is how one node ends up swallowing the graph.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Operationally this wants a queue rather than a script: per-document jobs, retries, and one unreadable PDF that cannot stall the matter. Chunk-level resumability already exists, so a crashed job resumes instead of starting over. For court filings the RECAP/PACER API means you can watch a docket rather than wait for someone to drop files in a folder.</a:t>
            </a:r>
            <a:endParaRPr lang="en-US" sz="2000" b="0" u="none" strike="noStrike">
              <a:solidFill>
                <a:srgbClr val="000000"/>
              </a:solidFill>
              <a:effectLst/>
              <a:uFillTx/>
              <a:latin typeface="Arial"/>
            </a:endParaRPr>
          </a:p>
        </p:txBody>
      </p:sp>
      <p:sp>
        <p:nvSpPr>
          <p:cNvPr id="157" name="PlaceHolder 3"/>
          <p:cNvSpPr>
            <a:spLocks noGrp="1"/>
          </p:cNvSpPr>
          <p:nvPr>
            <p:ph type="sldNum" idx="26"/>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3626615-E7A8-403D-9898-79A41F37EDA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1143000" y="685800"/>
            <a:ext cx="4571280" cy="3428280"/>
          </a:xfrm>
          <a:prstGeom prst="rect">
            <a:avLst/>
          </a:prstGeom>
          <a:ln w="0">
            <a:noFill/>
          </a:ln>
        </p:spPr>
      </p:sp>
      <p:sp>
        <p:nvSpPr>
          <p:cNvPr id="159"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tenancy choice is a real trade, so do not present it as obvious. A database per matter buys hard isolation and clean deletion, and costs you cross-matter queries plus a few hundred databases to administer. One database sharded on the matter keeps cross-matter questions available and turns deletion into a large filtered delete. I would take the database per matter, because the isolation requirement here is ethical rather than technical, and requirements of that kind should not rest on everyone remembering a WHERE clause.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per-corpus settings point is this deck's own argument, turned into a config file. If the kind of documents you have decides the approach — slide 06 — then the pipeline should take the kind of documents as a parameter. Right now the thresholds are environment variables, which is fine for one corpus and wrong for many.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warning. Both of my worst defects were library defaults behaving reasonably: case-sensitive name comparison, and taking five candidates off an unsorted list. Neither was visible by reading the code, both were obvious in the output, and both scaled with entity count so a small test could not surface them. The practical step after a first full run is to sort the entities by name similarity and read the top few hundred clusters. It is an afternoon, and it catches the class of bug that only exists at scale.</a:t>
            </a:r>
            <a:endParaRPr lang="en-US" sz="2000" b="0" u="none" strike="noStrike">
              <a:solidFill>
                <a:srgbClr val="000000"/>
              </a:solidFill>
              <a:effectLst/>
              <a:uFillTx/>
              <a:latin typeface="Arial"/>
            </a:endParaRPr>
          </a:p>
        </p:txBody>
      </p:sp>
      <p:sp>
        <p:nvSpPr>
          <p:cNvPr id="160" name="PlaceHolder 3"/>
          <p:cNvSpPr>
            <a:spLocks noGrp="1"/>
          </p:cNvSpPr>
          <p:nvPr>
            <p:ph type="sldNum" idx="2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B2FA06E-6113-4795-8A6B-883500E074D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ftr" idx="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 name="PlaceHolder 2"/>
          <p:cNvSpPr>
            <a:spLocks noGrp="1"/>
          </p:cNvSpPr>
          <p:nvPr>
            <p:ph type="sldNum" idx="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13B8B94-F5AD-4FAF-8A99-6A1EFE177CE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 name="PlaceHolder 3"/>
          <p:cNvSpPr>
            <a:spLocks noGrp="1"/>
          </p:cNvSpPr>
          <p:nvPr>
            <p:ph type="dt" idx="3"/>
          </p:nvPr>
        </p:nvSpPr>
        <p:spPr>
          <a:xfrm>
            <a:off x="457200" y="6356520"/>
            <a:ext cx="2133000" cy="36432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tabLst>
                <a:tab pos="0" algn="l"/>
              </a:tabLst>
              <a:defRPr lang="en-US" sz="4400" b="0" u="none" strike="noStrike">
                <a:solidFill>
                  <a:schemeClr val="dk1"/>
                </a:solidFill>
                <a:effectLst/>
                <a:uFillTx/>
                <a:latin typeface="Calibri"/>
              </a:defRPr>
            </a:lvl1pPr>
          </a:lstStyle>
          <a:p>
            <a:pPr indent="0" algn="ctr" defTabSz="457200">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510480"/>
            <a:ext cx="10971720" cy="670680"/>
          </a:xfrm>
          <a:prstGeom prst="rect">
            <a:avLst/>
          </a:prstGeom>
          <a:noFill/>
          <a:ln w="0">
            <a:noFill/>
          </a:ln>
        </p:spPr>
        <p:txBody>
          <a:bodyPr lIns="0" tIns="0" rIns="0" bIns="0" anchor="ctr">
            <a:spAutoFit/>
          </a:bodyPr>
          <a:lstStyle>
            <a:lvl1pPr indent="0" algn="l" defTabSz="457200">
              <a:buNone/>
              <a:tabLst>
                <a:tab pos="0" algn="l"/>
              </a:tabLst>
              <a:defRPr lang="en-US" sz="4400" b="0" u="none" strike="noStrike">
                <a:solidFill>
                  <a:schemeClr val="dk1"/>
                </a:solidFill>
                <a:effectLst/>
                <a:uFillTx/>
                <a:latin typeface="Calibri"/>
              </a:defRPr>
            </a:lvl1pPr>
          </a:lstStyle>
          <a:p>
            <a:pPr indent="0" algn="l" defTabSz="457200">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8" name="PlaceHolder 2"/>
          <p:cNvSpPr>
            <a:spLocks noGrp="1"/>
          </p:cNvSpPr>
          <p:nvPr>
            <p:ph type="ftr" idx="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3"/>
          <p:cNvSpPr>
            <a:spLocks noGrp="1"/>
          </p:cNvSpPr>
          <p:nvPr>
            <p:ph type="sldNum" idx="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7E43936-171F-4CD2-98D7-7B4AA828AAF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0" name="PlaceHolder 4"/>
          <p:cNvSpPr>
            <a:spLocks noGrp="1"/>
          </p:cNvSpPr>
          <p:nvPr>
            <p:ph type="dt" idx="6"/>
          </p:nvPr>
        </p:nvSpPr>
        <p:spPr>
          <a:xfrm>
            <a:off x="457200" y="6356520"/>
            <a:ext cx="2133000" cy="36432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18"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00</a:t>
            </a:r>
            <a:endParaRPr lang="en-US" sz="900" b="0" u="none" strike="noStrike">
              <a:solidFill>
                <a:srgbClr val="000000"/>
              </a:solidFill>
              <a:effectLst/>
              <a:uFillTx/>
              <a:latin typeface="Arial"/>
            </a:endParaRPr>
          </a:p>
        </p:txBody>
      </p:sp>
      <p:sp>
        <p:nvSpPr>
          <p:cNvPr id="19"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SOLUTIONS ARCHITECT · PANEL PRESENTATION</a:t>
            </a:r>
            <a:endParaRPr lang="en-US" sz="900" b="0" u="none" strike="noStrike">
              <a:solidFill>
                <a:srgbClr val="000000"/>
              </a:solidFill>
              <a:effectLst/>
              <a:uFillTx/>
              <a:latin typeface="Arial"/>
            </a:endParaRPr>
          </a:p>
        </p:txBody>
      </p:sp>
      <p:sp>
        <p:nvSpPr>
          <p:cNvPr id="20" name="TextBox 3"/>
          <p:cNvSpPr/>
          <p:nvPr/>
        </p:nvSpPr>
        <p:spPr>
          <a:xfrm>
            <a:off x="567000" y="841320"/>
            <a:ext cx="11057040" cy="426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171B"/>
                </a:solidFill>
                <a:effectLst/>
                <a:uFillTx/>
                <a:latin typeface="Georgia"/>
                <a:ea typeface="DejaVu Sans"/>
              </a:rPr>
              <a:t>Graph RAG LLM – ArangoDB, Qwen3:8b, LanceDB</a:t>
            </a:r>
            <a:endParaRPr lang="en-US" sz="2800" b="0" u="none" strike="noStrike">
              <a:solidFill>
                <a:srgbClr val="000000"/>
              </a:solidFill>
              <a:effectLst/>
              <a:uFillTx/>
              <a:latin typeface="Arial"/>
            </a:endParaRPr>
          </a:p>
        </p:txBody>
      </p:sp>
      <p:sp>
        <p:nvSpPr>
          <p:cNvPr id="21" name="Rectangle 4"/>
          <p:cNvSpPr/>
          <p:nvPr/>
        </p:nvSpPr>
        <p:spPr>
          <a:xfrm>
            <a:off x="567000" y="144936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22" name="TextBox 5"/>
          <p:cNvSpPr/>
          <p:nvPr/>
        </p:nvSpPr>
        <p:spPr>
          <a:xfrm>
            <a:off x="567000" y="1920240"/>
            <a:ext cx="11057040" cy="4777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1" u="none" strike="noStrike">
                <a:solidFill>
                  <a:srgbClr val="4A5158"/>
                </a:solidFill>
                <a:effectLst/>
                <a:uFillTx/>
                <a:latin typeface="Helvetica Neue"/>
                <a:ea typeface="DejaVu Sans"/>
              </a:rPr>
              <a:t>Bogdan Udubasa – Solutions Architect</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	</a:t>
            </a:r>
            <a:r>
              <a:rPr lang="en-US" sz="1400" b="1" u="none" strike="noStrike">
                <a:solidFill>
                  <a:srgbClr val="4A5158"/>
                </a:solidFill>
                <a:effectLst/>
                <a:uFillTx/>
                <a:latin typeface="Helvetica Neue"/>
                <a:ea typeface="DejaVu Sans"/>
              </a:rPr>
              <a:t>Sept 4, 2026</a:t>
            </a:r>
            <a:endParaRPr lang="en-US" sz="1400" b="0" u="none" strike="noStrike">
              <a:solidFill>
                <a:srgbClr val="000000"/>
              </a:solidFill>
              <a:effectLst/>
              <a:uFillTx/>
              <a:latin typeface="Arial"/>
            </a:endParaRPr>
          </a:p>
          <a:p>
            <a:pPr defTabSz="457200">
              <a:lnSpc>
                <a:spcPct val="100000"/>
              </a:lnSpc>
              <a:spcAft>
                <a:spcPts val="400"/>
              </a:spcAft>
            </a:pPr>
            <a:endParaRPr lang="en-US" sz="1400" b="0" u="none" strike="noStrike">
              <a:solidFill>
                <a:srgbClr val="000000"/>
              </a:solidFill>
              <a:effectLst/>
              <a:uFillTx/>
              <a:latin typeface="Arial"/>
            </a:endParaRPr>
          </a:p>
        </p:txBody>
      </p:sp>
      <p:sp>
        <p:nvSpPr>
          <p:cNvPr id="23" name="TextBox 11"/>
          <p:cNvSpPr/>
          <p:nvPr/>
        </p:nvSpPr>
        <p:spPr>
          <a:xfrm>
            <a:off x="1634040" y="3252240"/>
            <a:ext cx="9338400" cy="27428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500" b="1" u="none" strike="noStrike">
                <a:solidFill>
                  <a:srgbClr val="4A5158"/>
                </a:solidFill>
                <a:effectLst/>
                <a:uFillTx/>
                <a:latin typeface="Helvetica Neue"/>
                <a:ea typeface="DejaVu Sans"/>
              </a:rPr>
              <a:t>Agenda </a:t>
            </a:r>
            <a:endParaRPr lang="en-US" sz="1500" b="0" u="none" strike="noStrike">
              <a:solidFill>
                <a:srgbClr val="000000"/>
              </a:solidFill>
              <a:effectLst/>
              <a:uFillTx/>
              <a:latin typeface="Arial"/>
            </a:endParaRPr>
          </a:p>
          <a:p>
            <a:pPr defTabSz="457200">
              <a:lnSpc>
                <a:spcPct val="100000"/>
              </a:lnSpc>
              <a:spcAft>
                <a:spcPts val="400"/>
              </a:spcAft>
            </a:pPr>
            <a:endParaRPr lang="en-US" sz="1500" b="0" u="none" strike="noStrike">
              <a:solidFill>
                <a:srgbClr val="000000"/>
              </a:solidFill>
              <a:effectLst/>
              <a:uFillTx/>
              <a:latin typeface="Arial"/>
            </a:endParaRPr>
          </a:p>
          <a:p>
            <a:pPr defTabSz="457200">
              <a:lnSpc>
                <a:spcPct val="100000"/>
              </a:lnSpc>
              <a:spcAft>
                <a:spcPts val="400"/>
              </a:spcAft>
            </a:pPr>
            <a:r>
              <a:rPr lang="en-US" sz="1500" b="1" u="none" strike="noStrike">
                <a:solidFill>
                  <a:srgbClr val="4A5158"/>
                </a:solidFill>
                <a:effectLst/>
                <a:uFillTx/>
                <a:latin typeface="Helvetica Neue"/>
                <a:ea typeface="DejaVu Sans"/>
              </a:rPr>
              <a:t>	</a:t>
            </a:r>
            <a:r>
              <a:rPr lang="en-US" sz="1500" b="1" u="none" strike="noStrike">
                <a:solidFill>
                  <a:srgbClr val="4A5158"/>
                </a:solidFill>
                <a:effectLst/>
                <a:uFillTx/>
                <a:latin typeface="Helvetica Neue"/>
                <a:ea typeface="DejaVu Sans"/>
              </a:rPr>
              <a:t>- Bio</a:t>
            </a:r>
            <a:endParaRPr lang="en-US" sz="1500" b="0" u="none" strike="noStrike">
              <a:solidFill>
                <a:srgbClr val="000000"/>
              </a:solidFill>
              <a:effectLst/>
              <a:uFillTx/>
              <a:latin typeface="Arial"/>
            </a:endParaRPr>
          </a:p>
          <a:p>
            <a:pPr defTabSz="457200">
              <a:lnSpc>
                <a:spcPct val="100000"/>
              </a:lnSpc>
              <a:spcAft>
                <a:spcPts val="400"/>
              </a:spcAft>
            </a:pPr>
            <a:endParaRPr lang="en-US" sz="1500" b="0" u="none" strike="noStrike">
              <a:solidFill>
                <a:srgbClr val="000000"/>
              </a:solidFill>
              <a:effectLst/>
              <a:uFillTx/>
              <a:latin typeface="Arial"/>
            </a:endParaRPr>
          </a:p>
          <a:p>
            <a:pPr defTabSz="457200">
              <a:lnSpc>
                <a:spcPct val="100000"/>
              </a:lnSpc>
              <a:spcAft>
                <a:spcPts val="400"/>
              </a:spcAft>
            </a:pPr>
            <a:r>
              <a:rPr lang="en-US" sz="1500" b="1" u="none" strike="noStrike">
                <a:solidFill>
                  <a:srgbClr val="4A5158"/>
                </a:solidFill>
                <a:effectLst/>
                <a:uFillTx/>
                <a:latin typeface="Helvetica Neue"/>
                <a:ea typeface="DejaVu Sans"/>
              </a:rPr>
              <a:t>	</a:t>
            </a:r>
            <a:r>
              <a:rPr lang="en-US" sz="1500" b="1" u="none" strike="noStrike">
                <a:solidFill>
                  <a:srgbClr val="4A5158"/>
                </a:solidFill>
                <a:effectLst/>
                <a:uFillTx/>
                <a:latin typeface="Helvetica Neue"/>
                <a:ea typeface="DejaVu Sans"/>
              </a:rPr>
              <a:t>- ArangoDB Solution</a:t>
            </a:r>
            <a:endParaRPr lang="en-US" sz="1500" b="0" u="none" strike="noStrike">
              <a:solidFill>
                <a:srgbClr val="000000"/>
              </a:solidFill>
              <a:effectLst/>
              <a:uFillTx/>
              <a:latin typeface="Arial"/>
            </a:endParaRPr>
          </a:p>
          <a:p>
            <a:pPr defTabSz="457200">
              <a:lnSpc>
                <a:spcPct val="100000"/>
              </a:lnSpc>
              <a:spcAft>
                <a:spcPts val="400"/>
              </a:spcAft>
            </a:pPr>
            <a:endParaRPr lang="en-US" sz="1500" b="0" u="none" strike="noStrike">
              <a:solidFill>
                <a:srgbClr val="000000"/>
              </a:solidFill>
              <a:effectLst/>
              <a:uFillTx/>
              <a:latin typeface="Arial"/>
            </a:endParaRPr>
          </a:p>
          <a:p>
            <a:pPr defTabSz="457200">
              <a:lnSpc>
                <a:spcPct val="100000"/>
              </a:lnSpc>
              <a:spcAft>
                <a:spcPts val="400"/>
              </a:spcAft>
            </a:pPr>
            <a:r>
              <a:rPr lang="en-US" sz="1500" b="1" u="none" strike="noStrike">
                <a:solidFill>
                  <a:srgbClr val="4A5158"/>
                </a:solidFill>
                <a:effectLst/>
                <a:uFillTx/>
                <a:latin typeface="Helvetica Neue"/>
                <a:ea typeface="DejaVu Sans"/>
              </a:rPr>
              <a:t>	</a:t>
            </a:r>
            <a:r>
              <a:rPr lang="en-US" sz="1500" b="1" u="none" strike="noStrike">
                <a:solidFill>
                  <a:srgbClr val="4A5158"/>
                </a:solidFill>
                <a:effectLst/>
                <a:uFillTx/>
                <a:latin typeface="Helvetica Neue"/>
                <a:ea typeface="DejaVu Sans"/>
              </a:rPr>
              <a:t>- Competitive Landscape</a:t>
            </a:r>
            <a:endParaRPr lang="en-US" sz="1500" b="0" u="none" strike="noStrike">
              <a:solidFill>
                <a:srgbClr val="000000"/>
              </a:solidFill>
              <a:effectLst/>
              <a:uFillTx/>
              <a:latin typeface="Arial"/>
            </a:endParaRPr>
          </a:p>
          <a:p>
            <a:pPr defTabSz="457200">
              <a:lnSpc>
                <a:spcPct val="100000"/>
              </a:lnSpc>
              <a:spcAft>
                <a:spcPts val="400"/>
              </a:spcAft>
            </a:pPr>
            <a:endParaRPr lang="en-US" sz="1500" b="0" u="none" strike="noStrike">
              <a:solidFill>
                <a:srgbClr val="000000"/>
              </a:solidFill>
              <a:effectLst/>
              <a:uFillTx/>
              <a:latin typeface="Arial"/>
            </a:endParaRPr>
          </a:p>
          <a:p>
            <a:pPr defTabSz="457200">
              <a:lnSpc>
                <a:spcPct val="100000"/>
              </a:lnSpc>
              <a:spcAft>
                <a:spcPts val="400"/>
              </a:spcAft>
            </a:pPr>
            <a:r>
              <a:rPr lang="en-US" sz="1500" b="1" u="none" strike="noStrike">
                <a:solidFill>
                  <a:srgbClr val="4A5158"/>
                </a:solidFill>
                <a:effectLst/>
                <a:uFillTx/>
                <a:latin typeface="Helvetica Neue"/>
                <a:ea typeface="DejaVu Sans"/>
              </a:rPr>
              <a:t>	</a:t>
            </a:r>
            <a:r>
              <a:rPr lang="en-US" sz="1500" b="1" u="none" strike="noStrike">
                <a:solidFill>
                  <a:srgbClr val="4A5158"/>
                </a:solidFill>
                <a:effectLst/>
                <a:uFillTx/>
                <a:latin typeface="Helvetica Neue"/>
                <a:ea typeface="DejaVu Sans"/>
              </a:rPr>
              <a:t>- Demo</a:t>
            </a:r>
            <a:endParaRPr lang="en-US" sz="1500" b="0" u="none" strike="noStrike">
              <a:solidFill>
                <a:srgbClr val="000000"/>
              </a:solidFill>
              <a:effectLst/>
              <a:uFillTx/>
              <a:latin typeface="Arial"/>
            </a:endParaRPr>
          </a:p>
          <a:p>
            <a:pPr defTabSz="457200">
              <a:lnSpc>
                <a:spcPct val="100000"/>
              </a:lnSpc>
              <a:spcAft>
                <a:spcPts val="400"/>
              </a:spcAft>
            </a:pPr>
            <a:endParaRPr lang="en-US" sz="1500" b="0" u="none" strike="noStrike">
              <a:solidFill>
                <a:srgbClr val="000000"/>
              </a:solidFill>
              <a:effectLst/>
              <a:uFillTx/>
              <a:latin typeface="Arial"/>
            </a:endParaRPr>
          </a:p>
        </p:txBody>
      </p:sp>
      <p:sp>
        <p:nvSpPr>
          <p:cNvPr id="24" name="Rectangle 3"/>
          <p:cNvSpPr/>
          <p:nvPr/>
        </p:nvSpPr>
        <p:spPr>
          <a:xfrm>
            <a:off x="567360" y="26377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25" name="TextBox 14"/>
          <p:cNvSpPr/>
          <p:nvPr/>
        </p:nvSpPr>
        <p:spPr>
          <a:xfrm>
            <a:off x="10710360" y="9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01</a:t>
            </a:r>
            <a:endParaRPr lang="en-US" sz="900" b="0" u="none" strike="noStrike">
              <a:solidFill>
                <a:srgbClr val="000000"/>
              </a:solidFill>
              <a:effectLst/>
              <a:uFillTx/>
              <a:latin typeface="Arial"/>
            </a:endParaRPr>
          </a:p>
        </p:txBody>
      </p:sp>
      <p:sp>
        <p:nvSpPr>
          <p:cNvPr id="26" name="TextBox 15"/>
          <p:cNvSpPr/>
          <p:nvPr/>
        </p:nvSpPr>
        <p:spPr>
          <a:xfrm>
            <a:off x="567000" y="373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My bio, why this role</a:t>
            </a:r>
            <a:endParaRPr lang="en-US" sz="2600" b="0" u="none" strike="noStrike">
              <a:solidFill>
                <a:srgbClr val="000000"/>
              </a:solidFill>
              <a:effectLst/>
              <a:uFillTx/>
              <a:latin typeface="Arial"/>
            </a:endParaRPr>
          </a:p>
        </p:txBody>
      </p:sp>
      <p:sp>
        <p:nvSpPr>
          <p:cNvPr id="27" name="Rectangle 2"/>
          <p:cNvSpPr/>
          <p:nvPr/>
        </p:nvSpPr>
        <p:spPr>
          <a:xfrm>
            <a:off x="567000" y="841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28" name="TextBox 16"/>
          <p:cNvSpPr/>
          <p:nvPr/>
        </p:nvSpPr>
        <p:spPr>
          <a:xfrm>
            <a:off x="567000" y="1024200"/>
            <a:ext cx="10862640" cy="48884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300" b="1" u="none" strike="noStrike">
                <a:solidFill>
                  <a:srgbClr val="4A5158"/>
                </a:solidFill>
                <a:effectLst/>
                <a:uFillTx/>
                <a:latin typeface="Helvetica Neue"/>
                <a:ea typeface="DejaVu Sans"/>
              </a:rPr>
              <a:t>SUMMARY &amp; ENGAGEMENTS</a:t>
            </a: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0" u="none" strike="noStrike">
                <a:solidFill>
                  <a:srgbClr val="14171B"/>
                </a:solidFill>
                <a:effectLst/>
                <a:uFillTx/>
                <a:latin typeface="Helvetica Neue"/>
                <a:ea typeface="DejaVu Sans"/>
              </a:rPr>
              <a:t>Hands-on Pre-Sales Engineer  with companies like DataStax, Yugabyte, Denodo and of course ArangoDB.</a:t>
            </a: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0" u="none" strike="noStrike">
                <a:solidFill>
                  <a:srgbClr val="14171B"/>
                </a:solidFill>
                <a:effectLst/>
                <a:uFillTx/>
                <a:latin typeface="Helvetica Neue"/>
                <a:ea typeface="DejaVu Sans"/>
              </a:rPr>
              <a:t>In the last couple of years took a detour on building and streamlining data ecosystems  (e.g. Medallion Architecture – Spark / Databricks, curating MongoDB)</a:t>
            </a: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1" u="none" strike="noStrike">
                <a:solidFill>
                  <a:srgbClr val="14171B"/>
                </a:solidFill>
                <a:effectLst/>
                <a:uFillTx/>
                <a:latin typeface="Helvetica Neue"/>
                <a:ea typeface="DejaVu Sans"/>
              </a:rPr>
              <a:t>	</a:t>
            </a:r>
            <a:r>
              <a:rPr lang="en-US" sz="1300" b="1" u="none" strike="noStrike">
                <a:solidFill>
                  <a:srgbClr val="14171B"/>
                </a:solidFill>
                <a:effectLst/>
                <a:uFillTx/>
                <a:latin typeface="Helvetica Neue"/>
                <a:ea typeface="DejaVu Sans"/>
              </a:rPr>
              <a:t>Notable Engagement(s):</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As a Solution Engineer for DataStax, project with one of the largest shipping and logistics companies in the world - $3 billion revenue. </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Company used tribal knowledge for building shipping route options to build routes, flights, connections. Their attempt at automation</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used systems and platforms which faced major challenges on complicated, multi-stop routes as well as concurrency.</a:t>
            </a:r>
            <a:endParaRPr lang="en-US" sz="1300" b="0" u="none" strike="noStrike">
              <a:solidFill>
                <a:srgbClr val="000000"/>
              </a:solidFill>
              <a:effectLst/>
              <a:uFillTx/>
              <a:latin typeface="Arial"/>
            </a:endParaRPr>
          </a:p>
          <a:p>
            <a:pPr defTabSz="457200">
              <a:lnSpc>
                <a:spcPct val="100000"/>
              </a:lnSpc>
              <a:spcBef>
                <a:spcPts val="133"/>
              </a:spcBef>
            </a:pPr>
            <a:r>
              <a:rPr lang="en-US" sz="1300" b="1" u="none" strike="noStrike">
                <a:solidFill>
                  <a:srgbClr val="14171B"/>
                </a:solidFill>
                <a:effectLst/>
                <a:uFillTx/>
                <a:latin typeface="Helvetica Neue"/>
                <a:ea typeface="Arial Unicode MS"/>
              </a:rPr>
              <a:t>	</a:t>
            </a:r>
            <a:r>
              <a:rPr lang="en-US" sz="1300" b="1"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Challenges</a:t>
            </a:r>
            <a:r>
              <a:rPr lang="en-US" sz="1300" b="1"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as engagement progressed were making the case for the CAP theorem of distributed systems and how they solved scaling</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and concurrency (adding instances, data is distributed → eventual consistency → high concurrency accomplished through</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parallelization)</a:t>
            </a:r>
            <a:endParaRPr lang="en-US" sz="1300" b="0" u="none" strike="noStrike">
              <a:solidFill>
                <a:srgbClr val="000000"/>
              </a:solidFill>
              <a:effectLst/>
              <a:uFillTx/>
              <a:latin typeface="Arial"/>
            </a:endParaRPr>
          </a:p>
          <a:p>
            <a:pPr defTabSz="457200">
              <a:lnSpc>
                <a:spcPct val="100000"/>
              </a:lnSpc>
              <a:spcBef>
                <a:spcPts val="700"/>
              </a:spcBef>
              <a:spcAft>
                <a:spcPts val="400"/>
              </a:spcAft>
            </a:pP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1" u="none" strike="noStrike">
                <a:solidFill>
                  <a:srgbClr val="4A5158"/>
                </a:solidFill>
                <a:effectLst/>
                <a:uFillTx/>
                <a:latin typeface="Helvetica Neue"/>
                <a:ea typeface="DejaVu Sans"/>
              </a:rPr>
              <a:t>GRAPH EXPERIENCE &amp; WHY THIS ROLE</a:t>
            </a:r>
            <a:endParaRPr lang="en-US" sz="1300" b="0" u="none" strike="noStrike">
              <a:solidFill>
                <a:srgbClr val="000000"/>
              </a:solidFill>
              <a:effectLst/>
              <a:uFillTx/>
              <a:latin typeface="Arial"/>
            </a:endParaRPr>
          </a:p>
          <a:p>
            <a:pPr defTabSz="457200">
              <a:lnSpc>
                <a:spcPct val="100000"/>
              </a:lnSpc>
              <a:spcBef>
                <a:spcPts val="417"/>
              </a:spcBef>
              <a:spcAft>
                <a:spcPts val="116"/>
              </a:spcAft>
            </a:pPr>
            <a:r>
              <a:rPr lang="en-US" sz="1300" b="1" u="none" strike="noStrike">
                <a:solidFill>
                  <a:srgbClr val="4A5158"/>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Longituder was born out of the challenges above where instead of building Dijkstra from ground up in Cassandra, Arango solved all traversals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natively: https://108.54.98.66</a:t>
            </a: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1" u="none" strike="noStrike">
                <a:solidFill>
                  <a:srgbClr val="14171B"/>
                </a:solidFill>
                <a:effectLst/>
                <a:uFillTx/>
                <a:latin typeface="Helvetica Neue"/>
                <a:ea typeface="DejaVu Sans"/>
              </a:rPr>
              <a:t>	</a:t>
            </a:r>
            <a:r>
              <a:rPr lang="en-US" sz="1300" b="1" u="none" strike="noStrike">
                <a:solidFill>
                  <a:srgbClr val="14171B"/>
                </a:solidFill>
                <a:effectLst/>
                <a:uFillTx/>
                <a:latin typeface="Helvetica Neue"/>
                <a:ea typeface="DejaVu Sans"/>
              </a:rPr>
              <a:t>Why ArangoDB now:</a:t>
            </a:r>
            <a:r>
              <a:rPr lang="en-US" sz="1300" b="0" u="none" strike="noStrike">
                <a:solidFill>
                  <a:srgbClr val="14171B"/>
                </a:solidFill>
                <a:effectLst/>
                <a:uFillTx/>
                <a:latin typeface="Helvetica Neue"/>
                <a:ea typeface="DejaVu Sans"/>
              </a:rPr>
              <a:t> the world of AI and NLP interaction with data were rather naive. </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Graph, particularly ArangoDB’s native integration with RAG LLM (Vector / Embeddings capabilities) coupled with Concepts (Vertices)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endParaRPr lang="en-US" sz="1300" b="0" u="none" strike="noStrike">
              <a:solidFill>
                <a:srgbClr val="000000"/>
              </a:solidFill>
              <a:effectLst/>
              <a:uFillTx/>
              <a:latin typeface="Arial"/>
            </a:endParaRPr>
          </a:p>
          <a:p>
            <a:pPr defTabSz="457200">
              <a:lnSpc>
                <a:spcPct val="100000"/>
              </a:lnSpc>
              <a:spcBef>
                <a:spcPts val="133"/>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and their Relationships (Edges), is surfacing relevant information which non-graph systems cannot</a:t>
            </a:r>
            <a:endParaRPr lang="en-US" sz="1300" b="0" u="none" strike="noStrike">
              <a:solidFill>
                <a:srgbClr val="000000"/>
              </a:solidFill>
              <a:effectLst/>
              <a:uFillTx/>
              <a:latin typeface="Arial"/>
            </a:endParaRPr>
          </a:p>
          <a:p>
            <a:pPr defTabSz="457200">
              <a:lnSpc>
                <a:spcPct val="100000"/>
              </a:lnSpc>
              <a:spcBef>
                <a:spcPts val="417"/>
              </a:spcBef>
              <a:spcAft>
                <a:spcPts val="116"/>
              </a:spcAft>
            </a:pP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29" name="TextBox 1"/>
          <p:cNvSpPr/>
          <p:nvPr/>
        </p:nvSpPr>
        <p:spPr>
          <a:xfrm>
            <a:off x="10710360" y="130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02</a:t>
            </a:r>
            <a:endParaRPr lang="en-US" sz="900" b="0" u="none" strike="noStrike">
              <a:solidFill>
                <a:srgbClr val="000000"/>
              </a:solidFill>
              <a:effectLst/>
              <a:uFillTx/>
              <a:latin typeface="Arial"/>
            </a:endParaRPr>
          </a:p>
        </p:txBody>
      </p:sp>
      <p:sp>
        <p:nvSpPr>
          <p:cNvPr id="30" name="TextBox 2"/>
          <p:cNvSpPr/>
          <p:nvPr/>
        </p:nvSpPr>
        <p:spPr>
          <a:xfrm>
            <a:off x="567000" y="315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ARANGO AI SUITE</a:t>
            </a:r>
            <a:endParaRPr lang="en-US" sz="900" b="0" u="none" strike="noStrike">
              <a:solidFill>
                <a:srgbClr val="000000"/>
              </a:solidFill>
              <a:effectLst/>
              <a:uFillTx/>
              <a:latin typeface="Arial"/>
            </a:endParaRPr>
          </a:p>
        </p:txBody>
      </p:sp>
      <p:sp>
        <p:nvSpPr>
          <p:cNvPr id="31" name="TextBox 3"/>
          <p:cNvSpPr/>
          <p:nvPr/>
        </p:nvSpPr>
        <p:spPr>
          <a:xfrm>
            <a:off x="567000" y="48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What the ArangoDB Suite does</a:t>
            </a:r>
            <a:endParaRPr lang="en-US" sz="2600" b="0" u="none" strike="noStrike">
              <a:solidFill>
                <a:srgbClr val="000000"/>
              </a:solidFill>
              <a:effectLst/>
              <a:uFillTx/>
              <a:latin typeface="Arial"/>
            </a:endParaRPr>
          </a:p>
        </p:txBody>
      </p:sp>
      <p:sp>
        <p:nvSpPr>
          <p:cNvPr id="32" name="Rectangle 4"/>
          <p:cNvSpPr/>
          <p:nvPr/>
        </p:nvSpPr>
        <p:spPr>
          <a:xfrm>
            <a:off x="567000" y="1021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33" name="TextBox 5"/>
          <p:cNvSpPr/>
          <p:nvPr/>
        </p:nvSpPr>
        <p:spPr>
          <a:xfrm>
            <a:off x="567000" y="1168200"/>
            <a:ext cx="11057040" cy="20808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16"/>
              </a:spcAft>
            </a:pPr>
            <a:r>
              <a:rPr lang="en-US" sz="1300" b="0" u="none" strike="noStrike">
                <a:solidFill>
                  <a:srgbClr val="4A5158"/>
                </a:solidFill>
                <a:effectLst/>
                <a:uFillTx/>
                <a:latin typeface="Helvetica Neue"/>
                <a:ea typeface="Arial Unicode MS"/>
              </a:rPr>
              <a:t>Two services:</a:t>
            </a:r>
            <a:endParaRPr lang="en-US" sz="1300" b="0" u="none" strike="noStrike">
              <a:solidFill>
                <a:srgbClr val="000000"/>
              </a:solidFill>
              <a:effectLst/>
              <a:uFillTx/>
              <a:latin typeface="Arial"/>
            </a:endParaRPr>
          </a:p>
          <a:p>
            <a:pPr defTabSz="457200">
              <a:lnSpc>
                <a:spcPct val="100000"/>
              </a:lnSpc>
              <a:spcAft>
                <a:spcPts val="116"/>
              </a:spcAft>
            </a:pPr>
            <a:r>
              <a:rPr lang="en-US" sz="1300" b="0" u="none" strike="noStrike">
                <a:solidFill>
                  <a:srgbClr val="4A5158"/>
                </a:solidFill>
                <a:effectLst/>
                <a:uFillTx/>
                <a:latin typeface="Helvetica Neue"/>
                <a:ea typeface="Arial Unicode MS"/>
              </a:rPr>
              <a:t> </a:t>
            </a:r>
            <a:endParaRPr lang="en-US" sz="1300" b="0" u="none" strike="noStrike">
              <a:solidFill>
                <a:srgbClr val="000000"/>
              </a:solidFill>
              <a:effectLst/>
              <a:uFillTx/>
              <a:latin typeface="Arial"/>
            </a:endParaRPr>
          </a:p>
          <a:p>
            <a:pPr defTabSz="457200">
              <a:lnSpc>
                <a:spcPct val="100000"/>
              </a:lnSpc>
              <a:spcAft>
                <a:spcPts val="116"/>
              </a:spcAft>
            </a:pPr>
            <a:r>
              <a:rPr lang="en-US" sz="1300" b="0" u="none" strike="noStrike">
                <a:solidFill>
                  <a:srgbClr val="4A5158"/>
                </a:solidFill>
                <a:effectLst/>
                <a:uFillTx/>
                <a:latin typeface="Helvetica Neue"/>
                <a:ea typeface="Arial Unicode MS"/>
              </a:rPr>
              <a:t>	</a:t>
            </a:r>
            <a:r>
              <a:rPr lang="en-US" sz="1300" b="1" u="none" strike="noStrike">
                <a:solidFill>
                  <a:srgbClr val="4A5158"/>
                </a:solidFill>
                <a:effectLst/>
                <a:uFillTx/>
                <a:latin typeface="Helvetica Neue"/>
                <a:ea typeface="Arial Unicode MS"/>
              </a:rPr>
              <a:t>Importer</a:t>
            </a:r>
            <a:r>
              <a:rPr lang="en-US" sz="1300" b="0" u="none" strike="noStrike">
                <a:solidFill>
                  <a:srgbClr val="4A5158"/>
                </a:solidFill>
                <a:effectLst/>
                <a:uFillTx/>
                <a:latin typeface="Helvetica Neue"/>
                <a:ea typeface="Arial Unicode MS"/>
              </a:rPr>
              <a:t> – builds the knowledge graph.</a:t>
            </a:r>
            <a:endParaRPr lang="en-US" sz="1300" b="0" u="none" strike="noStrike">
              <a:solidFill>
                <a:srgbClr val="000000"/>
              </a:solidFill>
              <a:effectLst/>
              <a:uFillTx/>
              <a:latin typeface="Arial"/>
            </a:endParaRPr>
          </a:p>
          <a:p>
            <a:pPr defTabSz="457200">
              <a:lnSpc>
                <a:spcPct val="100000"/>
              </a:lnSpc>
              <a:spcBef>
                <a:spcPts val="17"/>
              </a:spcBef>
            </a:pP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Split the documents into passages, have a model find the people, places and organizations, group related ones into topics, then have </a:t>
            </a:r>
            <a:endParaRPr lang="en-US" sz="1300" b="0" u="none" strike="noStrike">
              <a:solidFill>
                <a:srgbClr val="000000"/>
              </a:solidFill>
              <a:effectLst/>
              <a:uFillTx/>
              <a:latin typeface="Arial"/>
            </a:endParaRPr>
          </a:p>
          <a:p>
            <a:pPr defTabSz="457200">
              <a:lnSpc>
                <a:spcPct val="100000"/>
              </a:lnSpc>
              <a:spcBef>
                <a:spcPts val="17"/>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the model write a short report on each topic.</a:t>
            </a:r>
            <a:endParaRPr lang="en-US" sz="1300" b="0" u="none" strike="noStrike">
              <a:solidFill>
                <a:srgbClr val="000000"/>
              </a:solidFill>
              <a:effectLst/>
              <a:uFillTx/>
              <a:latin typeface="Arial"/>
            </a:endParaRPr>
          </a:p>
          <a:p>
            <a:pPr defTabSz="457200">
              <a:lnSpc>
                <a:spcPct val="100000"/>
              </a:lnSpc>
              <a:spcBef>
                <a:spcPts val="17"/>
              </a:spcBef>
            </a:pPr>
            <a:endParaRPr lang="en-US" sz="1300" b="0" u="none" strike="noStrike">
              <a:solidFill>
                <a:srgbClr val="000000"/>
              </a:solidFill>
              <a:effectLst/>
              <a:uFillTx/>
              <a:latin typeface="Arial"/>
            </a:endParaRPr>
          </a:p>
          <a:p>
            <a:pPr defTabSz="457200">
              <a:lnSpc>
                <a:spcPct val="100000"/>
              </a:lnSpc>
              <a:spcAft>
                <a:spcPts val="116"/>
              </a:spcAft>
            </a:pPr>
            <a:r>
              <a:rPr lang="en-US" sz="1300" b="0" u="none" strike="noStrike">
                <a:solidFill>
                  <a:srgbClr val="4A5158"/>
                </a:solidFill>
                <a:effectLst/>
                <a:uFillTx/>
                <a:latin typeface="Helvetica Neue"/>
                <a:ea typeface="Arial Unicode MS"/>
              </a:rPr>
              <a:t>	</a:t>
            </a:r>
            <a:r>
              <a:rPr lang="en-US" sz="1300" b="1" u="none" strike="noStrike">
                <a:solidFill>
                  <a:srgbClr val="4A5158"/>
                </a:solidFill>
                <a:effectLst/>
                <a:uFillTx/>
                <a:latin typeface="Helvetica Neue"/>
                <a:ea typeface="Arial Unicode MS"/>
              </a:rPr>
              <a:t>Retriever</a:t>
            </a:r>
            <a:r>
              <a:rPr lang="en-US" sz="1300" b="0" u="none" strike="noStrike">
                <a:solidFill>
                  <a:srgbClr val="4A5158"/>
                </a:solidFill>
                <a:effectLst/>
                <a:uFillTx/>
                <a:latin typeface="Helvetica Neue"/>
                <a:ea typeface="Arial Unicode MS"/>
              </a:rPr>
              <a:t> – answers questions against the topics built above carrying a reference to the source document (enabling the human</a:t>
            </a:r>
            <a:endParaRPr lang="en-US" sz="1300" b="0" u="none" strike="noStrike">
              <a:solidFill>
                <a:srgbClr val="000000"/>
              </a:solidFill>
              <a:effectLst/>
              <a:uFillTx/>
              <a:latin typeface="Arial"/>
            </a:endParaRPr>
          </a:p>
          <a:p>
            <a:pPr defTabSz="457200">
              <a:lnSpc>
                <a:spcPct val="100000"/>
              </a:lnSpc>
              <a:spcAft>
                <a:spcPts val="116"/>
              </a:spcAft>
            </a:pP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overseer for assessing quality</a:t>
            </a:r>
            <a:endParaRPr lang="en-US" sz="1300" b="0" u="none" strike="noStrike">
              <a:solidFill>
                <a:srgbClr val="000000"/>
              </a:solidFill>
              <a:effectLst/>
              <a:uFillTx/>
              <a:latin typeface="Arial"/>
            </a:endParaRPr>
          </a:p>
          <a:p>
            <a:pPr defTabSz="457200">
              <a:lnSpc>
                <a:spcPct val="100000"/>
              </a:lnSpc>
              <a:spcAft>
                <a:spcPts val="116"/>
              </a:spcAft>
            </a:pPr>
            <a:endParaRPr lang="en-US" sz="1300" b="0" u="none" strike="noStrike">
              <a:solidFill>
                <a:srgbClr val="000000"/>
              </a:solidFill>
              <a:effectLst/>
              <a:uFillTx/>
              <a:latin typeface="Arial"/>
            </a:endParaRPr>
          </a:p>
          <a:p>
            <a:pPr defTabSz="457200">
              <a:lnSpc>
                <a:spcPct val="100000"/>
              </a:lnSpc>
              <a:spcBef>
                <a:spcPts val="17"/>
              </a:spcBef>
            </a:pPr>
            <a:r>
              <a:rPr lang="en-US" sz="1300" b="0" u="none" strike="noStrike">
                <a:solidFill>
                  <a:srgbClr val="14171B"/>
                </a:solidFill>
                <a:effectLst/>
                <a:uFillTx/>
                <a:latin typeface="Helvetica Neue"/>
                <a:ea typeface="Arial Unicode MS"/>
              </a:rPr>
              <a:t>	</a:t>
            </a:r>
            <a:r>
              <a:rPr lang="en-US" sz="1300" b="0" u="none" strike="noStrike">
                <a:solidFill>
                  <a:srgbClr val="14171B"/>
                </a:solidFill>
                <a:effectLst/>
                <a:uFillTx/>
                <a:latin typeface="Helvetica Neue"/>
                <a:ea typeface="Arial Unicode MS"/>
              </a:rPr>
              <a:t>The system runs where the data already lives, including air-gapped, against models on customer’s own hardware → self contained system</a:t>
            </a:r>
            <a:endParaRPr lang="en-US" sz="1300" b="0" u="none" strike="noStrike">
              <a:solidFill>
                <a:srgbClr val="000000"/>
              </a:solidFill>
              <a:effectLst/>
              <a:uFillTx/>
              <a:latin typeface="Arial"/>
            </a:endParaRPr>
          </a:p>
        </p:txBody>
      </p:sp>
      <p:sp>
        <p:nvSpPr>
          <p:cNvPr id="34" name="TextBox 13"/>
          <p:cNvSpPr/>
          <p:nvPr/>
        </p:nvSpPr>
        <p:spPr>
          <a:xfrm>
            <a:off x="567360" y="3616560"/>
            <a:ext cx="11057040" cy="2768400"/>
          </a:xfrm>
          <a:prstGeom prst="rect">
            <a:avLst/>
          </a:prstGeom>
          <a:noFill/>
          <a:ln w="0">
            <a:noFill/>
          </a:ln>
        </p:spPr>
        <p:style>
          <a:lnRef idx="0"/>
          <a:fillRef idx="0"/>
          <a:effectRef idx="0"/>
          <a:fontRef idx="minor"/>
        </p:style>
        <p:txBody>
          <a:bodyPr lIns="0" tIns="0" rIns="0" bIns="0" anchor="t">
            <a:spAutoFit/>
          </a:bodyPr>
          <a:p>
            <a:pPr defTabSz="457200">
              <a:lnSpc>
                <a:spcPct val="100000"/>
              </a:lnSpc>
              <a:spcBef>
                <a:spcPts val="340"/>
              </a:spcBef>
              <a:spcAft>
                <a:spcPts val="283"/>
              </a:spcAft>
            </a:pPr>
            <a:r>
              <a:rPr lang="en-US" sz="1300" b="1" u="none" strike="noStrike">
                <a:solidFill>
                  <a:srgbClr val="4A5158"/>
                </a:solidFill>
                <a:effectLst/>
                <a:uFillTx/>
                <a:latin typeface="Helvetica Neue"/>
                <a:ea typeface="Arial Unicode MS"/>
              </a:rPr>
              <a:t>Chunking:  </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1" u="none" strike="noStrike">
                <a:solidFill>
                  <a:srgbClr val="4A5158"/>
                </a:solidFill>
                <a:effectLst/>
                <a:uFillTx/>
                <a:latin typeface="Helvetica Neue"/>
                <a:ea typeface="Arial Unicode MS"/>
              </a:rPr>
              <a:t>	</a:t>
            </a:r>
            <a:r>
              <a:rPr lang="en-US" sz="1300" b="1"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Breaking down raw documents into text chunks</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1" u="none" strike="noStrike">
                <a:solidFill>
                  <a:srgbClr val="4A5158"/>
                </a:solidFill>
                <a:effectLst/>
                <a:uFillTx/>
                <a:latin typeface="Helvetica Neue"/>
                <a:ea typeface="Arial Unicode MS"/>
              </a:rPr>
              <a:t>Entity and relation extraction for Knowledge Graph construction:</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LLM-assisted description of entities and relations (vertices and edges) → entity-entity, entity-chunk, chunk-document</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1" u="none" strike="noStrike">
                <a:solidFill>
                  <a:srgbClr val="4A5158"/>
                </a:solidFill>
                <a:effectLst/>
                <a:uFillTx/>
                <a:latin typeface="Helvetica Neue"/>
                <a:ea typeface="Arial Unicode MS"/>
              </a:rPr>
              <a:t>Topology-based clustering into mini-topics (called communities):</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Each entity points to its community</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Each community points to its higher-level community, if available (mini-topics point to major topics)</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1" u="none" strike="noStrike">
                <a:solidFill>
                  <a:srgbClr val="4A5158"/>
                </a:solidFill>
                <a:effectLst/>
                <a:uFillTx/>
                <a:latin typeface="Helvetica Neue"/>
                <a:ea typeface="Arial Unicode MS"/>
              </a:rPr>
              <a:t>LLM-assisted community summarization:</a:t>
            </a:r>
            <a:endParaRPr lang="en-US" sz="1300" b="0" u="none" strike="noStrike">
              <a:solidFill>
                <a:srgbClr val="000000"/>
              </a:solidFill>
              <a:effectLst/>
              <a:uFillTx/>
              <a:latin typeface="Arial"/>
            </a:endParaRPr>
          </a:p>
          <a:p>
            <a:pPr defTabSz="457200">
              <a:lnSpc>
                <a:spcPct val="100000"/>
              </a:lnSpc>
              <a:spcBef>
                <a:spcPts val="340"/>
              </a:spcBef>
              <a:spcAft>
                <a:spcPts val="283"/>
              </a:spcAft>
            </a:pPr>
            <a:r>
              <a:rPr lang="en-US" sz="1300" b="0" u="none" strike="noStrike">
                <a:solidFill>
                  <a:srgbClr val="4A5158"/>
                </a:solidFill>
                <a:effectLst/>
                <a:uFillTx/>
                <a:latin typeface="Helvetica Neue"/>
                <a:ea typeface="Arial Unicode MS"/>
              </a:rPr>
              <a:t>	</a:t>
            </a:r>
            <a:r>
              <a:rPr lang="en-US" sz="1300" b="0" u="none" strike="noStrike">
                <a:solidFill>
                  <a:srgbClr val="4A5158"/>
                </a:solidFill>
                <a:effectLst/>
                <a:uFillTx/>
                <a:latin typeface="Helvetica Neue"/>
                <a:ea typeface="Arial Unicode MS"/>
              </a:rPr>
              <a:t>- Community summarization is based on all information available about each topic</a:t>
            </a:r>
            <a:endParaRPr lang="en-US" sz="1300" b="0" u="none" strike="noStrike">
              <a:solidFill>
                <a:srgbClr val="000000"/>
              </a:solidFill>
              <a:effectLst/>
              <a:uFillTx/>
              <a:latin typeface="Arial"/>
            </a:endParaRPr>
          </a:p>
          <a:p>
            <a:pPr defTabSz="457200">
              <a:lnSpc>
                <a:spcPct val="100000"/>
              </a:lnSpc>
              <a:spcBef>
                <a:spcPts val="907"/>
              </a:spcBef>
              <a:spcAft>
                <a:spcPts val="709"/>
              </a:spcAft>
            </a:pP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35"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03</a:t>
            </a:r>
            <a:endParaRPr lang="en-US" sz="900" b="0" u="none" strike="noStrike">
              <a:solidFill>
                <a:srgbClr val="000000"/>
              </a:solidFill>
              <a:effectLst/>
              <a:uFillTx/>
              <a:latin typeface="Arial"/>
            </a:endParaRPr>
          </a:p>
        </p:txBody>
      </p:sp>
      <p:sp>
        <p:nvSpPr>
          <p:cNvPr id="36"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ARANGO AI SUITE · CAPABILITY</a:t>
            </a:r>
            <a:endParaRPr lang="en-US" sz="900" b="0" u="none" strike="noStrike">
              <a:solidFill>
                <a:srgbClr val="000000"/>
              </a:solidFill>
              <a:effectLst/>
              <a:uFillTx/>
              <a:latin typeface="Arial"/>
            </a:endParaRPr>
          </a:p>
        </p:txBody>
      </p:sp>
      <p:sp>
        <p:nvSpPr>
          <p:cNvPr id="37"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Five ways to ask a question</a:t>
            </a:r>
            <a:endParaRPr lang="en-US" sz="2600" b="0" u="none" strike="noStrike">
              <a:solidFill>
                <a:srgbClr val="000000"/>
              </a:solidFill>
              <a:effectLst/>
              <a:uFillTx/>
              <a:latin typeface="Arial"/>
            </a:endParaRPr>
          </a:p>
        </p:txBody>
      </p:sp>
      <p:sp>
        <p:nvSpPr>
          <p:cNvPr id="38"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39" name="TextBox 5"/>
          <p:cNvSpPr/>
          <p:nvPr/>
        </p:nvSpPr>
        <p:spPr>
          <a:xfrm>
            <a:off x="567000" y="1600200"/>
            <a:ext cx="11057040" cy="213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Different business questions need different retrieval. Most products ship one.</a:t>
            </a:r>
            <a:endParaRPr lang="en-US" sz="1400" b="0" u="none" strike="noStrike">
              <a:solidFill>
                <a:srgbClr val="000000"/>
              </a:solidFill>
              <a:effectLst/>
              <a:uFillTx/>
              <a:latin typeface="Arial"/>
            </a:endParaRPr>
          </a:p>
        </p:txBody>
      </p:sp>
      <p:graphicFrame>
        <p:nvGraphicFramePr>
          <p:cNvPr id="40" name="Table 6"/>
          <p:cNvGraphicFramePr/>
          <p:nvPr/>
        </p:nvGraphicFramePr>
        <p:xfrm>
          <a:off x="567000" y="1986840"/>
          <a:ext cx="11056680" cy="2308680"/>
        </p:xfrm>
        <a:graphic>
          <a:graphicData uri="http://schemas.openxmlformats.org/drawingml/2006/table">
            <a:tbl>
              <a:tblPr/>
              <a:tblGrid>
                <a:gridCol w="3685680"/>
                <a:gridCol w="3685680"/>
                <a:gridCol w="3685680"/>
              </a:tblGrid>
              <a:tr h="264960">
                <a:tc>
                  <a:txBody>
                    <a:bodyPr lIns="63720" tIns="27360" rIns="63720" bIns="27360" anchor="t">
                      <a:noAutofit/>
                    </a:bodyPr>
                    <a:p>
                      <a:pPr defTabSz="457200">
                        <a:lnSpc>
                          <a:spcPct val="100000"/>
                        </a:lnSpc>
                      </a:pPr>
                      <a:r>
                        <a:rPr lang="en-US" sz="1400" b="1" u="none" strike="noStrike">
                          <a:solidFill>
                            <a:srgbClr val="4A5158"/>
                          </a:solidFill>
                          <a:effectLst/>
                          <a:uFillTx/>
                          <a:latin typeface="Helvetica Neue"/>
                        </a:rPr>
                        <a:t>Method</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c>
                  <a:txBody>
                    <a:bodyPr lIns="63720" tIns="27360" rIns="63720" bIns="27360" anchor="t">
                      <a:noAutofit/>
                    </a:bodyPr>
                    <a:p>
                      <a:pPr defTabSz="457200">
                        <a:lnSpc>
                          <a:spcPct val="100000"/>
                        </a:lnSpc>
                      </a:pPr>
                      <a:r>
                        <a:rPr lang="en-US" sz="1400" b="1" u="none" strike="noStrike">
                          <a:solidFill>
                            <a:srgbClr val="4A5158"/>
                          </a:solidFill>
                          <a:effectLst/>
                          <a:uFillTx/>
                          <a:latin typeface="Helvetica Neue"/>
                        </a:rPr>
                        <a:t>Answers</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c>
                  <a:txBody>
                    <a:bodyPr lIns="63720" tIns="27360" rIns="63720" bIns="27360" anchor="t">
                      <a:noAutofit/>
                    </a:bodyPr>
                    <a:p>
                      <a:pPr defTabSz="457200">
                        <a:lnSpc>
                          <a:spcPct val="100000"/>
                        </a:lnSpc>
                      </a:pPr>
                      <a:r>
                        <a:rPr lang="en-US" sz="1400" b="1" u="none" strike="noStrike">
                          <a:solidFill>
                            <a:srgbClr val="4A5158"/>
                          </a:solidFill>
                          <a:effectLst/>
                          <a:uFillTx/>
                          <a:latin typeface="Helvetica Neue"/>
                        </a:rPr>
                        <a:t>Latency</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r>
              <a:tr h="466200">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Global</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Themes across every document, using the topic reports</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medium</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466200">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Local</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One person or organisation, and everything linked to it</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low</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297000">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Deep</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Multi-step research; the model plans its own steps</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higher</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297000">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Instant</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Fast answers with references</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low</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297000">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Custom</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Your own rules, over your own data</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400" b="0" u="none" strike="noStrike">
                          <a:solidFill>
                            <a:srgbClr val="14171B"/>
                          </a:solidFill>
                          <a:effectLst/>
                          <a:uFillTx/>
                          <a:latin typeface="Helvetica Neue"/>
                        </a:rPr>
                        <a:t>varies</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bl>
          </a:graphicData>
        </a:graphic>
      </p:graphicFrame>
      <p:sp>
        <p:nvSpPr>
          <p:cNvPr id="41" name="TextBox 7"/>
          <p:cNvSpPr/>
          <p:nvPr/>
        </p:nvSpPr>
        <p:spPr>
          <a:xfrm>
            <a:off x="567000" y="4618440"/>
            <a:ext cx="11057040" cy="8690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99"/>
              </a:spcAft>
            </a:pPr>
            <a:r>
              <a:rPr lang="en-US" sz="1300" b="0" u="none" strike="noStrike">
                <a:solidFill>
                  <a:srgbClr val="14171B"/>
                </a:solidFill>
                <a:effectLst/>
                <a:uFillTx/>
                <a:latin typeface="Helvetica Neue"/>
                <a:ea typeface="DejaVu Sans"/>
              </a:rPr>
              <a:t>•  Global Search answers about the collection as a whole. It reads the pre-written topic reports rather than walking the graph. Available through the</a:t>
            </a:r>
            <a:endParaRPr lang="en-US" sz="1300" b="0" u="none" strike="noStrike">
              <a:solidFill>
                <a:srgbClr val="000000"/>
              </a:solidFill>
              <a:effectLst/>
              <a:uFillTx/>
              <a:latin typeface="Arial"/>
            </a:endParaRPr>
          </a:p>
          <a:p>
            <a:pPr defTabSz="457200">
              <a:lnSpc>
                <a:spcPct val="100000"/>
              </a:lnSpc>
              <a:spcAft>
                <a:spcPts val="99"/>
              </a:spcAft>
            </a:pPr>
            <a:r>
              <a:rPr lang="en-US" sz="1300" b="0" u="none" strike="noStrike">
                <a:solidFill>
                  <a:srgbClr val="14171B"/>
                </a:solidFill>
                <a:effectLst/>
                <a:uFillTx/>
                <a:latin typeface="Helvetica Neue"/>
                <a:ea typeface="DejaVu Sans"/>
              </a:rPr>
              <a:t>   API only</a:t>
            </a:r>
            <a:endParaRPr lang="en-US" sz="1300" b="0" u="none" strike="noStrike">
              <a:solidFill>
                <a:srgbClr val="000000"/>
              </a:solidFill>
              <a:effectLst/>
              <a:uFillTx/>
              <a:latin typeface="Arial"/>
            </a:endParaRPr>
          </a:p>
          <a:p>
            <a:pPr marL="457200" defTabSz="457200">
              <a:lnSpc>
                <a:spcPct val="100000"/>
              </a:lnSpc>
              <a:spcAft>
                <a:spcPts val="400"/>
              </a:spcAft>
            </a:pPr>
            <a:r>
              <a:rPr lang="en-US" sz="1300" b="0" i="1" u="none" strike="noStrike">
                <a:solidFill>
                  <a:srgbClr val="4A5158"/>
                </a:solidFill>
                <a:effectLst/>
                <a:uFillTx/>
                <a:latin typeface="Georgia"/>
                <a:ea typeface="DejaVu Sans"/>
              </a:rPr>
              <a:t>"What is actually in here?" is the first thing anyone asks, and ordinary search cannot do it.</a:t>
            </a:r>
            <a:endParaRPr lang="en-US" sz="1300" b="0" u="none" strike="noStrike">
              <a:solidFill>
                <a:srgbClr val="000000"/>
              </a:solidFill>
              <a:effectLst/>
              <a:uFillTx/>
              <a:latin typeface="Arial"/>
            </a:endParaRPr>
          </a:p>
          <a:p>
            <a:pPr marL="457200" defTabSz="457200">
              <a:lnSpc>
                <a:spcPct val="100000"/>
              </a:lnSpc>
              <a:spcAft>
                <a:spcPts val="400"/>
              </a:spcAft>
            </a:pP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42"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06</a:t>
            </a:r>
            <a:endParaRPr lang="en-US" sz="900" b="0" u="none" strike="noStrike">
              <a:solidFill>
                <a:srgbClr val="000000"/>
              </a:solidFill>
              <a:effectLst/>
              <a:uFillTx/>
              <a:latin typeface="Arial"/>
            </a:endParaRPr>
          </a:p>
        </p:txBody>
      </p:sp>
      <p:sp>
        <p:nvSpPr>
          <p:cNvPr id="43"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THE SOLUTION · WHERE IT SITS ALONGSIDE</a:t>
            </a:r>
            <a:endParaRPr lang="en-US" sz="900" b="0" u="none" strike="noStrike">
              <a:solidFill>
                <a:srgbClr val="000000"/>
              </a:solidFill>
              <a:effectLst/>
              <a:uFillTx/>
              <a:latin typeface="Arial"/>
            </a:endParaRPr>
          </a:p>
        </p:txBody>
      </p:sp>
      <p:sp>
        <p:nvSpPr>
          <p:cNvPr id="44"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What ArangoDB excels at — and where mine might complement</a:t>
            </a:r>
            <a:endParaRPr lang="en-US" sz="2600" b="0" u="none" strike="noStrike">
              <a:solidFill>
                <a:srgbClr val="000000"/>
              </a:solidFill>
              <a:effectLst/>
              <a:uFillTx/>
              <a:latin typeface="Arial"/>
            </a:endParaRPr>
          </a:p>
        </p:txBody>
      </p:sp>
      <p:sp>
        <p:nvSpPr>
          <p:cNvPr id="45"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46" name="TextBox 5"/>
          <p:cNvSpPr/>
          <p:nvPr/>
        </p:nvSpPr>
        <p:spPr>
          <a:xfrm>
            <a:off x="567000" y="1600200"/>
            <a:ext cx="11057040" cy="44416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The kind of documents you have decides which approach works.</a:t>
            </a:r>
            <a:endParaRPr lang="en-US" sz="1400" b="0" u="none" strike="noStrike">
              <a:solidFill>
                <a:srgbClr val="000000"/>
              </a:solidFill>
              <a:effectLst/>
              <a:uFillTx/>
              <a:latin typeface="Arial"/>
            </a:endParaRPr>
          </a:p>
          <a:p>
            <a:pPr defTabSz="457200">
              <a:lnSpc>
                <a:spcPct val="100000"/>
              </a:lnSpc>
              <a:spcBef>
                <a:spcPts val="1199"/>
              </a:spcBef>
              <a:spcAft>
                <a:spcPts val="201"/>
              </a:spcAft>
            </a:pPr>
            <a:r>
              <a:rPr lang="en-US" sz="1300" b="1" u="none" strike="noStrike">
                <a:solidFill>
                  <a:srgbClr val="4A5158"/>
                </a:solidFill>
                <a:effectLst/>
                <a:uFillTx/>
                <a:latin typeface="Helvetica Neue"/>
                <a:ea typeface="DejaVu Sans"/>
              </a:rPr>
              <a:t>WHAT ARANGODB EXCELS AT</a:t>
            </a:r>
            <a:endParaRPr lang="en-US" sz="1300" b="0" u="none" strike="noStrike">
              <a:solidFill>
                <a:srgbClr val="000000"/>
              </a:solidFill>
              <a:effectLst/>
              <a:uFillTx/>
              <a:latin typeface="Arial"/>
            </a:endParaRPr>
          </a:p>
          <a:p>
            <a:pPr defTabSz="457200">
              <a:lnSpc>
                <a:spcPct val="100000"/>
              </a:lnSpc>
              <a:spcBef>
                <a:spcPts val="300"/>
              </a:spcBef>
              <a:spcAft>
                <a:spcPts val="99"/>
              </a:spcAft>
            </a:pP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  Groups the graph into topics, and writes a report on each. Global Search reads the reports rather than walking the graph.</a:t>
            </a:r>
            <a:endParaRPr lang="en-US" sz="1300" b="0" u="none" strike="noStrike">
              <a:solidFill>
                <a:srgbClr val="000000"/>
              </a:solidFill>
              <a:effectLst/>
              <a:uFillTx/>
              <a:latin typeface="Arial"/>
            </a:endParaRPr>
          </a:p>
          <a:p>
            <a:pPr marL="457200" defTabSz="457200">
              <a:lnSpc>
                <a:spcPct val="100000"/>
              </a:lnSpc>
              <a:spcAft>
                <a:spcPts val="400"/>
              </a:spcAft>
            </a:pPr>
            <a:r>
              <a:rPr lang="en-US" sz="1300" b="0" i="1" u="none" strike="noStrike">
                <a:solidFill>
                  <a:srgbClr val="4A5158"/>
                </a:solidFill>
                <a:effectLst/>
                <a:uFillTx/>
                <a:latin typeface="Georgia"/>
                <a:ea typeface="DejaVu Sans"/>
              </a:rPr>
              <a:t>	</a:t>
            </a:r>
            <a:r>
              <a:rPr lang="en-US" sz="1300" b="0" i="1" u="none" strike="noStrike">
                <a:solidFill>
                  <a:srgbClr val="4A5158"/>
                </a:solidFill>
                <a:effectLst/>
                <a:uFillTx/>
                <a:latin typeface="Georgia"/>
                <a:ea typeface="DejaVu Sans"/>
              </a:rPr>
              <a:t>It can describe a whole collection, not just find a passage in it.</a:t>
            </a:r>
            <a:endParaRPr lang="en-US" sz="1300" b="0" u="none" strike="noStrike">
              <a:solidFill>
                <a:srgbClr val="000000"/>
              </a:solidFill>
              <a:effectLst/>
              <a:uFillTx/>
              <a:latin typeface="Arial"/>
            </a:endParaRPr>
          </a:p>
          <a:p>
            <a:pPr defTabSz="457200">
              <a:lnSpc>
                <a:spcPct val="100000"/>
              </a:lnSpc>
              <a:spcBef>
                <a:spcPts val="300"/>
              </a:spcBef>
              <a:spcAft>
                <a:spcPts val="99"/>
              </a:spcAft>
            </a:pPr>
            <a:endParaRPr lang="en-US" sz="1300" b="0" u="none" strike="noStrike">
              <a:solidFill>
                <a:srgbClr val="000000"/>
              </a:solidFill>
              <a:effectLst/>
              <a:uFillTx/>
              <a:latin typeface="Arial"/>
            </a:endParaRPr>
          </a:p>
          <a:p>
            <a:pPr defTabSz="457200">
              <a:lnSpc>
                <a:spcPct val="100000"/>
              </a:lnSpc>
              <a:spcBef>
                <a:spcPts val="300"/>
              </a:spcBef>
              <a:spcAft>
                <a:spcPts val="99"/>
              </a:spcAft>
            </a:pP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  Suits consistently-named material — documentation, reports, structured filings. (inferred; their stated target is broader)</a:t>
            </a:r>
            <a:endParaRPr lang="en-US" sz="1300" b="0" u="none" strike="noStrike">
              <a:solidFill>
                <a:srgbClr val="000000"/>
              </a:solidFill>
              <a:effectLst/>
              <a:uFillTx/>
              <a:latin typeface="Arial"/>
            </a:endParaRPr>
          </a:p>
          <a:p>
            <a:pPr marL="457200" defTabSz="457200">
              <a:lnSpc>
                <a:spcPct val="100000"/>
              </a:lnSpc>
              <a:spcAft>
                <a:spcPts val="400"/>
              </a:spcAft>
            </a:pPr>
            <a:r>
              <a:rPr lang="en-US" sz="1300" b="0" i="1" u="none" strike="noStrike">
                <a:solidFill>
                  <a:srgbClr val="4A5158"/>
                </a:solidFill>
                <a:effectLst/>
                <a:uFillTx/>
                <a:latin typeface="Georgia"/>
                <a:ea typeface="DejaVu Sans"/>
              </a:rPr>
              <a:t>	</a:t>
            </a:r>
            <a:r>
              <a:rPr lang="en-US" sz="1300" b="0" i="1" u="none" strike="noStrike">
                <a:solidFill>
                  <a:srgbClr val="4A5158"/>
                </a:solidFill>
                <a:effectLst/>
                <a:uFillTx/>
                <a:latin typeface="Georgia"/>
                <a:ea typeface="DejaVu Sans"/>
              </a:rPr>
              <a:t>Most business content is written this way.</a:t>
            </a:r>
            <a:endParaRPr lang="en-US" sz="1300" b="0" u="none" strike="noStrike">
              <a:solidFill>
                <a:srgbClr val="000000"/>
              </a:solidFill>
              <a:effectLst/>
              <a:uFillTx/>
              <a:latin typeface="Arial"/>
            </a:endParaRPr>
          </a:p>
          <a:p>
            <a:pPr marL="457200" defTabSz="457200">
              <a:lnSpc>
                <a:spcPct val="100000"/>
              </a:lnSpc>
              <a:spcAft>
                <a:spcPts val="400"/>
              </a:spcAft>
            </a:pPr>
            <a:endParaRPr lang="en-US" sz="1300" b="0" u="none" strike="noStrike">
              <a:solidFill>
                <a:srgbClr val="000000"/>
              </a:solidFill>
              <a:effectLst/>
              <a:uFillTx/>
              <a:latin typeface="Arial"/>
            </a:endParaRPr>
          </a:p>
          <a:p>
            <a:pPr defTabSz="457200">
              <a:lnSpc>
                <a:spcPct val="100000"/>
              </a:lnSpc>
              <a:spcBef>
                <a:spcPts val="1483"/>
              </a:spcBef>
              <a:spcAft>
                <a:spcPts val="485"/>
              </a:spcAft>
            </a:pPr>
            <a:r>
              <a:rPr lang="en-US" sz="1300" b="1" u="none" strike="noStrike">
                <a:solidFill>
                  <a:srgbClr val="4A5158"/>
                </a:solidFill>
                <a:effectLst/>
                <a:uFillTx/>
                <a:latin typeface="Helvetica Neue"/>
                <a:ea typeface="DejaVu Sans"/>
              </a:rPr>
              <a:t>WHERE MINE MIGHT COMPLEMENT</a:t>
            </a:r>
            <a:endParaRPr lang="en-US" sz="1300" b="0" u="none" strike="noStrike">
              <a:solidFill>
                <a:srgbClr val="000000"/>
              </a:solidFill>
              <a:effectLst/>
              <a:uFillTx/>
              <a:latin typeface="Arial"/>
            </a:endParaRPr>
          </a:p>
          <a:p>
            <a:pPr defTabSz="457200">
              <a:lnSpc>
                <a:spcPct val="100000"/>
              </a:lnSpc>
              <a:spcBef>
                <a:spcPts val="300"/>
              </a:spcBef>
              <a:spcAft>
                <a:spcPts val="99"/>
              </a:spcAft>
            </a:pP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  Court documents name people loosely: RECAREY, JOSEPH · Det. Recarey · Mr. Recarey — one man, one docket. </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Entity Resolution of loosely named people / concepts: </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	</a:t>
            </a:r>
            <a:r>
              <a:rPr lang="en-US" sz="1300" b="0" u="none" strike="noStrike">
                <a:solidFill>
                  <a:srgbClr val="14171B"/>
                </a:solidFill>
                <a:effectLst/>
                <a:uFillTx/>
                <a:latin typeface="Helvetica Neue"/>
                <a:ea typeface="DejaVu Sans"/>
              </a:rPr>
              <a:t>Resolving 19,009 mentions into 2,014 people took 19.8 hours, the most expensive  stage in the build.  Used hybrid Jaro-Winkler + LLM</a:t>
            </a:r>
            <a:endParaRPr lang="en-US" sz="1300" b="0" u="none" strike="noStrike">
              <a:solidFill>
                <a:srgbClr val="000000"/>
              </a:solidFill>
              <a:effectLst/>
              <a:uFillTx/>
              <a:latin typeface="Arial"/>
            </a:endParaRPr>
          </a:p>
          <a:p>
            <a:pPr marL="457200" defTabSz="457200">
              <a:lnSpc>
                <a:spcPct val="100000"/>
              </a:lnSpc>
              <a:spcAft>
                <a:spcPts val="400"/>
              </a:spcAft>
            </a:pPr>
            <a:r>
              <a:rPr lang="en-US" sz="1300" b="0" i="1" u="none" strike="noStrike">
                <a:solidFill>
                  <a:srgbClr val="4A5158"/>
                </a:solidFill>
                <a:effectLst/>
                <a:uFillTx/>
                <a:latin typeface="Georgia"/>
                <a:ea typeface="DejaVu Sans"/>
              </a:rPr>
              <a:t>	</a:t>
            </a:r>
            <a:r>
              <a:rPr lang="en-US" sz="1300" b="0" i="1" u="none" strike="noStrike">
                <a:solidFill>
                  <a:srgbClr val="4A5158"/>
                </a:solidFill>
                <a:effectLst/>
                <a:uFillTx/>
                <a:latin typeface="Georgia"/>
                <a:ea typeface="DejaVu Sans"/>
              </a:rPr>
              <a:t>Documents which  name things consistently do not need this step.</a:t>
            </a:r>
            <a:endParaRPr lang="en-US" sz="1300" b="0" u="none" strike="noStrike">
              <a:solidFill>
                <a:srgbClr val="000000"/>
              </a:solidFill>
              <a:effectLst/>
              <a:uFillTx/>
              <a:latin typeface="Arial"/>
            </a:endParaRPr>
          </a:p>
          <a:p>
            <a:pPr defTabSz="457200">
              <a:lnSpc>
                <a:spcPct val="100000"/>
              </a:lnSpc>
              <a:spcBef>
                <a:spcPts val="700"/>
              </a:spcBef>
              <a:spcAft>
                <a:spcPts val="400"/>
              </a:spcAft>
            </a:pP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0" u="none" strike="noStrike">
                <a:solidFill>
                  <a:srgbClr val="14171B"/>
                </a:solidFill>
                <a:effectLst/>
                <a:uFillTx/>
                <a:latin typeface="Helvetica Neue"/>
                <a:ea typeface="DejaVu Sans"/>
              </a:rPr>
              <a:t>190 unsealed filings from a single civil docket, public record. Every model ran locally on air-gapped machine; nothing was sent to an outside service.</a:t>
            </a:r>
            <a:endParaRPr lang="en-US" sz="1300" b="0" u="none" strike="noStrike">
              <a:solidFill>
                <a:srgbClr val="000000"/>
              </a:solidFill>
              <a:effectLst/>
              <a:uFillTx/>
              <a:latin typeface="Arial"/>
            </a:endParaRPr>
          </a:p>
          <a:p>
            <a:pPr defTabSz="457200">
              <a:lnSpc>
                <a:spcPct val="100000"/>
              </a:lnSpc>
              <a:spcBef>
                <a:spcPts val="700"/>
              </a:spcBef>
              <a:spcAft>
                <a:spcPts val="400"/>
              </a:spcAft>
            </a:pP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47"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05</a:t>
            </a:r>
            <a:endParaRPr lang="en-US" sz="900" b="0" u="none" strike="noStrike">
              <a:solidFill>
                <a:srgbClr val="000000"/>
              </a:solidFill>
              <a:effectLst/>
              <a:uFillTx/>
              <a:latin typeface="Arial"/>
            </a:endParaRPr>
          </a:p>
        </p:txBody>
      </p:sp>
      <p:sp>
        <p:nvSpPr>
          <p:cNvPr id="48"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THE LANDSCAPE · COMPARISON</a:t>
            </a:r>
            <a:endParaRPr lang="en-US" sz="900" b="0" u="none" strike="noStrike">
              <a:solidFill>
                <a:srgbClr val="000000"/>
              </a:solidFill>
              <a:effectLst/>
              <a:uFillTx/>
              <a:latin typeface="Arial"/>
            </a:endParaRPr>
          </a:p>
        </p:txBody>
      </p:sp>
      <p:sp>
        <p:nvSpPr>
          <p:cNvPr id="49"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Solutions comparison at a glance</a:t>
            </a:r>
            <a:endParaRPr lang="en-US" sz="2600" b="0" u="none" strike="noStrike">
              <a:solidFill>
                <a:srgbClr val="000000"/>
              </a:solidFill>
              <a:effectLst/>
              <a:uFillTx/>
              <a:latin typeface="Arial"/>
            </a:endParaRPr>
          </a:p>
        </p:txBody>
      </p:sp>
      <p:sp>
        <p:nvSpPr>
          <p:cNvPr id="50"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graphicFrame>
        <p:nvGraphicFramePr>
          <p:cNvPr id="51" name="Table 5"/>
          <p:cNvGraphicFramePr/>
          <p:nvPr/>
        </p:nvGraphicFramePr>
        <p:xfrm>
          <a:off x="567000" y="1600200"/>
          <a:ext cx="11056680" cy="2350080"/>
        </p:xfrm>
        <a:graphic>
          <a:graphicData uri="http://schemas.openxmlformats.org/drawingml/2006/table">
            <a:tbl>
              <a:tblPr/>
              <a:tblGrid>
                <a:gridCol w="3685680"/>
                <a:gridCol w="3685680"/>
                <a:gridCol w="3685680"/>
              </a:tblGrid>
              <a:tr h="268560">
                <a:tc>
                  <a:txBody>
                    <a:bodyPr lIns="63720" tIns="27360" rIns="63720" bIns="27360" anchor="t">
                      <a:noAutofit/>
                    </a:bodyPr>
                    <a:p>
                      <a:pPr defTabSz="457200">
                        <a:lnSpc>
                          <a:spcPct val="100000"/>
                        </a:lnSpc>
                      </a:pPr>
                      <a:r>
                        <a:rPr lang="en-US" sz="1400" b="1" u="none" strike="noStrike">
                          <a:solidFill>
                            <a:srgbClr val="4A5158"/>
                          </a:solidFill>
                          <a:effectLst/>
                          <a:uFillTx/>
                          <a:latin typeface="Helvetica Neue"/>
                        </a:rPr>
                        <a:t>Alternative</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c>
                  <a:txBody>
                    <a:bodyPr lIns="63720" tIns="27360" rIns="63720" bIns="27360" anchor="t">
                      <a:noAutofit/>
                    </a:bodyPr>
                    <a:p>
                      <a:pPr defTabSz="457200">
                        <a:lnSpc>
                          <a:spcPct val="100000"/>
                        </a:lnSpc>
                      </a:pPr>
                      <a:r>
                        <a:rPr lang="en-US" sz="1400" b="1" u="none" strike="noStrike">
                          <a:solidFill>
                            <a:srgbClr val="4A5158"/>
                          </a:solidFill>
                          <a:effectLst/>
                          <a:uFillTx/>
                          <a:latin typeface="Helvetica Neue"/>
                        </a:rPr>
                        <a:t>Its appeal</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c>
                  <a:txBody>
                    <a:bodyPr lIns="63720" tIns="27360" rIns="63720" bIns="27360" anchor="t">
                      <a:noAutofit/>
                    </a:bodyPr>
                    <a:p>
                      <a:pPr defTabSz="457200">
                        <a:lnSpc>
                          <a:spcPct val="100000"/>
                        </a:lnSpc>
                      </a:pPr>
                      <a:r>
                        <a:rPr lang="en-US" sz="1400" b="1" u="none" strike="noStrike">
                          <a:solidFill>
                            <a:srgbClr val="4A5158"/>
                          </a:solidFill>
                          <a:effectLst/>
                          <a:uFillTx/>
                          <a:latin typeface="Helvetica Neue"/>
                        </a:rPr>
                        <a:t>Where it stops helping</a:t>
                      </a:r>
                      <a:endParaRPr lang="en-US" sz="14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r>
              <a:tr h="451800">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Vector DB alone</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Simplest thing that works</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No structure. It cannot answer "both X and Y", and it cannot count.</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650160">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Neo4j + LangChain</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Mature engine, large hiring pool</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You assemble the RAG layer yourself. Vectors live in a second database, and that opens up the chances of discrepancies and problems.</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253440">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Microsoft GraphRAG</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spcBef>
                          <a:spcPts val="1191"/>
                        </a:spcBef>
                        <a:spcAft>
                          <a:spcPts val="992"/>
                        </a:spcAft>
                      </a:pPr>
                      <a:r>
                        <a:rPr lang="en-US" sz="1300" b="0" u="none" strike="noStrike">
                          <a:solidFill>
                            <a:srgbClr val="14171B"/>
                          </a:solidFill>
                          <a:effectLst/>
                          <a:uFillTx/>
                          <a:latin typeface="Helvetica Neue"/>
                        </a:rPr>
                        <a:t>Among the first to publish such work (July 2024)</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300" b="0" u="none" strike="noStrike">
                          <a:solidFill>
                            <a:srgbClr val="14171B"/>
                          </a:solidFill>
                          <a:effectLst/>
                          <a:uFillTx/>
                          <a:latin typeface="Helvetica Neue"/>
                        </a:rPr>
                        <a:t>A library, not a service. You operate all of it.</a:t>
                      </a:r>
                      <a:endParaRPr lang="en-US" sz="1300" b="0" u="none" strike="noStrike">
                        <a:solidFill>
                          <a:srgbClr val="000000"/>
                        </a:solidFill>
                        <a:effectLst/>
                        <a:uFillTx/>
                        <a:latin typeface="Arial"/>
                      </a:endParaRPr>
                    </a:p>
                    <a:p>
                      <a:pPr defTabSz="457200">
                        <a:lnSpc>
                          <a:spcPct val="100000"/>
                        </a:lnSpc>
                      </a:pPr>
                      <a:r>
                        <a:rPr lang="en-US" sz="1300" b="0" u="none" strike="noStrike">
                          <a:solidFill>
                            <a:srgbClr val="14171B"/>
                          </a:solidFill>
                          <a:effectLst/>
                          <a:uFillTx/>
                          <a:latin typeface="Helvetica Neue"/>
                        </a:rPr>
                        <a:t>https://microsoft.github.io/graphrag/#get-started-with-graphrag</a:t>
                      </a:r>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329400">
                <a:tc>
                  <a:txBody>
                    <a:bodyPr lIns="63720" tIns="27360" rIns="63720" bIns="27360" anchor="t">
                      <a:noAutofit/>
                    </a:bodyPr>
                    <a:p>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endParaRPr lang="en-US" sz="13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bl>
          </a:graphicData>
        </a:graphic>
      </p:graphicFrame>
      <p:sp>
        <p:nvSpPr>
          <p:cNvPr id="52" name="TextBox 6"/>
          <p:cNvSpPr/>
          <p:nvPr/>
        </p:nvSpPr>
        <p:spPr>
          <a:xfrm>
            <a:off x="459000" y="4046400"/>
            <a:ext cx="11057040" cy="3963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300" b="0" u="none" strike="noStrike">
                <a:solidFill>
                  <a:srgbClr val="A6382C"/>
                </a:solidFill>
                <a:effectLst/>
                <a:uFillTx/>
                <a:latin typeface="Helvetica Neue"/>
                <a:ea typeface="DejaVu Sans"/>
              </a:rPr>
              <a:t>I haven't benchmarked ArangoDB against Neo4j or Neptune. ArangoDB is written in C++ rather than Java, so there are no garbage-collection pauses and the memory floor is lower. My 30–91 ms graph queries are consistent with that. They are not proof of it.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53"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07</a:t>
            </a:r>
            <a:endParaRPr lang="en-US" sz="900" b="0" u="none" strike="noStrike">
              <a:solidFill>
                <a:srgbClr val="000000"/>
              </a:solidFill>
              <a:effectLst/>
              <a:uFillTx/>
              <a:latin typeface="Arial"/>
            </a:endParaRPr>
          </a:p>
        </p:txBody>
      </p:sp>
      <p:sp>
        <p:nvSpPr>
          <p:cNvPr id="54"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THE SOLUTION · LIVE</a:t>
            </a:r>
            <a:endParaRPr lang="en-US" sz="900" b="0" u="none" strike="noStrike">
              <a:solidFill>
                <a:srgbClr val="000000"/>
              </a:solidFill>
              <a:effectLst/>
              <a:uFillTx/>
              <a:latin typeface="Arial"/>
            </a:endParaRPr>
          </a:p>
        </p:txBody>
      </p:sp>
      <p:sp>
        <p:nvSpPr>
          <p:cNvPr id="55"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Demo</a:t>
            </a:r>
            <a:endParaRPr lang="en-US" sz="2600" b="0" u="none" strike="noStrike">
              <a:solidFill>
                <a:srgbClr val="000000"/>
              </a:solidFill>
              <a:effectLst/>
              <a:uFillTx/>
              <a:latin typeface="Arial"/>
            </a:endParaRPr>
          </a:p>
        </p:txBody>
      </p:sp>
      <p:sp>
        <p:nvSpPr>
          <p:cNvPr id="56"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57" name="TextBox 5"/>
          <p:cNvSpPr/>
          <p:nvPr/>
        </p:nvSpPr>
        <p:spPr>
          <a:xfrm>
            <a:off x="567000" y="4624200"/>
            <a:ext cx="11057040" cy="15289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300"/>
              </a:spcAft>
            </a:pPr>
            <a:r>
              <a:rPr lang="en-US" sz="1200" b="0" u="none" strike="noStrike">
                <a:solidFill>
                  <a:srgbClr val="14171B"/>
                </a:solidFill>
                <a:effectLst/>
                <a:uFillTx/>
                <a:latin typeface="Helvetica Neue"/>
                <a:ea typeface="DejaVu Sans"/>
              </a:rPr>
              <a:t>01 A question about a person — watch the graph path. 1,770 passages reachable, eight returned.</a:t>
            </a:r>
            <a:endParaRPr lang="en-US" sz="1200" b="0" u="none" strike="noStrike">
              <a:solidFill>
                <a:srgbClr val="000000"/>
              </a:solidFill>
              <a:effectLst/>
              <a:uFillTx/>
              <a:latin typeface="Arial"/>
            </a:endParaRPr>
          </a:p>
          <a:p>
            <a:pPr defTabSz="457200">
              <a:lnSpc>
                <a:spcPct val="100000"/>
              </a:lnSpc>
              <a:spcBef>
                <a:spcPts val="499"/>
              </a:spcBef>
              <a:spcAft>
                <a:spcPts val="300"/>
              </a:spcAft>
            </a:pPr>
            <a:r>
              <a:rPr lang="en-US" sz="1200" b="0" u="none" strike="noStrike">
                <a:solidFill>
                  <a:srgbClr val="14171B"/>
                </a:solidFill>
                <a:effectLst/>
                <a:uFillTx/>
                <a:latin typeface="Helvetica Neue"/>
                <a:ea typeface="DejaVu Sans"/>
              </a:rPr>
              <a:t>02 A question the documents cannot answer — it reports that it found no name to start from, then declines: "no judicial opinions, only party filings."</a:t>
            </a:r>
            <a:endParaRPr lang="en-US" sz="1200" b="0" u="none" strike="noStrike">
              <a:solidFill>
                <a:srgbClr val="000000"/>
              </a:solidFill>
              <a:effectLst/>
              <a:uFillTx/>
              <a:latin typeface="Arial"/>
            </a:endParaRPr>
          </a:p>
          <a:p>
            <a:pPr defTabSz="457200">
              <a:lnSpc>
                <a:spcPct val="100000"/>
              </a:lnSpc>
              <a:spcBef>
                <a:spcPts val="499"/>
              </a:spcBef>
              <a:spcAft>
                <a:spcPts val="300"/>
              </a:spcAft>
            </a:pPr>
            <a:r>
              <a:rPr lang="en-US" sz="1200" b="0" u="none" strike="noStrike">
                <a:solidFill>
                  <a:srgbClr val="14171B"/>
                </a:solidFill>
                <a:effectLst/>
                <a:uFillTx/>
                <a:latin typeface="Helvetica Neue"/>
                <a:ea typeface="DejaVu Sans"/>
              </a:rPr>
              <a:t>03 The graph itself — Joseph Recarey's seven different spellings. Then Jane Doe 2, and fifteen matches the system refused to make.</a:t>
            </a:r>
            <a:endParaRPr lang="en-US" sz="1200" b="0" u="none" strike="noStrike">
              <a:solidFill>
                <a:srgbClr val="000000"/>
              </a:solidFill>
              <a:effectLst/>
              <a:uFillTx/>
              <a:latin typeface="Arial"/>
            </a:endParaRPr>
          </a:p>
          <a:p>
            <a:pPr defTabSz="457200">
              <a:lnSpc>
                <a:spcPct val="100000"/>
              </a:lnSpc>
              <a:spcBef>
                <a:spcPts val="499"/>
              </a:spcBef>
              <a:spcAft>
                <a:spcPts val="300"/>
              </a:spcAft>
            </a:pPr>
            <a:r>
              <a:rPr lang="en-US" sz="1200" b="0" u="none" strike="noStrike">
                <a:solidFill>
                  <a:srgbClr val="14171B"/>
                </a:solidFill>
                <a:effectLst/>
                <a:uFillTx/>
                <a:latin typeface="Helvetica Neue"/>
                <a:ea typeface="DejaVu Sans"/>
              </a:rPr>
              <a:t>04 AQL, ArangoDB's query language — the name family, the review queue, and how much more evidence a family reaches than a single spelling.</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i="1" u="none" strike="noStrike">
                <a:solidFill>
                  <a:srgbClr val="1E3A5F"/>
                </a:solidFill>
                <a:effectLst/>
                <a:uFillTx/>
                <a:latin typeface="Helvetica Neue"/>
                <a:ea typeface="DejaVu Sans"/>
              </a:rPr>
              <a:t>Watch the channel tags: vector#26 lexical#7 graph#11 means three independent methods each picked the same passage. When they agree, that is the strongest signal the system produces.</a:t>
            </a:r>
            <a:endParaRPr lang="en-US" sz="1200" b="0" u="none" strike="noStrike">
              <a:solidFill>
                <a:srgbClr val="000000"/>
              </a:solidFill>
              <a:effectLst/>
              <a:uFillTx/>
              <a:latin typeface="Arial"/>
            </a:endParaRPr>
          </a:p>
        </p:txBody>
      </p:sp>
      <p:sp>
        <p:nvSpPr>
          <p:cNvPr id="58" name="TextBox 12"/>
          <p:cNvSpPr/>
          <p:nvPr/>
        </p:nvSpPr>
        <p:spPr>
          <a:xfrm>
            <a:off x="567360" y="1704240"/>
            <a:ext cx="11057040" cy="23695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A Graph RAG system over 190 unsealed federal court filings. Built on ArangoDB, measured earnestly, and brutally honest about where it falls short.</a:t>
            </a:r>
            <a:endParaRPr lang="en-US" sz="14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3,338   </a:t>
            </a:r>
            <a:r>
              <a:rPr lang="en-US" sz="1000" b="0" u="none" strike="noStrike">
                <a:solidFill>
                  <a:srgbClr val="838B93"/>
                </a:solidFill>
                <a:effectLst/>
                <a:uFillTx/>
                <a:latin typeface="Helvetica Neue"/>
                <a:ea typeface="DejaVu Sans"/>
              </a:rPr>
              <a:t>PASSAGES</a:t>
            </a:r>
            <a:endParaRPr lang="en-US" sz="10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19,009   </a:t>
            </a:r>
            <a:r>
              <a:rPr lang="en-US" sz="1000" b="0" u="none" strike="noStrike">
                <a:solidFill>
                  <a:srgbClr val="838B93"/>
                </a:solidFill>
                <a:effectLst/>
                <a:uFillTx/>
                <a:latin typeface="Helvetica Neue"/>
                <a:ea typeface="DejaVu Sans"/>
              </a:rPr>
              <a:t>MENTIONS</a:t>
            </a:r>
            <a:endParaRPr lang="en-US" sz="10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2,014   </a:t>
            </a:r>
            <a:r>
              <a:rPr lang="en-US" sz="1000" b="0" u="none" strike="noStrike">
                <a:solidFill>
                  <a:srgbClr val="838B93"/>
                </a:solidFill>
                <a:effectLst/>
                <a:uFillTx/>
                <a:latin typeface="Helvetica Neue"/>
                <a:ea typeface="DejaVu Sans"/>
              </a:rPr>
              <a:t>PEOPLE, PLACES, ORGS</a:t>
            </a:r>
            <a:endParaRPr lang="en-US" sz="10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488   </a:t>
            </a:r>
            <a:r>
              <a:rPr lang="en-US" sz="1000" b="0" u="none" strike="noStrike">
                <a:solidFill>
                  <a:srgbClr val="838B93"/>
                </a:solidFill>
                <a:effectLst/>
                <a:uFillTx/>
                <a:latin typeface="Helvetica Neue"/>
                <a:ea typeface="DejaVu Sans"/>
              </a:rPr>
              <a:t>SAME-PERSON LINKS</a:t>
            </a:r>
            <a:endParaRPr lang="en-US" sz="1000" b="0" u="none" strike="noStrike">
              <a:solidFill>
                <a:srgbClr val="000000"/>
              </a:solidFill>
              <a:effectLst/>
              <a:uFillTx/>
              <a:latin typeface="Arial"/>
            </a:endParaRPr>
          </a:p>
          <a:p>
            <a:pPr defTabSz="457200">
              <a:lnSpc>
                <a:spcPct val="100000"/>
              </a:lnSpc>
              <a:spcBef>
                <a:spcPts val="1001"/>
              </a:spcBef>
              <a:spcAft>
                <a:spcPts val="400"/>
              </a:spcAft>
            </a:pPr>
            <a:r>
              <a:rPr lang="en-US" sz="900" b="0" u="none" strike="noStrike">
                <a:solidFill>
                  <a:srgbClr val="838B93"/>
                </a:solidFill>
                <a:effectLst/>
                <a:uFillTx/>
                <a:latin typeface="Menlo"/>
                <a:ea typeface="DejaVu Sans"/>
              </a:rPr>
              <a:t>Background · Arango AI Suite · Live demo</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59"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08</a:t>
            </a:r>
            <a:endParaRPr lang="en-US" sz="900" b="0" u="none" strike="noStrike">
              <a:solidFill>
                <a:srgbClr val="000000"/>
              </a:solidFill>
              <a:effectLst/>
              <a:uFillTx/>
              <a:latin typeface="Arial"/>
            </a:endParaRPr>
          </a:p>
        </p:txBody>
      </p:sp>
      <p:sp>
        <p:nvSpPr>
          <p:cNvPr id="60"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THE SOLUTION · PRODUCTION</a:t>
            </a:r>
            <a:endParaRPr lang="en-US" sz="900" b="0" u="none" strike="noStrike">
              <a:solidFill>
                <a:srgbClr val="000000"/>
              </a:solidFill>
              <a:effectLst/>
              <a:uFillTx/>
              <a:latin typeface="Arial"/>
            </a:endParaRPr>
          </a:p>
        </p:txBody>
      </p:sp>
      <p:sp>
        <p:nvSpPr>
          <p:cNvPr id="61"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What I'd change to run this at scale</a:t>
            </a:r>
            <a:endParaRPr lang="en-US" sz="2600" b="0" u="none" strike="noStrike">
              <a:solidFill>
                <a:srgbClr val="000000"/>
              </a:solidFill>
              <a:effectLst/>
              <a:uFillTx/>
              <a:latin typeface="Arial"/>
            </a:endParaRPr>
          </a:p>
        </p:txBody>
      </p:sp>
      <p:sp>
        <p:nvSpPr>
          <p:cNvPr id="62"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63" name="TextBox 5"/>
          <p:cNvSpPr/>
          <p:nvPr/>
        </p:nvSpPr>
        <p:spPr>
          <a:xfrm>
            <a:off x="567000" y="1600200"/>
            <a:ext cx="11057040" cy="39736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What I built proves the idea. It is not what I would deploy.</a:t>
            </a:r>
            <a:endParaRPr lang="en-US" sz="1400" b="0" u="none" strike="noStrike">
              <a:solidFill>
                <a:srgbClr val="000000"/>
              </a:solidFill>
              <a:effectLst/>
              <a:uFillTx/>
              <a:latin typeface="Arial"/>
            </a:endParaRPr>
          </a:p>
          <a:p>
            <a:pPr defTabSz="457200">
              <a:lnSpc>
                <a:spcPct val="100000"/>
              </a:lnSpc>
              <a:spcBef>
                <a:spcPts val="300"/>
              </a:spcBef>
              <a:spcAft>
                <a:spcPts val="99"/>
              </a:spcAft>
            </a:pPr>
            <a:r>
              <a:rPr lang="en-US" sz="1400" b="0" u="none" strike="noStrike">
                <a:solidFill>
                  <a:srgbClr val="14171B"/>
                </a:solidFill>
                <a:effectLst/>
                <a:uFillTx/>
                <a:latin typeface="Helvetica Neue"/>
                <a:ea typeface="DejaVu Sans"/>
              </a:rPr>
              <a:t>•  Delete the second database. The graph is in ArangoDB and the text and vectors are in LanceDB. ArangoDB 3.12 has a native vector index, so the two collapse into one.</a:t>
            </a:r>
            <a:endParaRPr lang="en-US" sz="1400" b="0" u="none" strike="noStrike">
              <a:solidFill>
                <a:srgbClr val="000000"/>
              </a:solidFill>
              <a:effectLst/>
              <a:uFillTx/>
              <a:latin typeface="Arial"/>
            </a:endParaRPr>
          </a:p>
          <a:p>
            <a:pPr defTabSz="457200">
              <a:lnSpc>
                <a:spcPct val="100000"/>
              </a:lnSpc>
              <a:spcBef>
                <a:spcPts val="300"/>
              </a:spcBef>
              <a:spcAft>
                <a:spcPts val="99"/>
              </a:spcAft>
            </a:pPr>
            <a:endParaRPr lang="en-US" sz="1400" b="0" u="none" strike="noStrike">
              <a:solidFill>
                <a:srgbClr val="000000"/>
              </a:solidFill>
              <a:effectLst/>
              <a:uFillTx/>
              <a:latin typeface="Arial"/>
            </a:endParaRPr>
          </a:p>
          <a:p>
            <a:pPr defTabSz="457200">
              <a:lnSpc>
                <a:spcPct val="100000"/>
              </a:lnSpc>
              <a:spcBef>
                <a:spcPts val="300"/>
              </a:spcBef>
              <a:spcAft>
                <a:spcPts val="99"/>
              </a:spcAft>
            </a:pPr>
            <a:r>
              <a:rPr lang="en-US" sz="1400" b="0" u="none" strike="noStrike">
                <a:solidFill>
                  <a:srgbClr val="14171B"/>
                </a:solidFill>
                <a:effectLst/>
                <a:uFillTx/>
                <a:latin typeface="Helvetica Neue"/>
                <a:ea typeface="DejaVu Sans"/>
              </a:rPr>
              <a:t>•  Shard the graph by legal matter. SmartGraph split on an attribute -&gt; put every vertex of one matter on the same shard and a traversal never crosses the network.</a:t>
            </a:r>
            <a:endParaRPr lang="en-US" sz="1400" b="0" u="none" strike="noStrike">
              <a:solidFill>
                <a:srgbClr val="000000"/>
              </a:solidFill>
              <a:effectLst/>
              <a:uFillTx/>
              <a:latin typeface="Arial"/>
            </a:endParaRPr>
          </a:p>
          <a:p>
            <a:pPr defTabSz="457200">
              <a:lnSpc>
                <a:spcPct val="100000"/>
              </a:lnSpc>
              <a:spcBef>
                <a:spcPts val="300"/>
              </a:spcBef>
              <a:spcAft>
                <a:spcPts val="99"/>
              </a:spcAft>
            </a:pPr>
            <a:endParaRPr lang="en-US" sz="1400" b="0" u="none" strike="noStrike">
              <a:solidFill>
                <a:srgbClr val="000000"/>
              </a:solidFill>
              <a:effectLst/>
              <a:uFillTx/>
              <a:latin typeface="Arial"/>
            </a:endParaRPr>
          </a:p>
          <a:p>
            <a:pPr defTabSz="457200">
              <a:lnSpc>
                <a:spcPct val="100000"/>
              </a:lnSpc>
              <a:spcBef>
                <a:spcPts val="300"/>
              </a:spcBef>
              <a:spcAft>
                <a:spcPts val="99"/>
              </a:spcAft>
            </a:pPr>
            <a:r>
              <a:rPr lang="en-US" sz="1400" b="0" u="none" strike="noStrike">
                <a:solidFill>
                  <a:srgbClr val="14171B"/>
                </a:solidFill>
                <a:effectLst/>
                <a:uFillTx/>
                <a:latin typeface="Helvetica Neue"/>
                <a:ea typeface="DejaVu Sans"/>
              </a:rPr>
              <a:t>•  Keep the entity index on every node as a satellite collection, because every single traversal touches it.</a:t>
            </a:r>
            <a:endParaRPr lang="en-US" sz="1400" b="0" u="none" strike="noStrike">
              <a:solidFill>
                <a:srgbClr val="000000"/>
              </a:solidFill>
              <a:effectLst/>
              <a:uFillTx/>
              <a:latin typeface="Arial"/>
            </a:endParaRPr>
          </a:p>
          <a:p>
            <a:pPr marL="457200" defTabSz="457200">
              <a:lnSpc>
                <a:spcPct val="100000"/>
              </a:lnSpc>
              <a:spcAft>
                <a:spcPts val="400"/>
              </a:spcAft>
            </a:pPr>
            <a:endParaRPr lang="en-US" sz="1400" b="0" u="none" strike="noStrike">
              <a:solidFill>
                <a:srgbClr val="000000"/>
              </a:solidFill>
              <a:effectLst/>
              <a:uFillTx/>
              <a:latin typeface="Arial"/>
            </a:endParaRPr>
          </a:p>
          <a:p>
            <a:pPr defTabSz="457200">
              <a:lnSpc>
                <a:spcPct val="100000"/>
              </a:lnSpc>
              <a:spcBef>
                <a:spcPts val="300"/>
              </a:spcBef>
              <a:spcAft>
                <a:spcPts val="99"/>
              </a:spcAft>
            </a:pPr>
            <a:r>
              <a:rPr lang="en-US" sz="1400" b="0" u="none" strike="noStrike">
                <a:solidFill>
                  <a:srgbClr val="14171B"/>
                </a:solidFill>
                <a:effectLst/>
                <a:uFillTx/>
                <a:latin typeface="Helvetica Neue"/>
                <a:ea typeface="DejaVu Sans"/>
              </a:rPr>
              <a:t>•  Budget and staff a human review step. 413 uncertain name matches are queued and nobody has looked at them. Better to miss a connection than invent a duplicate</a:t>
            </a:r>
            <a:endParaRPr lang="en-US" sz="1400" b="0" u="none" strike="noStrike">
              <a:solidFill>
                <a:srgbClr val="000000"/>
              </a:solidFill>
              <a:effectLst/>
              <a:uFillTx/>
              <a:latin typeface="Arial"/>
            </a:endParaRPr>
          </a:p>
          <a:p>
            <a:pPr defTabSz="457200">
              <a:lnSpc>
                <a:spcPct val="100000"/>
              </a:lnSpc>
              <a:spcBef>
                <a:spcPts val="300"/>
              </a:spcBef>
              <a:spcAft>
                <a:spcPts val="99"/>
              </a:spcAft>
            </a:pPr>
            <a:endParaRPr lang="en-US" sz="1400" b="0" u="none" strike="noStrike">
              <a:solidFill>
                <a:srgbClr val="000000"/>
              </a:solidFill>
              <a:effectLst/>
              <a:uFillTx/>
              <a:latin typeface="Arial"/>
            </a:endParaRPr>
          </a:p>
          <a:p>
            <a:pPr defTabSz="457200">
              <a:lnSpc>
                <a:spcPct val="100000"/>
              </a:lnSpc>
              <a:spcBef>
                <a:spcPts val="300"/>
              </a:spcBef>
              <a:spcAft>
                <a:spcPts val="99"/>
              </a:spcAft>
            </a:pPr>
            <a:r>
              <a:rPr lang="en-US" sz="1400" b="0" u="none" strike="noStrike">
                <a:solidFill>
                  <a:srgbClr val="14171B"/>
                </a:solidFill>
                <a:effectLst/>
                <a:uFillTx/>
                <a:latin typeface="Helvetica Neue"/>
                <a:ea typeface="DejaVu Sans"/>
              </a:rPr>
              <a:t>•  Unsolved: adding documents without rebuilding. Matching names across all 190 filings took 19 hours, and that cost grows with the number of mentions, not the number of documents.</a:t>
            </a:r>
            <a:endParaRPr lang="en-US" sz="1400" b="0" u="none" strike="noStrike">
              <a:solidFill>
                <a:srgbClr val="000000"/>
              </a:solidFill>
              <a:effectLst/>
              <a:uFillTx/>
              <a:latin typeface="Arial"/>
            </a:endParaRPr>
          </a:p>
          <a:p>
            <a:pPr marL="457200" defTabSz="457200">
              <a:lnSpc>
                <a:spcPct val="100000"/>
              </a:lnSpc>
              <a:spcAft>
                <a:spcPts val="400"/>
              </a:spcAft>
            </a:pPr>
            <a:r>
              <a:rPr lang="en-US" sz="1400" b="0" i="1" u="none" strike="noStrike">
                <a:solidFill>
                  <a:srgbClr val="4A5158"/>
                </a:solidFill>
                <a:effectLst/>
                <a:uFillTx/>
                <a:latin typeface="Georgia"/>
                <a:ea typeface="DejaVu Sans"/>
              </a:rPr>
              <a:t>Today, one new filing means redoing the whole graph. That is the hard problem, needs further research.</a:t>
            </a:r>
            <a:endParaRPr lang="en-US" sz="1400" b="0" u="none" strike="noStrike">
              <a:solidFill>
                <a:srgbClr val="000000"/>
              </a:solidFill>
              <a:effectLst/>
              <a:uFillTx/>
              <a:latin typeface="Arial"/>
            </a:endParaRPr>
          </a:p>
          <a:p>
            <a:pPr marL="457200" defTabSz="457200">
              <a:lnSpc>
                <a:spcPct val="100000"/>
              </a:lnSpc>
              <a:spcAft>
                <a:spcPts val="400"/>
              </a:spcAf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64"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Intentionally Blank</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65" name="TextBox 19"/>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Intentionally Blank</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66" name="TextBox 4"/>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09</a:t>
            </a:r>
            <a:endParaRPr lang="en-US" sz="900" b="0" u="none" strike="noStrike">
              <a:solidFill>
                <a:srgbClr val="000000"/>
              </a:solidFill>
              <a:effectLst/>
              <a:uFillTx/>
              <a:latin typeface="Arial"/>
            </a:endParaRPr>
          </a:p>
        </p:txBody>
      </p:sp>
      <p:sp>
        <p:nvSpPr>
          <p:cNvPr id="67" name="TextBox 8"/>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A6382C"/>
                </a:solidFill>
                <a:effectLst/>
                <a:uFillTx/>
                <a:latin typeface="Menlo"/>
                <a:ea typeface="DejaVu Sans"/>
              </a:rPr>
              <a:t>THE SOLUTION · CANDOUR</a:t>
            </a:r>
            <a:endParaRPr lang="en-US" sz="900" b="0" u="none" strike="noStrike">
              <a:solidFill>
                <a:srgbClr val="000000"/>
              </a:solidFill>
              <a:effectLst/>
              <a:uFillTx/>
              <a:latin typeface="Arial"/>
            </a:endParaRPr>
          </a:p>
        </p:txBody>
      </p:sp>
      <p:sp>
        <p:nvSpPr>
          <p:cNvPr id="68" name="TextBox 9"/>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Pitfalls learned along the way</a:t>
            </a:r>
            <a:endParaRPr lang="en-US" sz="2600" b="0" u="none" strike="noStrike">
              <a:solidFill>
                <a:srgbClr val="000000"/>
              </a:solidFill>
              <a:effectLst/>
              <a:uFillTx/>
              <a:latin typeface="Arial"/>
            </a:endParaRPr>
          </a:p>
        </p:txBody>
      </p:sp>
      <p:sp>
        <p:nvSpPr>
          <p:cNvPr id="69" name="Rectangle 1"/>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70" name="TextBox 10"/>
          <p:cNvSpPr/>
          <p:nvPr/>
        </p:nvSpPr>
        <p:spPr>
          <a:xfrm>
            <a:off x="567000" y="1600200"/>
            <a:ext cx="11057040" cy="51433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Each one taught me something I now carry into the next build and related projects.</a:t>
            </a:r>
            <a:endParaRPr lang="en-US" sz="14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1 · A LIBRARY DEFAULT COST 9.6% OF THE GRAPH</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The name-matching library (Jaro-Winkler) defaults to case-sensitive. In documents full of ALL-CAPS captions, that produced 38 separate "Mr. Barton" nodes.</a:t>
            </a:r>
            <a:endParaRPr lang="en-US" sz="1200" b="0" u="none" strike="noStrike">
              <a:solidFill>
                <a:srgbClr val="000000"/>
              </a:solidFill>
              <a:effectLst/>
              <a:uFillTx/>
              <a:latin typeface="Arial"/>
            </a:endParaRPr>
          </a:p>
          <a:p>
            <a:pPr defTabSz="457200">
              <a:lnSpc>
                <a:spcPct val="100000"/>
              </a:lnSpc>
              <a:spcBef>
                <a:spcPts val="201"/>
              </a:spcBef>
              <a:spcAft>
                <a:spcPts val="601"/>
              </a:spcAft>
            </a:pPr>
            <a:r>
              <a:rPr lang="en-US" sz="1100" b="0" u="none" strike="noStrike">
                <a:solidFill>
                  <a:srgbClr val="1E3A5F"/>
                </a:solidFill>
                <a:effectLst/>
                <a:uFillTx/>
                <a:latin typeface="Helvetica Neue"/>
                <a:ea typeface="DejaVu Sans"/>
              </a:rPr>
              <a:t>→  Fixed — compare both names in the same case, and sort the candidate list by score before cutting it to five. Then re-ran the pass over every document.</a:t>
            </a:r>
            <a:endParaRPr lang="en-US" sz="11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2 · TWO DIFFERENT MAXWELLS MERGED INTO ONE</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Ghislaine and her father Robert. Comparing two names at a time cannot tell a fuller version of one name from a different person entirely.</a:t>
            </a:r>
            <a:endParaRPr lang="en-US" sz="1200" b="0" u="none" strike="noStrike">
              <a:solidFill>
                <a:srgbClr val="000000"/>
              </a:solidFill>
              <a:effectLst/>
              <a:uFillTx/>
              <a:latin typeface="Arial"/>
            </a:endParaRPr>
          </a:p>
          <a:p>
            <a:pPr defTabSz="457200">
              <a:lnSpc>
                <a:spcPct val="100000"/>
              </a:lnSpc>
              <a:spcBef>
                <a:spcPts val="201"/>
              </a:spcBef>
              <a:spcAft>
                <a:spcPts val="601"/>
              </a:spcAft>
            </a:pPr>
            <a:r>
              <a:rPr lang="en-US" sz="1100" b="0" u="none" strike="noStrike">
                <a:solidFill>
                  <a:srgbClr val="1E3A5F"/>
                </a:solidFill>
                <a:effectLst/>
                <a:uFillTx/>
                <a:latin typeface="Helvetica Neue"/>
                <a:ea typeface="DejaVu Sans"/>
              </a:rPr>
              <a:t>→  Fixed — judge the whole family of names at once instead of pair by pair, using how often each appears, how widely across documents, and in what role. Anything still uncertain is flagged, not merged.</a:t>
            </a:r>
            <a:endParaRPr lang="en-US" sz="11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3 · THE MODEL NEVER SAW THE TOP OF ITS OWN INSTRUCTIONS</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Ollama silently cuts any prompt down to 4,096 tokens, without warning — and it cuts from the front. Mine were 4,235, so every test run lost the opening of its own system prompt, starting with "use only these sources".</a:t>
            </a:r>
            <a:endParaRPr lang="en-US" sz="1200" b="0" u="none" strike="noStrike">
              <a:solidFill>
                <a:srgbClr val="000000"/>
              </a:solidFill>
              <a:effectLst/>
              <a:uFillTx/>
              <a:latin typeface="Arial"/>
            </a:endParaRPr>
          </a:p>
          <a:p>
            <a:pPr defTabSz="457200">
              <a:lnSpc>
                <a:spcPct val="100000"/>
              </a:lnSpc>
              <a:spcBef>
                <a:spcPts val="201"/>
              </a:spcBef>
              <a:spcAft>
                <a:spcPts val="601"/>
              </a:spcAft>
            </a:pPr>
            <a:r>
              <a:rPr lang="en-US" sz="1100" b="0" u="none" strike="noStrike">
                <a:solidFill>
                  <a:srgbClr val="1E3A5F"/>
                </a:solidFill>
                <a:effectLst/>
                <a:uFillTx/>
                <a:latin typeface="Helvetica Neue"/>
                <a:ea typeface="DejaVu Sans"/>
              </a:rPr>
              <a:t>→  Fixed — set the context length explicitly to 8,192 in config rather than inheriting a default, and log the prompt length so the next cut is visible.</a:t>
            </a:r>
            <a:endParaRPr lang="en-US" sz="11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4 · BIGGER MODEL, WORSE RESULTS</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A 30-billion-parameter model of the mixture-of-experts kind scored 11/16. A plain 8-billion model scored 15/16, at the same speed.</a:t>
            </a:r>
            <a:endParaRPr lang="en-US" sz="1200" b="0" u="none" strike="noStrike">
              <a:solidFill>
                <a:srgbClr val="000000"/>
              </a:solidFill>
              <a:effectLst/>
              <a:uFillTx/>
              <a:latin typeface="Arial"/>
            </a:endParaRPr>
          </a:p>
          <a:p>
            <a:pPr defTabSz="457200">
              <a:lnSpc>
                <a:spcPct val="100000"/>
              </a:lnSpc>
              <a:spcBef>
                <a:spcPts val="201"/>
              </a:spcBef>
              <a:spcAft>
                <a:spcPts val="601"/>
              </a:spcAft>
            </a:pPr>
            <a:r>
              <a:rPr lang="en-US" sz="1100" b="0" u="none" strike="noStrike">
                <a:solidFill>
                  <a:srgbClr val="1E3A5F"/>
                </a:solidFill>
                <a:effectLst/>
                <a:uFillTx/>
                <a:latin typeface="Helvetica Neue"/>
                <a:ea typeface="DejaVu Sans"/>
              </a:rPr>
              <a:t>→  Settled — kept the smaller model, on the evidence. I also abandoned a prompt change that made both models worse, rather than trying to rescue it.</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i="1" u="none" strike="noStrike">
                <a:solidFill>
                  <a:srgbClr val="1E3A5F"/>
                </a:solidFill>
                <a:effectLst/>
                <a:uFillTx/>
                <a:latin typeface="Helvetica Neue"/>
                <a:ea typeface="DejaVu Sans"/>
              </a:rPr>
              <a:t>Every one was found by auditing real output — not by reading code, and not by a test. Every one is fixed and re-measured.</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i="1" u="none" strike="noStrike">
                <a:solidFill>
                  <a:srgbClr val="1E3A5F"/>
                </a:solidFill>
                <a:effectLst/>
                <a:uFillTx/>
                <a:latin typeface="Helvetica Neue"/>
                <a:ea typeface="DejaVu Sans"/>
              </a:rPr>
              <a:t>A human stayed in the middle of every step. Claude Code wrote most of the code. Every data structure, threshold and algorithm choice was argued out before it went in. Working the problem with the model rather than delegating it to the model is where the experience compounded.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71"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B1</a:t>
            </a:r>
            <a:endParaRPr lang="en-US" sz="900" b="0" u="none" strike="noStrike">
              <a:solidFill>
                <a:srgbClr val="000000"/>
              </a:solidFill>
              <a:effectLst/>
              <a:uFillTx/>
              <a:latin typeface="Arial"/>
            </a:endParaRPr>
          </a:p>
        </p:txBody>
      </p:sp>
      <p:sp>
        <p:nvSpPr>
          <p:cNvPr id="72"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BACKUP · RETRIEVAL</a:t>
            </a:r>
            <a:endParaRPr lang="en-US" sz="900" b="0" u="none" strike="noStrike">
              <a:solidFill>
                <a:srgbClr val="000000"/>
              </a:solidFill>
              <a:effectLst/>
              <a:uFillTx/>
              <a:latin typeface="Arial"/>
            </a:endParaRPr>
          </a:p>
        </p:txBody>
      </p:sp>
      <p:sp>
        <p:nvSpPr>
          <p:cNvPr id="73"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Four channels, fused by rank</a:t>
            </a:r>
            <a:endParaRPr lang="en-US" sz="2600" b="0" u="none" strike="noStrike">
              <a:solidFill>
                <a:srgbClr val="000000"/>
              </a:solidFill>
              <a:effectLst/>
              <a:uFillTx/>
              <a:latin typeface="Arial"/>
            </a:endParaRPr>
          </a:p>
        </p:txBody>
      </p:sp>
      <p:sp>
        <p:nvSpPr>
          <p:cNvPr id="74"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graphicFrame>
        <p:nvGraphicFramePr>
          <p:cNvPr id="75" name="Table 5"/>
          <p:cNvGraphicFramePr/>
          <p:nvPr/>
        </p:nvGraphicFramePr>
        <p:xfrm>
          <a:off x="567000" y="1600200"/>
          <a:ext cx="11056680" cy="2129760"/>
        </p:xfrm>
        <a:graphic>
          <a:graphicData uri="http://schemas.openxmlformats.org/drawingml/2006/table">
            <a:tbl>
              <a:tblPr/>
              <a:tblGrid>
                <a:gridCol w="3685680"/>
                <a:gridCol w="3685680"/>
                <a:gridCol w="3685680"/>
              </a:tblGrid>
              <a:tr h="264960">
                <a:tc>
                  <a:txBody>
                    <a:bodyPr lIns="63720" tIns="27360" rIns="63720" bIns="27360" anchor="t">
                      <a:noAutofit/>
                    </a:bodyPr>
                    <a:p>
                      <a:pPr defTabSz="457200">
                        <a:lnSpc>
                          <a:spcPct val="100000"/>
                        </a:lnSpc>
                      </a:pPr>
                      <a:r>
                        <a:rPr lang="en-US" sz="1000" b="1" u="none" strike="noStrike">
                          <a:solidFill>
                            <a:srgbClr val="4A5158"/>
                          </a:solidFill>
                          <a:effectLst/>
                          <a:uFillTx/>
                          <a:latin typeface="Helvetica Neue"/>
                        </a:rPr>
                        <a:t>Channel</a:t>
                      </a:r>
                      <a:endParaRPr lang="en-US" sz="10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c>
                  <a:txBody>
                    <a:bodyPr lIns="63720" tIns="27360" rIns="63720" bIns="27360" anchor="t">
                      <a:noAutofit/>
                    </a:bodyPr>
                    <a:p>
                      <a:pPr defTabSz="457200">
                        <a:lnSpc>
                          <a:spcPct val="100000"/>
                        </a:lnSpc>
                      </a:pPr>
                      <a:r>
                        <a:rPr lang="en-US" sz="1000" b="1" u="none" strike="noStrike">
                          <a:solidFill>
                            <a:srgbClr val="4A5158"/>
                          </a:solidFill>
                          <a:effectLst/>
                          <a:uFillTx/>
                          <a:latin typeface="Helvetica Neue"/>
                        </a:rPr>
                        <a:t>Mechanism</a:t>
                      </a:r>
                      <a:endParaRPr lang="en-US" sz="10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c>
                  <a:txBody>
                    <a:bodyPr lIns="63720" tIns="27360" rIns="63720" bIns="27360" anchor="t">
                      <a:noAutofit/>
                    </a:bodyPr>
                    <a:p>
                      <a:pPr defTabSz="457200">
                        <a:lnSpc>
                          <a:spcPct val="100000"/>
                        </a:lnSpc>
                      </a:pPr>
                      <a:r>
                        <a:rPr lang="en-US" sz="1000" b="1" u="none" strike="noStrike">
                          <a:solidFill>
                            <a:srgbClr val="4A5158"/>
                          </a:solidFill>
                          <a:effectLst/>
                          <a:uFillTx/>
                          <a:latin typeface="Helvetica Neue"/>
                        </a:rPr>
                        <a:t>The question that justified it</a:t>
                      </a:r>
                      <a:endParaRPr lang="en-US" sz="10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BF1"/>
                    </a:solidFill>
                  </a:tcPr>
                </a:tc>
              </a:tr>
              <a:tr h="466200">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vector</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Meaning-based similarity (cosine)</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One passage names him, and it ranks first by similarity</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466200">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density</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Documents with the most passages in the shortlist</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A 102-passage transcript: ranked 14th by its best passage, 2nd by density</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466200">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lexical</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Keyword search after the model widens the query (BM25)</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The word "obiter" appears nowhere; 35 passages say "held that"</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r h="466200">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graph</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Match a name, follow one link, collect its mentions</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c>
                  <a:txBody>
                    <a:bodyPr lIns="63720" tIns="27360" rIns="63720" bIns="27360" anchor="t">
                      <a:noAutofit/>
                    </a:bodyPr>
                    <a:p>
                      <a:pPr defTabSz="457200">
                        <a:lnSpc>
                          <a:spcPct val="100000"/>
                        </a:lnSpc>
                      </a:pPr>
                      <a:r>
                        <a:rPr lang="en-US" sz="1100" b="0" u="none" strike="noStrike">
                          <a:solidFill>
                            <a:srgbClr val="14171B"/>
                          </a:solidFill>
                          <a:effectLst/>
                          <a:uFillTx/>
                          <a:latin typeface="Helvetica Neue"/>
                        </a:rPr>
                        <a:t>"Both Maxwell and Epstein" — a single vector cannot express "both"</a:t>
                      </a:r>
                      <a:endParaRPr lang="en-US" sz="1100" b="0" u="none" strike="noStrike">
                        <a:solidFill>
                          <a:srgbClr val="000000"/>
                        </a:solidFill>
                        <a:effectLst/>
                        <a:uFillTx/>
                        <a:latin typeface="Arial"/>
                      </a:endParaRPr>
                    </a:p>
                  </a:txBody>
                  <a:tcPr anchor="t" marL="63720" marR="6372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BFAF8"/>
                    </a:solidFill>
                  </a:tcPr>
                </a:tc>
              </a:tr>
            </a:tbl>
          </a:graphicData>
        </a:graphic>
      </p:graphicFrame>
      <p:sp>
        <p:nvSpPr>
          <p:cNvPr id="76" name="TextBox 6"/>
          <p:cNvSpPr/>
          <p:nvPr/>
        </p:nvSpPr>
        <p:spPr>
          <a:xfrm>
            <a:off x="567000" y="3877200"/>
            <a:ext cx="11057040" cy="11332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1" u="none" strike="noStrike">
                <a:solidFill>
                  <a:srgbClr val="4A5158"/>
                </a:solidFill>
                <a:effectLst/>
                <a:uFillTx/>
                <a:latin typeface="Helvetica Neue"/>
                <a:ea typeface="DejaVu Sans"/>
              </a:rPr>
              <a:t>RANK FUSION (RRF)</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Σ 1/(60 + rank). It uses position only, so channels that score on completely different scales can be combined without anyone inventing weights.</a:t>
            </a:r>
            <a:endParaRPr lang="en-US" sz="12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WHY HALF THE SLOTS ARE RESERVED</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Half always go to plain similarity search. Treating all four channels equally once fixed one question and broke another in the same change.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77"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04</a:t>
            </a:r>
            <a:endParaRPr lang="en-US" sz="900" b="0" u="none" strike="noStrike">
              <a:solidFill>
                <a:srgbClr val="000000"/>
              </a:solidFill>
              <a:effectLst/>
              <a:uFillTx/>
              <a:latin typeface="Arial"/>
            </a:endParaRPr>
          </a:p>
        </p:txBody>
      </p:sp>
      <p:sp>
        <p:nvSpPr>
          <p:cNvPr id="78"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ARANGO AI SUITE · FIT</a:t>
            </a:r>
            <a:endParaRPr lang="en-US" sz="900" b="0" u="none" strike="noStrike">
              <a:solidFill>
                <a:srgbClr val="000000"/>
              </a:solidFill>
              <a:effectLst/>
              <a:uFillTx/>
              <a:latin typeface="Arial"/>
            </a:endParaRPr>
          </a:p>
        </p:txBody>
      </p:sp>
      <p:sp>
        <p:nvSpPr>
          <p:cNvPr id="79"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Ideal fit, and less than ideal fit</a:t>
            </a:r>
            <a:endParaRPr lang="en-US" sz="2600" b="0" u="none" strike="noStrike">
              <a:solidFill>
                <a:srgbClr val="000000"/>
              </a:solidFill>
              <a:effectLst/>
              <a:uFillTx/>
              <a:latin typeface="Arial"/>
            </a:endParaRPr>
          </a:p>
        </p:txBody>
      </p:sp>
      <p:sp>
        <p:nvSpPr>
          <p:cNvPr id="80"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81" name="TextBox 5"/>
          <p:cNvSpPr/>
          <p:nvPr/>
        </p:nvSpPr>
        <p:spPr>
          <a:xfrm>
            <a:off x="567000" y="1600200"/>
            <a:ext cx="11057040" cy="30081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1" u="none" strike="noStrike">
                <a:solidFill>
                  <a:srgbClr val="4A5158"/>
                </a:solidFill>
                <a:effectLst/>
                <a:uFillTx/>
                <a:latin typeface="Helvetica Neue"/>
                <a:ea typeface="DejaVu Sans"/>
              </a:rPr>
              <a:t>I</a:t>
            </a:r>
            <a:r>
              <a:rPr lang="en-US" sz="1300" b="1" u="none" strike="noStrike">
                <a:solidFill>
                  <a:srgbClr val="4A5158"/>
                </a:solidFill>
                <a:effectLst/>
                <a:uFillTx/>
                <a:latin typeface="Helvetica Neue"/>
                <a:ea typeface="DejaVu Sans"/>
              </a:rPr>
              <a:t>DEAL FIT</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Relationships carry the meaning — investigations, compliance, supply chain.</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Answers span documents — two facts in two files must be joined.</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Questions about the whole set — counting and summarising, where similarity has nothing to rank.</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Data that cannot leave — regulated, privileged, classified.</a:t>
            </a:r>
            <a:endParaRPr lang="en-US" sz="1300" b="0" u="none" strike="noStrike">
              <a:solidFill>
                <a:srgbClr val="000000"/>
              </a:solidFill>
              <a:effectLst/>
              <a:uFillTx/>
              <a:latin typeface="Arial"/>
            </a:endParaRPr>
          </a:p>
          <a:p>
            <a:pPr defTabSz="457200">
              <a:lnSpc>
                <a:spcPct val="100000"/>
              </a:lnSpc>
              <a:spcBef>
                <a:spcPts val="1199"/>
              </a:spcBef>
              <a:spcAft>
                <a:spcPts val="201"/>
              </a:spcAft>
            </a:pPr>
            <a:r>
              <a:rPr lang="en-US" sz="1300" b="1" u="none" strike="noStrike">
                <a:solidFill>
                  <a:srgbClr val="4A5158"/>
                </a:solidFill>
                <a:effectLst/>
                <a:uFillTx/>
                <a:latin typeface="Helvetica Neue"/>
                <a:ea typeface="DejaVu Sans"/>
              </a:rPr>
              <a:t>LESS THAN IDEAL FIT</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Answers that live in one passage rather than in a topic. Chunk embeddings are off by default, so a single sentence that does not characterise its topic has no surface to be found on until you switch them on.</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Small, uniform document sets. One author and one vocabulary, so the extra machinery earns nothing.</a:t>
            </a:r>
            <a:endParaRPr lang="en-US" sz="1300" b="0" u="none" strike="noStrike">
              <a:solidFill>
                <a:srgbClr val="000000"/>
              </a:solidFill>
              <a:effectLst/>
              <a:uFillTx/>
              <a:latin typeface="Arial"/>
            </a:endParaRPr>
          </a:p>
          <a:p>
            <a:pPr defTabSz="457200">
              <a:lnSpc>
                <a:spcPct val="100000"/>
              </a:lnSpc>
              <a:spcBef>
                <a:spcPts val="300"/>
              </a:spcBef>
              <a:spcAft>
                <a:spcPts val="300"/>
              </a:spcAft>
            </a:pPr>
            <a:r>
              <a:rPr lang="en-US" sz="1300" b="0" u="none" strike="noStrike">
                <a:solidFill>
                  <a:srgbClr val="14171B"/>
                </a:solidFill>
                <a:effectLst/>
                <a:uFillTx/>
                <a:latin typeface="Helvetica Neue"/>
                <a:ea typeface="DejaVu Sans"/>
              </a:rPr>
              <a:t>•  Simple lookup. If every question is "find the passage about X", a plain vector index is the answer.</a:t>
            </a:r>
            <a:endParaRPr lang="en-US" sz="1300" b="0" u="none" strike="noStrike">
              <a:solidFill>
                <a:srgbClr val="000000"/>
              </a:solidFill>
              <a:effectLst/>
              <a:uFillTx/>
              <a:latin typeface="Arial"/>
            </a:endParaRPr>
          </a:p>
          <a:p>
            <a:pPr defTabSz="457200">
              <a:lnSpc>
                <a:spcPct val="100000"/>
              </a:lnSpc>
              <a:spcBef>
                <a:spcPts val="700"/>
              </a:spcBef>
              <a:spcAft>
                <a:spcPts val="400"/>
              </a:spcAft>
            </a:pPr>
            <a:r>
              <a:rPr lang="en-US" sz="1300" b="0" i="1" u="none" strike="noStrike">
                <a:solidFill>
                  <a:srgbClr val="1E3A5F"/>
                </a:solidFill>
                <a:effectLst/>
                <a:uFillTx/>
                <a:latin typeface="Helvetica Neue"/>
                <a:ea typeface="DejaVu Sans"/>
              </a:rPr>
              <a:t>The Importer has a setting, rag_mode: "vector_rag", that skips entity extraction altogether. The product already agrees with this column.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82"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B2</a:t>
            </a:r>
            <a:endParaRPr lang="en-US" sz="900" b="0" u="none" strike="noStrike">
              <a:solidFill>
                <a:srgbClr val="000000"/>
              </a:solidFill>
              <a:effectLst/>
              <a:uFillTx/>
              <a:latin typeface="Arial"/>
            </a:endParaRPr>
          </a:p>
        </p:txBody>
      </p:sp>
      <p:sp>
        <p:nvSpPr>
          <p:cNvPr id="83"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BACKUP · THE HARDEST FIX</a:t>
            </a:r>
            <a:endParaRPr lang="en-US" sz="900" b="0" u="none" strike="noStrike">
              <a:solidFill>
                <a:srgbClr val="000000"/>
              </a:solidFill>
              <a:effectLst/>
              <a:uFillTx/>
              <a:latin typeface="Arial"/>
            </a:endParaRPr>
          </a:p>
        </p:txBody>
      </p:sp>
      <p:sp>
        <p:nvSpPr>
          <p:cNvPr id="84"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Saying "I don't know" — two bugs, pulling opposite ways</a:t>
            </a:r>
            <a:endParaRPr lang="en-US" sz="2600" b="0" u="none" strike="noStrike">
              <a:solidFill>
                <a:srgbClr val="000000"/>
              </a:solidFill>
              <a:effectLst/>
              <a:uFillTx/>
              <a:latin typeface="Arial"/>
            </a:endParaRPr>
          </a:p>
        </p:txBody>
      </p:sp>
      <p:sp>
        <p:nvSpPr>
          <p:cNvPr id="85"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86" name="TextBox 5"/>
          <p:cNvSpPr/>
          <p:nvPr/>
        </p:nvSpPr>
        <p:spPr>
          <a:xfrm>
            <a:off x="567000" y="1600200"/>
            <a:ext cx="11057040" cy="47523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Fixing the first one caused the second. Only measurement found it.</a:t>
            </a:r>
            <a:endParaRPr lang="en-US" sz="14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FIRST: IT ANSWERED EVERYTHING</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Asked something the documents could not answer, it described what they did contain and offered that as the answer. Four prompt rewrites failed — the prompt already forbade it.</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The cause was structural: one model, in one pass, both decided whether it had enough evidence and wrote the answer. Writing something is the easier path.</a:t>
            </a:r>
            <a:endParaRPr lang="en-US" sz="1200" b="0" u="none" strike="noStrike">
              <a:solidFill>
                <a:srgbClr val="000000"/>
              </a:solidFill>
              <a:effectLst/>
              <a:uFillTx/>
              <a:latin typeface="Arial"/>
            </a:endParaRPr>
          </a:p>
          <a:p>
            <a:pPr defTabSz="457200">
              <a:lnSpc>
                <a:spcPct val="100000"/>
              </a:lnSpc>
              <a:spcBef>
                <a:spcPts val="201"/>
              </a:spcBef>
              <a:spcAft>
                <a:spcPts val="601"/>
              </a:spcAft>
            </a:pPr>
            <a:r>
              <a:rPr lang="en-US" sz="1100" b="0" u="none" strike="noStrike">
                <a:solidFill>
                  <a:srgbClr val="1E3A5F"/>
                </a:solidFill>
                <a:effectLst/>
                <a:uFillTx/>
                <a:latin typeface="Helvetica Neue"/>
                <a:ea typeface="DejaVu Sans"/>
              </a:rPr>
              <a:t>→  Fixed — split the two. Step 1 decides, and its reply format has no field big enough to hold prose. Step 2 writes, and runs only if step 1 said yes.</a:t>
            </a:r>
            <a:endParaRPr lang="en-US" sz="11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THEN: IT REFUSED THINGS IT COULD ANSWER</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"Who were the defense attorneys in this case?" was declined. The answer was sitting in the top result: "MS. BORJA: Mary Borja for Defendant, Alan Dershowitz."</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Step 1 read all eight passages in one call and gave a yes/no for each. That looks independent. It is not — remove one unrelated passage and the verdict on the top result flipped to yes. Swap in a different one and it flipped back.</a:t>
            </a:r>
            <a:endParaRPr lang="en-US" sz="1200" b="0" u="none" strike="noStrike">
              <a:solidFill>
                <a:srgbClr val="000000"/>
              </a:solidFill>
              <a:effectLst/>
              <a:uFillTx/>
              <a:latin typeface="Arial"/>
            </a:endParaRPr>
          </a:p>
          <a:p>
            <a:pPr defTabSz="457200">
              <a:lnSpc>
                <a:spcPct val="100000"/>
              </a:lnSpc>
              <a:spcBef>
                <a:spcPts val="201"/>
              </a:spcBef>
              <a:spcAft>
                <a:spcPts val="601"/>
              </a:spcAft>
            </a:pPr>
            <a:r>
              <a:rPr lang="en-US" sz="1100" b="0" u="none" strike="noStrike">
                <a:solidFill>
                  <a:srgbClr val="1E3A5F"/>
                </a:solidFill>
                <a:effectLst/>
                <a:uFillTx/>
                <a:latin typeface="Helvetica Neue"/>
                <a:ea typeface="DejaVu Sans"/>
              </a:rPr>
              <a:t>→  Fixed — one passage per call, each call seeing exactly one passage. The other seven can no longer affect the verdict on the first.</a:t>
            </a:r>
            <a:endParaRPr lang="en-US" sz="11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A6382C"/>
                </a:solidFill>
                <a:effectLst/>
                <a:uFillTx/>
                <a:latin typeface="Georgia"/>
                <a:ea typeface="DejaVu Sans"/>
              </a:rPr>
              <a:t>0 / 15   </a:t>
            </a:r>
            <a:r>
              <a:rPr lang="en-US" sz="1000" b="0" u="none" strike="noStrike">
                <a:solidFill>
                  <a:srgbClr val="838B93"/>
                </a:solidFill>
                <a:effectLst/>
                <a:uFillTx/>
                <a:latin typeface="Helvetica Neue"/>
                <a:ea typeface="DejaVu Sans"/>
              </a:rPr>
              <a:t>REFUSED BEFORE</a:t>
            </a:r>
            <a:endParaRPr lang="en-US" sz="10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11 / 15   </a:t>
            </a:r>
            <a:r>
              <a:rPr lang="en-US" sz="1000" b="0" u="none" strike="noStrike">
                <a:solidFill>
                  <a:srgbClr val="838B93"/>
                </a:solidFill>
                <a:effectLst/>
                <a:uFillTx/>
                <a:latin typeface="Helvetica Neue"/>
                <a:ea typeface="DejaVu Sans"/>
              </a:rPr>
              <a:t>REFUSED AFTER</a:t>
            </a:r>
            <a:endParaRPr lang="en-US" sz="10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0   </a:t>
            </a:r>
            <a:r>
              <a:rPr lang="en-US" sz="1000" b="0" u="none" strike="noStrike">
                <a:solidFill>
                  <a:srgbClr val="838B93"/>
                </a:solidFill>
                <a:effectLst/>
                <a:uFillTx/>
                <a:latin typeface="Helvetica Neue"/>
                <a:ea typeface="DejaVu Sans"/>
              </a:rPr>
              <a:t>WRONG REFUSALS IN 105 RUNS</a:t>
            </a:r>
            <a:endParaRPr lang="en-US" sz="1000" b="0" u="none" strike="noStrike">
              <a:solidFill>
                <a:srgbClr val="000000"/>
              </a:solidFill>
              <a:effectLst/>
              <a:uFillTx/>
              <a:latin typeface="Arial"/>
            </a:endParaRPr>
          </a:p>
          <a:p>
            <a:pPr defTabSz="457200">
              <a:lnSpc>
                <a:spcPct val="100000"/>
              </a:lnSpc>
              <a:spcBef>
                <a:spcPts val="601"/>
              </a:spcBef>
              <a:spcAft>
                <a:spcPts val="201"/>
              </a:spcAft>
            </a:pPr>
            <a:r>
              <a:rPr lang="en-US" sz="2000" b="1" u="none" strike="noStrike">
                <a:solidFill>
                  <a:srgbClr val="1E3A5F"/>
                </a:solidFill>
                <a:effectLst/>
                <a:uFillTx/>
                <a:latin typeface="Georgia"/>
                <a:ea typeface="DejaVu Sans"/>
              </a:rPr>
              <a:t>49s   </a:t>
            </a:r>
            <a:r>
              <a:rPr lang="en-US" sz="1000" b="0" u="none" strike="noStrike">
                <a:solidFill>
                  <a:srgbClr val="838B93"/>
                </a:solidFill>
                <a:effectLst/>
                <a:uFillTx/>
                <a:latin typeface="Helvetica Neue"/>
                <a:ea typeface="DejaVu Sans"/>
              </a:rPr>
              <a:t>DOWN FROM 63S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87"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B3</a:t>
            </a:r>
            <a:endParaRPr lang="en-US" sz="900" b="0" u="none" strike="noStrike">
              <a:solidFill>
                <a:srgbClr val="000000"/>
              </a:solidFill>
              <a:effectLst/>
              <a:uFillTx/>
              <a:latin typeface="Arial"/>
            </a:endParaRPr>
          </a:p>
        </p:txBody>
      </p:sp>
      <p:sp>
        <p:nvSpPr>
          <p:cNvPr id="88"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BACKUP · MEASUREMENT</a:t>
            </a:r>
            <a:endParaRPr lang="en-US" sz="900" b="0" u="none" strike="noStrike">
              <a:solidFill>
                <a:srgbClr val="000000"/>
              </a:solidFill>
              <a:effectLst/>
              <a:uFillTx/>
              <a:latin typeface="Arial"/>
            </a:endParaRPr>
          </a:p>
        </p:txBody>
      </p:sp>
      <p:sp>
        <p:nvSpPr>
          <p:cNvPr id="89"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What is measured, and what is not</a:t>
            </a:r>
            <a:endParaRPr lang="en-US" sz="2600" b="0" u="none" strike="noStrike">
              <a:solidFill>
                <a:srgbClr val="000000"/>
              </a:solidFill>
              <a:effectLst/>
              <a:uFillTx/>
              <a:latin typeface="Arial"/>
            </a:endParaRPr>
          </a:p>
        </p:txBody>
      </p:sp>
      <p:sp>
        <p:nvSpPr>
          <p:cNvPr id="90"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91" name="TextBox 5"/>
          <p:cNvSpPr/>
          <p:nvPr/>
        </p:nvSpPr>
        <p:spPr>
          <a:xfrm>
            <a:off x="567000" y="1600200"/>
            <a:ext cx="11057040" cy="27388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100" b="1" u="none" strike="noStrike">
                <a:solidFill>
                  <a:srgbClr val="4A5158"/>
                </a:solidFill>
                <a:effectLst/>
                <a:uFillTx/>
                <a:latin typeface="Helvetica Neue"/>
                <a:ea typeface="DejaVu Sans"/>
              </a:rPr>
              <a:t>MEASURED</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35 questions in seven categories. The predicted winner was written down and locked before any strategy ran.</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Graph found no name to start from on 11 of 35</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Won at least one of the eight final slots on 18 of 35</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Changed the document set on 14 of 35</a:t>
            </a:r>
            <a:endParaRPr lang="en-US" sz="1200" b="0" u="none" strike="noStrike">
              <a:solidFill>
                <a:srgbClr val="000000"/>
              </a:solidFill>
              <a:effectLst/>
              <a:uFillTx/>
              <a:latin typeface="Arial"/>
            </a:endParaRPr>
          </a:p>
          <a:p>
            <a:pPr defTabSz="457200">
              <a:lnSpc>
                <a:spcPct val="100000"/>
              </a:lnSpc>
              <a:spcBef>
                <a:spcPts val="1199"/>
              </a:spcBef>
              <a:spcAft>
                <a:spcPts val="201"/>
              </a:spcAft>
            </a:pPr>
            <a:r>
              <a:rPr lang="en-US" sz="1100" b="1" u="none" strike="noStrike">
                <a:solidFill>
                  <a:srgbClr val="4A5158"/>
                </a:solidFill>
                <a:effectLst/>
                <a:uFillTx/>
                <a:latin typeface="Helvetica Neue"/>
                <a:ea typeface="DejaVu Sans"/>
              </a:rPr>
              <a:t>NOT MEASURED — DELIBERATELY</a:t>
            </a:r>
            <a:endParaRPr lang="en-US" sz="11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No human-marked correct answers, so none of the standard ranking scores (recall@k, nDCG) can be computed. Judging correctness requires a person, and cannot be delegated.</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14171B"/>
                </a:solidFill>
                <a:effectLst/>
                <a:uFillTx/>
                <a:latin typeface="Helvetica Neue"/>
                <a:ea typeface="DejaVu Sans"/>
              </a:rPr>
              <a:t>An answer key written by a model would measure the judge, not the systems.</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i="1" u="none" strike="noStrike">
                <a:solidFill>
                  <a:srgbClr val="1E3A5F"/>
                </a:solidFill>
                <a:effectLst/>
                <a:uFillTx/>
                <a:latin typeface="Helvetica Neue"/>
                <a:ea typeface="DejaVu Sans"/>
              </a:rPr>
              <a:t>The evaluation shows that the strategies behave differently. It does not show which one is right. I would rather say that than quote a number I cannot defend.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92"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B4</a:t>
            </a:r>
            <a:endParaRPr lang="en-US" sz="900" b="0" u="none" strike="noStrike">
              <a:solidFill>
                <a:srgbClr val="000000"/>
              </a:solidFill>
              <a:effectLst/>
              <a:uFillTx/>
              <a:latin typeface="Arial"/>
            </a:endParaRPr>
          </a:p>
        </p:txBody>
      </p:sp>
      <p:sp>
        <p:nvSpPr>
          <p:cNvPr id="93"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A6382C"/>
                </a:solidFill>
                <a:effectLst/>
                <a:uFillTx/>
                <a:latin typeface="Menlo"/>
                <a:ea typeface="DejaVu Sans"/>
              </a:rPr>
              <a:t>BACKUP · ROADMAP</a:t>
            </a:r>
            <a:endParaRPr lang="en-US" sz="900" b="0" u="none" strike="noStrike">
              <a:solidFill>
                <a:srgbClr val="000000"/>
              </a:solidFill>
              <a:effectLst/>
              <a:uFillTx/>
              <a:latin typeface="Arial"/>
            </a:endParaRPr>
          </a:p>
        </p:txBody>
      </p:sp>
      <p:sp>
        <p:nvSpPr>
          <p:cNvPr id="94"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Challenges for improving the system</a:t>
            </a:r>
            <a:endParaRPr lang="en-US" sz="2600" b="0" u="none" strike="noStrike">
              <a:solidFill>
                <a:srgbClr val="000000"/>
              </a:solidFill>
              <a:effectLst/>
              <a:uFillTx/>
              <a:latin typeface="Arial"/>
            </a:endParaRPr>
          </a:p>
        </p:txBody>
      </p:sp>
      <p:sp>
        <p:nvSpPr>
          <p:cNvPr id="95"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96" name="TextBox 5"/>
          <p:cNvSpPr/>
          <p:nvPr/>
        </p:nvSpPr>
        <p:spPr>
          <a:xfrm>
            <a:off x="567000" y="1600200"/>
            <a:ext cx="11057040" cy="1735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Each one is scoped, understood and costed. None of them is a surprise, which is the point of measuring a system rather than only building it.</a:t>
            </a:r>
            <a:endParaRPr lang="en-US" sz="14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Same-person links for places and organisations. Limited to people for now; the matching rule has to change depending on the type.</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413 flagged pairs awaiting a decision. The system knows what it is unsure about. It needs a screen that shows a reviewer.</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Correctness not yet verified by a person. Human work by design, not a gap waiting on automation.</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Answering a different question than the one asked. Separate from declining to answer, and not fixed by it.</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Adding new documents without rebuilding. The hardest, and the one that matters most at scale.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97"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B5</a:t>
            </a:r>
            <a:endParaRPr lang="en-US" sz="900" b="0" u="none" strike="noStrike">
              <a:solidFill>
                <a:srgbClr val="000000"/>
              </a:solidFill>
              <a:effectLst/>
              <a:uFillTx/>
              <a:latin typeface="Arial"/>
            </a:endParaRPr>
          </a:p>
        </p:txBody>
      </p:sp>
      <p:sp>
        <p:nvSpPr>
          <p:cNvPr id="98"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BACKUP · ADDING DOCUMENTS TO A MATTER</a:t>
            </a:r>
            <a:endParaRPr lang="en-US" sz="900" b="0" u="none" strike="noStrike">
              <a:solidFill>
                <a:srgbClr val="000000"/>
              </a:solidFill>
              <a:effectLst/>
              <a:uFillTx/>
              <a:latin typeface="Arial"/>
            </a:endParaRPr>
          </a:p>
        </p:txBody>
      </p:sp>
      <p:sp>
        <p:nvSpPr>
          <p:cNvPr id="99"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Loading new filings into a graph that already exists</a:t>
            </a:r>
            <a:endParaRPr lang="en-US" sz="2600" b="0" u="none" strike="noStrike">
              <a:solidFill>
                <a:srgbClr val="000000"/>
              </a:solidFill>
              <a:effectLst/>
              <a:uFillTx/>
              <a:latin typeface="Arial"/>
            </a:endParaRPr>
          </a:p>
        </p:txBody>
      </p:sp>
      <p:sp>
        <p:nvSpPr>
          <p:cNvPr id="100"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101" name="TextBox 5"/>
          <p:cNvSpPr/>
          <p:nvPr/>
        </p:nvSpPr>
        <p:spPr>
          <a:xfrm>
            <a:off x="567000" y="1600200"/>
            <a:ext cx="11057040" cy="2563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Cheaper than the first build, for a reason worth stating.</a:t>
            </a:r>
            <a:endParaRPr lang="en-US" sz="14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The 19.8 hours was a one-off. That built 2,014 people from nothing, so nearly every mention needed a judgment call. One new filing brings about a hundred mentions against a graph that already exists — minutes, not hours.</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Extraction runs in parallel. Resolution cannot. Ten documents can be chunked and read at once, but two workers resolving names in the same matter would each create their own "Mr. Recarey".</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Key documents on their contents, not their filename. Courts re-file corrected versions constantly, so the same bytes arriving twice has to be a no-op.</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Sweep backwards after every batch. A new filing can reveal that two people already in the graph were always one person. Nothing in the pipeline looks back today.</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A merge is one edge, not a rewrite. Identity is a link between nodes rather than a collapse of them, so joining two people is a single insert — and deleting that edge undoes it.</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i="1" u="none" strike="noStrike">
                <a:solidFill>
                  <a:srgbClr val="1E3A5F"/>
                </a:solidFill>
                <a:effectLst/>
                <a:uFillTx/>
                <a:latin typeface="Helvetica Neue"/>
                <a:ea typeface="DejaVu Sans"/>
              </a:rPr>
              <a:t>The same sweep should re-examine the 413 flagged pairs. New evidence can settle an old "not sure", and right now nothing ever revisits them.</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102" name="TextBox 1"/>
          <p:cNvSpPr/>
          <p:nvPr/>
        </p:nvSpPr>
        <p:spPr>
          <a:xfrm>
            <a:off x="10710360" y="274320"/>
            <a:ext cx="913680" cy="13752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838B93"/>
                </a:solidFill>
                <a:effectLst/>
                <a:uFillTx/>
                <a:latin typeface="Menlo"/>
                <a:ea typeface="DejaVu Sans"/>
              </a:rPr>
              <a:t>B6</a:t>
            </a:r>
            <a:endParaRPr lang="en-US" sz="900" b="0" u="none" strike="noStrike">
              <a:solidFill>
                <a:srgbClr val="000000"/>
              </a:solidFill>
              <a:effectLst/>
              <a:uFillTx/>
              <a:latin typeface="Arial"/>
            </a:endParaRPr>
          </a:p>
        </p:txBody>
      </p:sp>
      <p:sp>
        <p:nvSpPr>
          <p:cNvPr id="103" name="TextBox 2"/>
          <p:cNvSpPr/>
          <p:nvPr/>
        </p:nvSpPr>
        <p:spPr>
          <a:xfrm>
            <a:off x="567000" y="567000"/>
            <a:ext cx="11057040" cy="137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1E3A5F"/>
                </a:solidFill>
                <a:effectLst/>
                <a:uFillTx/>
                <a:latin typeface="Menlo"/>
                <a:ea typeface="DejaVu Sans"/>
              </a:rPr>
              <a:t>BACKUP · ADDING A NEW MATTER</a:t>
            </a:r>
            <a:endParaRPr lang="en-US" sz="900" b="0" u="none" strike="noStrike">
              <a:solidFill>
                <a:srgbClr val="000000"/>
              </a:solidFill>
              <a:effectLst/>
              <a:uFillTx/>
              <a:latin typeface="Arial"/>
            </a:endParaRPr>
          </a:p>
        </p:txBody>
      </p:sp>
      <p:sp>
        <p:nvSpPr>
          <p:cNvPr id="104" name="TextBox 3"/>
          <p:cNvSpPr/>
          <p:nvPr/>
        </p:nvSpPr>
        <p:spPr>
          <a:xfrm>
            <a:off x="567000" y="841320"/>
            <a:ext cx="11057040" cy="396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14171B"/>
                </a:solidFill>
                <a:effectLst/>
                <a:uFillTx/>
                <a:latin typeface="Georgia"/>
                <a:ea typeface="DejaVu Sans"/>
              </a:rPr>
              <a:t>Onboarding a matter, or a different kind of corpus</a:t>
            </a:r>
            <a:endParaRPr lang="en-US" sz="2600" b="0" u="none" strike="noStrike">
              <a:solidFill>
                <a:srgbClr val="000000"/>
              </a:solidFill>
              <a:effectLst/>
              <a:uFillTx/>
              <a:latin typeface="Arial"/>
            </a:endParaRPr>
          </a:p>
        </p:txBody>
      </p:sp>
      <p:sp>
        <p:nvSpPr>
          <p:cNvPr id="105" name="Rectangle 4"/>
          <p:cNvSpPr/>
          <p:nvPr/>
        </p:nvSpPr>
        <p:spPr>
          <a:xfrm>
            <a:off x="567000" y="1417320"/>
            <a:ext cx="11057040" cy="8640"/>
          </a:xfrm>
          <a:prstGeom prst="rect">
            <a:avLst/>
          </a:prstGeom>
          <a:solidFill>
            <a:srgbClr val="D8D5CD"/>
          </a:solidFill>
          <a:ln w="9360">
            <a:noFill/>
          </a:ln>
          <a:effectLst>
            <a:outerShdw blurRad="39960" dir="5400000" dist="23040" rotWithShape="0">
              <a:srgbClr val="000000">
                <a:alpha val="35000"/>
              </a:srgbClr>
            </a:outerShdw>
          </a:effectLst>
        </p:spPr>
        <p:style>
          <a:lnRef idx="0"/>
          <a:fillRef idx="0"/>
          <a:effectRef idx="0"/>
          <a:fontRef idx="minor"/>
        </p:style>
        <p:txBody>
          <a:bodyPr lIns="90000" tIns="-35640" rIns="90000" bIns="-35640" anchor="ctr">
            <a:noAutofit/>
          </a:bodyPr>
          <a:p>
            <a:endParaRPr lang="en-US" sz="1800" b="0" u="none" strike="noStrike">
              <a:solidFill>
                <a:schemeClr val="lt1"/>
              </a:solidFill>
              <a:effectLst/>
              <a:uFillTx/>
              <a:latin typeface="Calibri"/>
            </a:endParaRPr>
          </a:p>
        </p:txBody>
      </p:sp>
      <p:sp>
        <p:nvSpPr>
          <p:cNvPr id="106" name="TextBox 5"/>
          <p:cNvSpPr/>
          <p:nvPr/>
        </p:nvSpPr>
        <p:spPr>
          <a:xfrm>
            <a:off x="567000" y="1600200"/>
            <a:ext cx="11057040" cy="27464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400"/>
              </a:spcAft>
            </a:pPr>
            <a:r>
              <a:rPr lang="en-US" sz="1400" b="0" u="none" strike="noStrike">
                <a:solidFill>
                  <a:srgbClr val="4A5158"/>
                </a:solidFill>
                <a:effectLst/>
                <a:uFillTx/>
                <a:latin typeface="Helvetica Neue"/>
                <a:ea typeface="DejaVu Sans"/>
              </a:rPr>
              <a:t>A different problem, and the hard part is not compute.</a:t>
            </a:r>
            <a:endParaRPr lang="en-US" sz="14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Isolation comes first. Two matters both have a John Smith and they are not the same man. Name resolution must never look across the boundary.</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One database per matter. Isolation stops depending on every future query remembering a filter, and closing an engagement becomes a single delete rather than a careful one.</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People who span matters are a separate, curated list. The same expert witness appears in thirty cases. That link is a decision someone makes, never an automatic merge.</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Settings belong to the corpus, not the environment. Depositions and product documentation want different chunking and a different matching threshold. Today those are global.</a:t>
            </a:r>
            <a:endParaRPr lang="en-US" sz="1200" b="0" u="none" strike="noStrike">
              <a:solidFill>
                <a:srgbClr val="000000"/>
              </a:solidFill>
              <a:effectLst/>
              <a:uFillTx/>
              <a:latin typeface="Arial"/>
            </a:endParaRPr>
          </a:p>
          <a:p>
            <a:pPr defTabSz="457200">
              <a:lnSpc>
                <a:spcPct val="100000"/>
              </a:lnSpc>
              <a:spcBef>
                <a:spcPts val="300"/>
              </a:spcBef>
              <a:spcAft>
                <a:spcPts val="300"/>
              </a:spcAft>
            </a:pPr>
            <a:r>
              <a:rPr lang="en-US" sz="1200" b="0" u="none" strike="noStrike">
                <a:solidFill>
                  <a:srgbClr val="14171B"/>
                </a:solidFill>
                <a:effectLst/>
                <a:uFillTx/>
                <a:latin typeface="Helvetica Neue"/>
                <a:ea typeface="DejaVu Sans"/>
              </a:rPr>
              <a:t>•  Calibrate before committing. Load a sample, have someone label a hundred pairs by hand, then set the threshold and quote the cost — before anyone starts a nine-hour run.</a:t>
            </a:r>
            <a:endParaRPr lang="en-US" sz="1200" b="0" u="none" strike="noStrike">
              <a:solidFill>
                <a:srgbClr val="000000"/>
              </a:solidFill>
              <a:effectLst/>
              <a:uFillTx/>
              <a:latin typeface="Arial"/>
            </a:endParaRPr>
          </a:p>
          <a:p>
            <a:pPr defTabSz="457200">
              <a:lnSpc>
                <a:spcPct val="100000"/>
              </a:lnSpc>
              <a:spcBef>
                <a:spcPts val="700"/>
              </a:spcBef>
              <a:spcAft>
                <a:spcPts val="400"/>
              </a:spcAft>
            </a:pPr>
            <a:r>
              <a:rPr lang="en-US" sz="1200" b="0" u="none" strike="noStrike">
                <a:solidFill>
                  <a:srgbClr val="A6382C"/>
                </a:solidFill>
                <a:effectLst/>
                <a:uFillTx/>
                <a:latin typeface="Helvetica Neue"/>
                <a:ea typeface="DejaVu Sans"/>
              </a:rPr>
              <a:t>A sample predicts cost. It does not predict correctness. The bug that produced 38 duplicate "Mr. Barton" nodes could not appear in a 200-chunk test, because it only triggers once enough similar names exist to crowd out the right one. A new corpus needs an audit of the full first run.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1297</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2026-09-04T09:50:47Z</dcterms:modified>
  <cp:revision>36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