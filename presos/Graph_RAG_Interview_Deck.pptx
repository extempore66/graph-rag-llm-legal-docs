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this deck is measured. Several of the numbers contradict what I expected before I measured them, and I've kept those in."</a:t>
            </a:r>
          </a:p>
          <a:p>
            <a:r>
              <a:t>Set the contract in the first fifteen seconds: this is a working system, not a slideware architecture, and the honesty is deliberate. It buys permission for slide 11.</a:t>
            </a:r>
          </a:p>
          <a:p>
            <a:r>
              <a:t>The four numbers are the whole build in one line — 19,009 mentions collapsing to 2,014 entities is the story of identity resolution.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to eight minutes and resist the urge to narrate a CV. The panel is listening for whether you want this job or a job.</a:t>
            </a:r>
          </a:p>
          <a:p>
            <a:r>
              <a:t>Be specific about what you have run in anger versus read about — a panel of engineers will find the seam if you blur it.</a:t>
            </a:r>
          </a:p>
          <a:p>
            <a:r>
              <a:t>Land the closing line deliberately. It is the hinge into Act two.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tell is in the defaults. enable_community_embeddings defaults to true while chunk and edge embeddings default to false. The community layer is the primary retrieval surface, not an add-on. That single fact demonstrates you have read the parameter reference rather than the landing page.</a:t>
            </a:r>
          </a:p>
          <a:p>
            <a:r>
              <a:t>Relations become edges of three kinds — entity–entity, entity–chunk, chunk–document — which is what makes both entity-anchored and document-anchored retrieval possible from one graph.</a:t>
            </a:r>
          </a:p>
          <a:p>
            <a:r>
              <a:t>On LLM hosting: Triton for self-hosted, or any OpenAI-compatible endpoint. My own build used local Ollama for exactly the reason their Triton path exists — the corpus could not go to a third-party API.</a:t>
            </a:r>
          </a:p>
          <a:p>
            <a:r>
              <a:t>Source: GraphRAG Technical Overview and Import Parameter Reference, read first-hand 2026-08-26.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web interface exposes Instant and Deep only. A prospect evaluating through the UI alone will never see Global or Local — worth flagging to them as a product observation, and it is the kind of thing a solutions architect notices.</a:t>
            </a:r>
          </a:p>
          <a:p>
            <a:r>
              <a:t>Global Search works map-reduce style over the AI-generated community reports. Their own docs call it resource-intensive but say it "often gives good responses for questions that require an understanding of the dataset as a whole."</a:t>
            </a:r>
          </a:p>
          <a:p>
            <a:r>
              <a:t>My 11 of 35 fallbacks concentrate in two strata: aggregation and completeness counting. This is the gap in my design and the feature that closes it — say that plainly rather than hiding it. It shows I can position their product against my own work honestly.</a:t>
            </a:r>
          </a:p>
          <a:p>
            <a:r>
              <a:t>Deep Search is worth a second look too: Local plus an LLM planner is an agentic loop over the graph, a different answer to multi-hop than my single-pass traversal.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credibility purchase. A solutions architect who has never talked a customer out of something is a salesperson with a diagram. Spending thirty seconds here buys belief in everything else.</a:t>
            </a:r>
          </a:p>
          <a:p>
            <a:r>
              <a:t>Arango's own engineering blog concedes the first point: graph retrieval "struggles with semantic connections based on conceptual meaning rather than explicit relationships." I measured the same thing independently — my AB-01 question, where all three strategies returned identical results because there was nothing to anchor on.</a:t>
            </a:r>
          </a:p>
          <a:p>
            <a:r>
              <a:t>They are also deliberately unenthusiastic about HybridRAG in that post: it "can be beneficial and sometimes necessary", but they argue the added complexity needs justifying per application. Agreeing with them here is both honest and disarming.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second-store point is not theoretical for me — I hit it. My build keeps chunk text and vectors in LanceDB and the graph in ArangoDB, and a handful of chunks exist as graph anchors with no LanceDB row. The graph channel has to filter ids before fusion or it hydrates a row with no text. That is the seam, and I can describe it from experience rather than from a competitive brief.</a:t>
            </a:r>
          </a:p>
          <a:p>
            <a:r>
              <a:t>The disclaimer at the bottom is not weakness. If you claim a benchmark you did not run, an engineer on the panel will ask for the methodology and the whole deck loses credit. Saying it first is stronger.</a:t>
            </a:r>
          </a:p>
          <a:p>
            <a:r>
              <a:t>If pushed on cost: their comparison page puts annual TCO at $127,025 for GraphRAG against $205,290 for vector-database RAG at 1 TB and 10K queries/day, the saving resting largely on not recomputing embeddings. I would not lead with it — it is vendor marketing with unstated assumptions, and it does not transfer to my system, which uses embeddings for both retrieval and dedup candidates.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it is the honest case for a graph: this corpus is close to the worst case for naive retrieval. In a legal context, missing evidence you were entitled to find is the failure that matters — not a slightly worse ranking.</a:t>
            </a:r>
          </a:p>
          <a:p>
            <a:r>
              <a:t>Both directions have to work. Recall without precision fabricates connections between real people, which in this corpus is a serious harm rather than a metric. That asymmetry drove nearly every design decision downstream.</a:t>
            </a:r>
          </a:p>
          <a:p>
            <a:r>
              <a:t>If asked why not a synthetic or public benchmark corpus: because the interesting failures only appear in real prose. Every defect worth showing on slide 11 was found by auditing real output.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design decisions on this slide are the ones I would defend hardest, and both come from the same instinct: never destroy the record of how something was written.</a:t>
            </a:r>
          </a:p>
          <a:p>
            <a:r>
              <a:t>Putting role, textual evidence and confidence on je_mentioned_in rather than on the entity means the same person mentioned 1,480 times carries 1,480 independent pieces of evidence. Merging two nodes cannot blur them.</a:t>
            </a:r>
          </a:p>
          <a:p>
            <a:r>
              <a:t>je_same_as asserts identity without collapsing it. This matters in a legal setting: a reviewer can see every surface form, and an incorrect link is one edge deletion rather than an unrecoverable merge.</a:t>
            </a:r>
          </a:p>
          <a:p>
            <a:r>
              <a:t>If asked about the type enum: it originally lacked location and facility, so places were forced into organization or court. That cost a full re-extraction to fix — 505 entities, a quarter of the graph, now sit in the two types that did not exist.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Runbook. Start the server, open ask.html, and have the ArangoDB web UI already on a second tab with the named graph created. Do not run an eval beforehand — Ollama serialises generation and a queued request takes 75 seconds instead of a few.</a:t>
            </a:r>
          </a:p>
          <a:p>
            <a:r>
              <a:t>Move 1 — "Who is Alfredo Rodriguez and what was his role in relation to Jeffrey Epstein?" on the graph strategy. Retrieval renders in ~60ms. Point at the coreference families before the answer arrives; that panel is the most interesting thing on screen.</a:t>
            </a:r>
          </a:p>
          <a:p>
            <a:r>
              <a:t>Move 2 — "What is the obiter dicta in this case?" Two things to name out loud: the amber fallback banner (graph could not anchor, so it degraded to vector search — and it says so rather than taking credit), and then the refusal. Abstention failed four times before it worked; this is the hardest thing the system does.</a:t>
            </a:r>
          </a:p>
          <a:p>
            <a:r>
              <a:t>Move 3 — je_entities/1348883 for Recarey; je_entities/1285748 for Jane Doe 2. Set the viewer's label attribute to name or every node shows a numeric key. Never click "load full graph" — 2,014 vertices and 19,009 edges will crawl.</a:t>
            </a:r>
          </a:p>
          <a:p>
            <a:r>
              <a:t>Move 4 — the family-reach query is the punchline: it quantifies what coreference bought, in chunks.</a:t>
            </a:r>
          </a:p>
          <a:p>
            <a:r>
              <a:t>Timing: aim for six minutes on moves 1–2, four on 3–4, leaving room for interruptions. Expect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subset rule: Palm Beach PD ⊂ Royal Palm Beach PD is two municipalities, and New Mexico ⊂ Santa Fe, New Mexico is a state and a city. For persons the extra token elaborates; for places it discriminates. Telling those apart needs to know that "Royal" makes a different town while "Jeffrey" does not make a different person — world knowledge a token rule does not have.</a:t>
            </a:r>
          </a:p>
          <a:p>
            <a:r>
              <a:t>On co-mention: Step 4 already measured this. The embedding channel kept nominating Ghislaine Maxwell as a dedup candidate for Jeffrey Epstein purely because they co-occur constantly. A two-hop traversal over that relation would pull in a large fraction of the graph.</a:t>
            </a:r>
          </a:p>
          <a:p>
            <a:r>
              <a:t>The last point is the one to dwell on if the panel is legal- or compliance-minded. The asymmetry between a false merge and a missed merge is not a tuning preference — it is a statement about who gets harmed when the system is wrong.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LanceDB line out loud. It is short, it sounds like a decision rather than a wish list, and it demonstrates product knowledge — it says I know what 3.12 shipped and I would restructure my own work around it.</a:t>
            </a:r>
          </a:p>
          <a:p>
            <a:r>
              <a:t>On the human loop: identity decisions and answer correctness are judgment calls in a legal corpus. The design should route them to a person rather than pretend the model settles them. That is a position, not a shortfall — and it is what "human intervention where warranted" actually means in practice.</a:t>
            </a:r>
          </a:p>
          <a:p>
            <a:r>
              <a:t>On re-ingest: this is the question I would ask a candidate, so I would rather raise it than be caught by it. The cost scales with mentions because every mention runs a candidate search and possibly an LLM judgment. Batch re-resolution per partition is the direction I would explore, but I have not built it.</a:t>
            </a:r>
          </a:p>
          <a:p>
            <a:r>
              <a:t>If asked about their Importer's own answer here: their pipeline has no documented resolution or deduplication stage at all — the only entity-merging prompt combines descriptions of entities already treated as identical. Worth raising as a question rather than a criticism, and better framed on their turf: how does the Importer handle k8s versus Kubernetes?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SOUTHERN DISTRICT OF NEW YORK scored 0.517 against its own title case, nowhere near the 0.85 threshold. Combined with capping an unsorted candidate list, true matches were crowded out by weaker partial ones. It failed in the safe direction — missed merges, never false ones — but fragmented the graph badly. A 200-chunk test could not surface it, because the defect only appears at entity density.</a:t>
            </a:r>
          </a:p>
          <a:p>
            <a:r>
              <a:t>2. The flag table held both "Ms. Maxwell" ↔ "Maxwell" and "baron Robert Maxwell" ↔ "Maxwell" — identical surface shape, opposite correct answers. The fix was to change the question from pairs to partitions: judge a whole name family at once, using mention counts, document spread and roles.</a:t>
            </a:r>
          </a:p>
          <a:p>
            <a:r>
              <a:t>3. Found by reading prompt_eval_count and noticing it was suspiciously round — exactly 4096 on every call. A real token count is never a round power of two. Confirmed by re-running the identical prompt with a larger context, which reported the true 4,235. Nothing in any log said a word.</a:t>
            </a:r>
          </a:p>
          <a:p>
            <a:r>
              <a:t>The direction of the cut is the part worth telling. I first assumed the tail of the last passage was lost, then tested it: a prompt with markers at both ends, run at 4096, came back seeing only the last marker. Ollama truncates from the front and does not protect the system message. So the tokens dropped were not evidence — they were the opening of the instructions, the part that says to use only the supplied sources. The system prompt on the path that produced every eval row measures 322 tokens, so a 139-token overrun removes roughly its first 40%.</a:t>
            </a:r>
          </a:p>
          <a:p>
            <a:r>
              <a:t>4. Roughly 3B parameters are active per token in a 30B-A3B model. It is a 30B download, not 30B of thinking. I also tested a prompt amendment that made both models worse, and abandoned it rather than iterating.</a:t>
            </a:r>
          </a:p>
          <a:p>
            <a:r>
              <a:t>On the human in the middle — worth saying out loud, because a panel looking at an AI-assisted project will be wondering. Not one of these four defects was raised by the model. Each surfaced because I was reading real output: a prompt_eval_count that was suspiciously round, a merged name I recognised as two different people, an entity count that did not match what I knew about the corpus. An LLM is a fast, tireless implementer that will build the wrong thing with complete confidence. Deciding what to build, what to measure, and when to distrust a passing result stayed on my side of the loop — and that is the part of the skill set this project actually grew.</a:t>
            </a:r>
          </a:p>
          <a:p>
            <a:r>
              <a:t>If the panel only remembers one thing from this slide, it should be the method: measure real output at real scale, because every one of these was invisible in a small test.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why rank fusion rather than combining the scores — the four channels return numbers that are not comparable. Vector gives a similarity of 0.42. Lexical gives a keyword score of 14.7, unbounded, and it shifts with query length. Density gives a raw count, like nine chunks. Graph gives a hop distance. To fuse by score you would first have to put all four on one scale, then decide how much each one counts: final = 0.5·vector + 0.2·lexical + 0.2·density + 0.1·graph. Those four numbers are the invention. There is no principled source for them here, because fitting weights honestly needs labelled data — a set of questions with known-correct passages to optimise against. This project deliberately has none. So in practice they would be guessed, then nudged while watching five or six questions, which is tuning to those five or six questions rather than to the problem. Rank fusion sidesteps it.</a:t>
            </a:r>
          </a:p>
          <a:p>
            <a:r>
              <a:t>Every channel searches the whole corpus. This is deliberately not retrieve-then-rerank: a reranker can only reorder what stage one returned, so anything ranked badly first is unrecoverable. The obiter case proves the point — those chunks sit at #329–#2970 by cosine, so a bi-encoder-then-rerank design would never surface them.</a:t>
            </a:r>
          </a:p>
          <a:p>
            <a:r>
              <a:t>On reserved slots: the first version fused all channels equally. It fixed the obiter question and simultaneously broke "who is Alfredo Rodriguez" — the deposition that answers it, #3 by plain cosine, fell out of the top 8 entirely because density ranks that document #12 and outvoted the channel that was right. Equal-weight fusion is only sound when channels are independent, and these are inversely correlated by construction.</a:t>
            </a:r>
          </a:p>
          <a:p>
            <a:r>
              <a:t>The graph channel abstains rather than falling back when a question anchors on nothing. Falling back would feed the vector ranking into RRF a second time under a different name — doubling vector's weight on exactly the questions where graph contributes nothing.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symptom: asked something the corpus could not answer, the system described what the corpus did contain and presented that as an answer. Faithful to its sources, and no answer to the question.</a:t>
            </a:r>
          </a:p>
          <a:p>
            <a:r>
              <a:t>AB-01 — the obiter question — now returns: "The corpus contains only party filings, subpoenas, motions, and deposition transcripts, but no judicial opinions or obiter dicta." That is the exact question four previous attempts failed on.</a:t>
            </a:r>
          </a:p>
          <a:p>
            <a:r>
              <a:t>An instruction a model can ignore becomes a rule it cannot, once it moves into code. That is the same lesson as pinning minItems/maxItems in the dedup schema, and as schema-constrained entity types. It is the single most transferable idea in the whole build.</a:t>
            </a:r>
          </a:p>
          <a:p>
            <a:r>
              <a:t>The correctness fix and the demo fix turned out to be the same change. Streaming the answer after a cheap verdict means retrieval paints at 63ms instead of the page sitting blank for 68 seconds.</a:t>
            </a:r>
          </a:p>
          <a:p>
            <a:r>
              <a:t>I introduced two defects doing it and had to measure my way back out: an over-strict first prompt refused the baseline sanity question, and the model twice claimed sufficiency with zero relevant sources. Both are in the commit history.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Pre-registration is the methodological point worth making. Several of my predictions were wrong — I expected graph to dominate the counting stratum and it fell back on four of five. Being wrong about a frozen hypothesis is a result; being right about a hypothesis formed afterwards is a story.</a:t>
            </a:r>
          </a:p>
          <a:p>
            <a:r>
              <a:t>The 35 gold answers are standing human work, not an automation gap waiting on a better model. In a legal setting that is the right shape: the machine narrows 3,338 passages to eight and shows its working; a person decides whether the answer is right.</a:t>
            </a:r>
          </a:p>
          <a:p>
            <a:r>
              <a:t>The cheap next step is an answer-in-context rate: for extractive questions, check whether the expected answer string appears in the retrieved text. One label per question instead of thousands, and it splits the error — string present but answer wrong is a generation bug, string absent is a retrieval bug.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Distinguishing "Royal makes a different town" from "Jeffrey does not make a different person" is world knowledge a token rule does not have. The likely fix is a type-aware rule plus an LLM judgment for the place cases, which is the same two-layer pattern used everywhere else in this build.</a:t>
            </a:r>
          </a:p>
          <a:p>
            <a:r>
              <a:t>On answering the wrong question: a grounded, fluent but non-responsive answer remains possible when the corpus does hold the right material. That is an answer-relevance problem; abstention only covers the case where the material is absent.</a:t>
            </a:r>
          </a:p>
          <a:p>
            <a:r>
              <a:t>Keep this slide in reserve. If the panel asks "what's left", it is the answer. If they don't, do not volunteer all five — slide 11 has already established the candour.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00</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SOLUTIONS ARCHITECT · PANEL PRESENTATION</a:t>
            </a:r>
          </a:p>
        </p:txBody>
      </p:sp>
      <p:sp>
        <p:nvSpPr>
          <p:cNvPr id="4" name="TextBox 3"/>
          <p:cNvSpPr txBox="1"/>
          <p:nvPr/>
        </p:nvSpPr>
        <p:spPr>
          <a:xfrm>
            <a:off x="566928" y="841248"/>
            <a:ext cx="11057839" cy="822960"/>
          </a:xfrm>
          <a:prstGeom prst="rect">
            <a:avLst/>
          </a:prstGeom>
          <a:noFill/>
        </p:spPr>
        <p:txBody>
          <a:bodyPr wrap="square" lIns="0" rIns="0" tIns="0" bIns="0">
            <a:spAutoFit/>
          </a:bodyPr>
          <a:lstStyle/>
          <a:p>
            <a:pPr>
              <a:spcBef>
                <a:spcPts val="0"/>
              </a:spcBef>
              <a:spcAft>
                <a:spcPts val="0"/>
              </a:spcAft>
            </a:pPr>
            <a:r>
              <a:rPr sz="3400" b="1" i="0">
                <a:solidFill>
                  <a:srgbClr val="14171B"/>
                </a:solidFill>
                <a:latin typeface="Georgia"/>
              </a:rPr>
              <a:t>One person, eight names.</a:t>
            </a:r>
          </a:p>
        </p:txBody>
      </p:sp>
      <p:sp>
        <p:nvSpPr>
          <p:cNvPr id="5" name="Rectangle 4"/>
          <p:cNvSpPr/>
          <p:nvPr/>
        </p:nvSpPr>
        <p:spPr>
          <a:xfrm>
            <a:off x="566928" y="173736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920240"/>
            <a:ext cx="11057839" cy="2407158"/>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A Graph RAG system over 190 unsealed federal court filings. Built on ArangoDB, measured earnestly, and brutally honest about where it falls short.</a:t>
            </a:r>
          </a:p>
          <a:p>
            <a:pPr>
              <a:spcBef>
                <a:spcPts val="600"/>
              </a:spcBef>
              <a:spcAft>
                <a:spcPts val="200"/>
              </a:spcAft>
            </a:pPr>
            <a:r>
              <a:rPr sz="2000" b="1" i="0">
                <a:solidFill>
                  <a:srgbClr val="1E3A5F"/>
                </a:solidFill>
                <a:latin typeface="Georgia"/>
              </a:rPr>
              <a:t>3,338   </a:t>
            </a:r>
            <a:r>
              <a:rPr sz="1000" b="0" i="0">
                <a:solidFill>
                  <a:srgbClr val="838B93"/>
                </a:solidFill>
                <a:latin typeface="Helvetica Neue"/>
              </a:rPr>
              <a:t>PASSAGES</a:t>
            </a:r>
          </a:p>
          <a:p>
            <a:pPr>
              <a:spcBef>
                <a:spcPts val="600"/>
              </a:spcBef>
              <a:spcAft>
                <a:spcPts val="200"/>
              </a:spcAft>
            </a:pPr>
            <a:r>
              <a:rPr sz="2000" b="1" i="0">
                <a:solidFill>
                  <a:srgbClr val="1E3A5F"/>
                </a:solidFill>
                <a:latin typeface="Georgia"/>
              </a:rPr>
              <a:t>19,009   </a:t>
            </a:r>
            <a:r>
              <a:rPr sz="1000" b="0" i="0">
                <a:solidFill>
                  <a:srgbClr val="838B93"/>
                </a:solidFill>
                <a:latin typeface="Helvetica Neue"/>
              </a:rPr>
              <a:t>MENTIONS</a:t>
            </a:r>
          </a:p>
          <a:p>
            <a:pPr>
              <a:spcBef>
                <a:spcPts val="600"/>
              </a:spcBef>
              <a:spcAft>
                <a:spcPts val="200"/>
              </a:spcAft>
            </a:pPr>
            <a:r>
              <a:rPr sz="2000" b="1" i="0">
                <a:solidFill>
                  <a:srgbClr val="1E3A5F"/>
                </a:solidFill>
                <a:latin typeface="Georgia"/>
              </a:rPr>
              <a:t>2,014   </a:t>
            </a:r>
            <a:r>
              <a:rPr sz="1000" b="0" i="0">
                <a:solidFill>
                  <a:srgbClr val="838B93"/>
                </a:solidFill>
                <a:latin typeface="Helvetica Neue"/>
              </a:rPr>
              <a:t>PEOPLE, PLACES, ORGS</a:t>
            </a:r>
          </a:p>
          <a:p>
            <a:pPr>
              <a:spcBef>
                <a:spcPts val="600"/>
              </a:spcBef>
              <a:spcAft>
                <a:spcPts val="200"/>
              </a:spcAft>
            </a:pPr>
            <a:r>
              <a:rPr sz="2000" b="1" i="0">
                <a:solidFill>
                  <a:srgbClr val="1E3A5F"/>
                </a:solidFill>
                <a:latin typeface="Georgia"/>
              </a:rPr>
              <a:t>488   </a:t>
            </a:r>
            <a:r>
              <a:rPr sz="1000" b="0" i="0">
                <a:solidFill>
                  <a:srgbClr val="838B93"/>
                </a:solidFill>
                <a:latin typeface="Helvetica Neue"/>
              </a:rPr>
              <a:t>SAME-PERSON LINKS</a:t>
            </a:r>
          </a:p>
          <a:p>
            <a:pPr>
              <a:spcBef>
                <a:spcPts val="1000"/>
              </a:spcBef>
              <a:spcAft>
                <a:spcPts val="400"/>
              </a:spcAft>
            </a:pPr>
            <a:r>
              <a:rPr sz="900" b="0" i="0">
                <a:solidFill>
                  <a:srgbClr val="838B93"/>
                </a:solidFill>
                <a:latin typeface="Menlo"/>
              </a:rPr>
              <a:t>Background · Arango AI Suite · Live demo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01</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BACKGROUND · 6–8 MINUTES</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My bio, why this role</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091436"/>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SUMMARY &amp; ENGAGEMENTS</a:t>
            </a:r>
          </a:p>
          <a:p>
            <a:pPr>
              <a:spcBef>
                <a:spcPts val="700"/>
              </a:spcBef>
              <a:spcAft>
                <a:spcPts val="400"/>
              </a:spcAft>
            </a:pPr>
            <a:r>
              <a:rPr sz="1200" b="0" i="0">
                <a:solidFill>
                  <a:srgbClr val="14171B"/>
                </a:solidFill>
                <a:latin typeface="Helvetica Neue"/>
              </a:rPr>
              <a:t>Where you are now, in one sentence.</a:t>
            </a:r>
          </a:p>
          <a:p>
            <a:pPr>
              <a:spcBef>
                <a:spcPts val="700"/>
              </a:spcBef>
              <a:spcAft>
                <a:spcPts val="400"/>
              </a:spcAft>
            </a:pPr>
            <a:r>
              <a:rPr sz="1200" b="0" i="0">
                <a:solidFill>
                  <a:srgbClr val="14171B"/>
                </a:solidFill>
                <a:latin typeface="Helvetica Neue"/>
              </a:rPr>
              <a:t>Two or three engagements — favour ones where you explained something technical to a non-technical decision maker.</a:t>
            </a:r>
          </a:p>
          <a:p>
            <a:pPr>
              <a:spcBef>
                <a:spcPts val="1200"/>
              </a:spcBef>
              <a:spcAft>
                <a:spcPts val="200"/>
              </a:spcAft>
            </a:pPr>
            <a:r>
              <a:rPr sz="1100" b="1" i="0">
                <a:solidFill>
                  <a:srgbClr val="4A5158"/>
                </a:solidFill>
                <a:latin typeface="Helvetica Neue"/>
              </a:rPr>
              <a:t>GRAPH EXPERIENCE &amp; WHY THIS ROLE</a:t>
            </a:r>
          </a:p>
          <a:p>
            <a:pPr>
              <a:spcBef>
                <a:spcPts val="700"/>
              </a:spcBef>
              <a:spcAft>
                <a:spcPts val="400"/>
              </a:spcAft>
            </a:pPr>
            <a:r>
              <a:rPr sz="1200" b="0" i="0">
                <a:solidFill>
                  <a:srgbClr val="14171B"/>
                </a:solidFill>
                <a:latin typeface="Helvetica Neue"/>
              </a:rPr>
              <a:t>Which systems, at what depth, on what problems.</a:t>
            </a:r>
          </a:p>
          <a:p>
            <a:pPr>
              <a:spcBef>
                <a:spcPts val="700"/>
              </a:spcBef>
              <a:spcAft>
                <a:spcPts val="400"/>
              </a:spcAft>
            </a:pPr>
            <a:r>
              <a:rPr sz="1200" b="0" i="0">
                <a:solidFill>
                  <a:srgbClr val="14171B"/>
                </a:solidFill>
                <a:latin typeface="Helvetica Neue"/>
              </a:rPr>
              <a:t>Why ArangoDB, why now, why solutions architecture.</a:t>
            </a:r>
          </a:p>
          <a:p>
            <a:pPr>
              <a:spcBef>
                <a:spcPts val="700"/>
              </a:spcBef>
              <a:spcAft>
                <a:spcPts val="400"/>
              </a:spcAft>
            </a:pPr>
            <a:r>
              <a:rPr sz="1200" b="0" i="1">
                <a:solidFill>
                  <a:srgbClr val="1E3A5F"/>
                </a:solidFill>
                <a:latin typeface="Helvetica Neue"/>
              </a:rPr>
              <a:t>The rest of this deck is one long answer to the same question: I didn't read about Graph RAG. I built one, measured it, and can tell you where it fails.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02</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The same product, two audiences</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3402076"/>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TO AN ENGINEER</a:t>
            </a:r>
          </a:p>
          <a:p>
            <a:pPr>
              <a:spcBef>
                <a:spcPts val="500"/>
              </a:spcBef>
              <a:spcAft>
                <a:spcPts val="300"/>
              </a:spcAft>
            </a:pPr>
            <a:r>
              <a:rPr sz="1200" b="0" i="0">
                <a:solidFill>
                  <a:srgbClr val="14171B"/>
                </a:solidFill>
                <a:latin typeface="Helvetica Neue"/>
              </a:rPr>
              <a:t>01 Split — documents into passages; size, overlap and separators are all configurable</a:t>
            </a:r>
          </a:p>
          <a:p>
            <a:pPr>
              <a:spcBef>
                <a:spcPts val="500"/>
              </a:spcBef>
              <a:spcAft>
                <a:spcPts val="300"/>
              </a:spcAft>
            </a:pPr>
            <a:r>
              <a:rPr sz="1200" b="0" i="0">
                <a:solidFill>
                  <a:srgbClr val="14171B"/>
                </a:solidFill>
                <a:latin typeface="Helvetica Neue"/>
              </a:rPr>
              <a:t>02 Extract — the model finds people, places and organisations, and how they relate. Each becomes a node in the graph.</a:t>
            </a:r>
          </a:p>
          <a:p>
            <a:pPr>
              <a:spcBef>
                <a:spcPts val="500"/>
              </a:spcBef>
              <a:spcAft>
                <a:spcPts val="300"/>
              </a:spcAft>
            </a:pPr>
            <a:r>
              <a:rPr sz="1200" b="0" i="0">
                <a:solidFill>
                  <a:srgbClr val="14171B"/>
                </a:solidFill>
                <a:latin typeface="Helvetica Neue"/>
              </a:rPr>
              <a:t>03 Cluster — group related nodes into topics, then group small topics into larger ones</a:t>
            </a:r>
          </a:p>
          <a:p>
            <a:pPr>
              <a:spcBef>
                <a:spcPts val="500"/>
              </a:spcBef>
              <a:spcAft>
                <a:spcPts val="300"/>
              </a:spcAft>
            </a:pPr>
            <a:r>
              <a:rPr sz="1200" b="0" i="0">
                <a:solidFill>
                  <a:srgbClr val="14171B"/>
                </a:solidFill>
                <a:latin typeface="Helvetica Neue"/>
              </a:rPr>
              <a:t>04 Summarise — the model writes a short report on each topic</a:t>
            </a:r>
          </a:p>
          <a:p>
            <a:pPr>
              <a:spcBef>
                <a:spcPts val="700"/>
              </a:spcBef>
              <a:spcAft>
                <a:spcPts val="400"/>
              </a:spcAft>
            </a:pPr>
            <a:r>
              <a:rPr sz="1200" b="0" i="0">
                <a:solidFill>
                  <a:srgbClr val="14171B"/>
                </a:solidFill>
                <a:latin typeface="Helvetica Neue"/>
              </a:rPr>
              <a:t>Two services: the Importer builds the graph, the Retriever answers questions against it.</a:t>
            </a:r>
          </a:p>
          <a:p>
            <a:pPr>
              <a:spcBef>
                <a:spcPts val="1200"/>
              </a:spcBef>
              <a:spcAft>
                <a:spcPts val="200"/>
              </a:spcAft>
            </a:pPr>
            <a:r>
              <a:rPr sz="1100" b="1" i="0">
                <a:solidFill>
                  <a:srgbClr val="4A5158"/>
                </a:solidFill>
                <a:latin typeface="Helvetica Neue"/>
              </a:rPr>
              <a:t>TO AN EXECUTIVE</a:t>
            </a:r>
          </a:p>
          <a:p>
            <a:pPr>
              <a:spcBef>
                <a:spcPts val="300"/>
              </a:spcBef>
              <a:spcAft>
                <a:spcPts val="300"/>
              </a:spcAft>
            </a:pPr>
            <a:r>
              <a:rPr sz="1200" b="0" i="0">
                <a:solidFill>
                  <a:srgbClr val="14171B"/>
                </a:solidFill>
                <a:latin typeface="Helvetica Neue"/>
              </a:rPr>
              <a:t>•  A queryable map of who and what across every document.</a:t>
            </a:r>
          </a:p>
          <a:p>
            <a:pPr>
              <a:spcBef>
                <a:spcPts val="300"/>
              </a:spcBef>
              <a:spcAft>
                <a:spcPts val="300"/>
              </a:spcAft>
            </a:pPr>
            <a:r>
              <a:rPr sz="1200" b="0" i="0">
                <a:solidFill>
                  <a:srgbClr val="14171B"/>
                </a:solidFill>
                <a:latin typeface="Helvetica Neue"/>
              </a:rPr>
              <a:t>•  Answers with citations to the page — so a person can check them.</a:t>
            </a:r>
          </a:p>
          <a:p>
            <a:pPr>
              <a:spcBef>
                <a:spcPts val="300"/>
              </a:spcBef>
              <a:spcAft>
                <a:spcPts val="300"/>
              </a:spcAft>
            </a:pPr>
            <a:r>
              <a:rPr sz="1200" b="0" i="0">
                <a:solidFill>
                  <a:srgbClr val="14171B"/>
                </a:solidFill>
                <a:latin typeface="Helvetica Neue"/>
              </a:rPr>
              <a:t>•  Runs where your data lives, including air-gapped.</a:t>
            </a:r>
          </a:p>
          <a:p>
            <a:pPr>
              <a:spcBef>
                <a:spcPts val="300"/>
              </a:spcBef>
              <a:spcAft>
                <a:spcPts val="300"/>
              </a:spcAft>
            </a:pPr>
            <a:r>
              <a:rPr sz="1200" b="0" i="0">
                <a:solidFill>
                  <a:srgbClr val="14171B"/>
                </a:solidFill>
                <a:latin typeface="Helvetica Neue"/>
              </a:rPr>
              <a:t>•  One database instead of three to secure and staff.</a:t>
            </a:r>
          </a:p>
          <a:p>
            <a:pPr>
              <a:spcBef>
                <a:spcPts val="700"/>
              </a:spcBef>
              <a:spcAft>
                <a:spcPts val="400"/>
              </a:spcAft>
            </a:pPr>
            <a:r>
              <a:rPr sz="1200" b="0" i="1">
                <a:solidFill>
                  <a:srgbClr val="1E3A5F"/>
                </a:solidFill>
                <a:latin typeface="Helvetica Neue"/>
              </a:rPr>
              <a:t>The executive question is never "how does the retriever work". It's what can my team ask on Monday that they couldn't ask on Friday — and can they trust the answer.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03</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 · CAPABILITY</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Five retrieval methods, five different questions</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600200"/>
          <a:ext cx="11057838" cy="2089404"/>
        </p:xfrm>
        <a:graphic>
          <a:graphicData uri="http://schemas.openxmlformats.org/drawingml/2006/table">
            <a:tbl>
              <a:tblPr firstRow="1" bandRow="1">
                <a:tableStyleId>{5C22544A-7EE6-4342-B048-85BDC9FD1C3A}</a:tableStyleId>
              </a:tblPr>
              <a:tblGrid>
                <a:gridCol w="3685946"/>
                <a:gridCol w="3685946"/>
                <a:gridCol w="3685946"/>
              </a:tblGrid>
              <a:tr h="265176">
                <a:tc>
                  <a:txBody>
                    <a:bodyPr wrap="square"/>
                    <a:lstStyle/>
                    <a:p>
                      <a:r>
                        <a:rPr sz="1000" b="1" i="0">
                          <a:solidFill>
                            <a:srgbClr val="4A5158"/>
                          </a:solidFill>
                          <a:latin typeface="Helvetica Neue"/>
                        </a:rPr>
                        <a:t>Method</a:t>
                      </a:r>
                    </a:p>
                  </a:txBody>
                  <a:tcPr marL="64008" marR="64008" marT="27432" marB="27432" anchor="t">
                    <a:solidFill>
                      <a:srgbClr val="E7EBF1"/>
                    </a:solidFill>
                  </a:tcPr>
                </a:tc>
                <a:tc>
                  <a:txBody>
                    <a:bodyPr wrap="square"/>
                    <a:lstStyle/>
                    <a:p>
                      <a:r>
                        <a:rPr sz="1000" b="1" i="0">
                          <a:solidFill>
                            <a:srgbClr val="4A5158"/>
                          </a:solidFill>
                          <a:latin typeface="Helvetica Neue"/>
                        </a:rPr>
                        <a:t>Answers</a:t>
                      </a:r>
                    </a:p>
                  </a:txBody>
                  <a:tcPr marL="64008" marR="64008" marT="27432" marB="27432" anchor="t">
                    <a:solidFill>
                      <a:srgbClr val="E7EBF1"/>
                    </a:solidFill>
                  </a:tcPr>
                </a:tc>
                <a:tc>
                  <a:txBody>
                    <a:bodyPr wrap="square"/>
                    <a:lstStyle/>
                    <a:p>
                      <a:r>
                        <a:rPr sz="1000" b="1" i="0">
                          <a:solidFill>
                            <a:srgbClr val="4A5158"/>
                          </a:solidFill>
                          <a:latin typeface="Helvetica Neue"/>
                        </a:rPr>
                        <a:t>Speed</a:t>
                      </a:r>
                    </a:p>
                  </a:txBody>
                  <a:tcPr marL="64008" marR="64008" marT="27432" marB="27432" anchor="t">
                    <a:solidFill>
                      <a:srgbClr val="E7EBF1"/>
                    </a:solidFill>
                  </a:tcPr>
                </a:tc>
              </a:tr>
              <a:tr h="466344">
                <a:tc>
                  <a:txBody>
                    <a:bodyPr wrap="square"/>
                    <a:lstStyle/>
                    <a:p>
                      <a:r>
                        <a:rPr sz="1100" b="0" i="0">
                          <a:solidFill>
                            <a:srgbClr val="14171B"/>
                          </a:solidFill>
                          <a:latin typeface="Helvetica Neue"/>
                        </a:rPr>
                        <a:t>Global</a:t>
                      </a:r>
                    </a:p>
                  </a:txBody>
                  <a:tcPr marL="64008" marR="64008" marT="27432" marB="27432" anchor="t">
                    <a:solidFill>
                      <a:srgbClr val="FBFAF8"/>
                    </a:solidFill>
                  </a:tcPr>
                </a:tc>
                <a:tc>
                  <a:txBody>
                    <a:bodyPr wrap="square"/>
                    <a:lstStyle/>
                    <a:p>
                      <a:r>
                        <a:rPr sz="1100" b="0" i="0">
                          <a:solidFill>
                            <a:srgbClr val="14171B"/>
                          </a:solidFill>
                          <a:latin typeface="Helvetica Neue"/>
                        </a:rPr>
                        <a:t>Themes across every document, using the topic reports</a:t>
                      </a:r>
                    </a:p>
                  </a:txBody>
                  <a:tcPr marL="64008" marR="64008" marT="27432" marB="27432" anchor="t">
                    <a:solidFill>
                      <a:srgbClr val="FBFAF8"/>
                    </a:solidFill>
                  </a:tcPr>
                </a:tc>
                <a:tc>
                  <a:txBody>
                    <a:bodyPr wrap="square"/>
                    <a:lstStyle/>
                    <a:p>
                      <a:r>
                        <a:rPr sz="1100" b="0" i="0">
                          <a:solidFill>
                            <a:srgbClr val="14171B"/>
                          </a:solidFill>
                          <a:latin typeface="Helvetica Neue"/>
                        </a:rPr>
                        <a:t>medium</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Local</a:t>
                      </a:r>
                    </a:p>
                  </a:txBody>
                  <a:tcPr marL="64008" marR="64008" marT="27432" marB="27432" anchor="t">
                    <a:solidFill>
                      <a:srgbClr val="FBFAF8"/>
                    </a:solidFill>
                  </a:tcPr>
                </a:tc>
                <a:tc>
                  <a:txBody>
                    <a:bodyPr wrap="square"/>
                    <a:lstStyle/>
                    <a:p>
                      <a:r>
                        <a:rPr sz="1100" b="0" i="0">
                          <a:solidFill>
                            <a:srgbClr val="14171B"/>
                          </a:solidFill>
                          <a:latin typeface="Helvetica Neue"/>
                        </a:rPr>
                        <a:t>One person or organisation, and everything linked to it</a:t>
                      </a:r>
                    </a:p>
                  </a:txBody>
                  <a:tcPr marL="64008" marR="64008" marT="27432" marB="27432" anchor="t">
                    <a:solidFill>
                      <a:srgbClr val="FBFAF8"/>
                    </a:solidFill>
                  </a:tcPr>
                </a:tc>
                <a:tc>
                  <a:txBody>
                    <a:bodyPr wrap="square"/>
                    <a:lstStyle/>
                    <a:p>
                      <a:r>
                        <a:rPr sz="1100" b="0" i="0">
                          <a:solidFill>
                            <a:srgbClr val="14171B"/>
                          </a:solidFill>
                          <a:latin typeface="Helvetica Neue"/>
                        </a:rPr>
                        <a:t>low</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Deep</a:t>
                      </a:r>
                    </a:p>
                  </a:txBody>
                  <a:tcPr marL="64008" marR="64008" marT="27432" marB="27432" anchor="t">
                    <a:solidFill>
                      <a:srgbClr val="FBFAF8"/>
                    </a:solidFill>
                  </a:tcPr>
                </a:tc>
                <a:tc>
                  <a:txBody>
                    <a:bodyPr wrap="square"/>
                    <a:lstStyle/>
                    <a:p>
                      <a:r>
                        <a:rPr sz="1100" b="0" i="0">
                          <a:solidFill>
                            <a:srgbClr val="14171B"/>
                          </a:solidFill>
                          <a:latin typeface="Helvetica Neue"/>
                        </a:rPr>
                        <a:t>Multi-step research; the model plans its own steps</a:t>
                      </a:r>
                    </a:p>
                  </a:txBody>
                  <a:tcPr marL="64008" marR="64008" marT="27432" marB="27432" anchor="t">
                    <a:solidFill>
                      <a:srgbClr val="FBFAF8"/>
                    </a:solidFill>
                  </a:tcPr>
                </a:tc>
                <a:tc>
                  <a:txBody>
                    <a:bodyPr wrap="square"/>
                    <a:lstStyle/>
                    <a:p>
                      <a:r>
                        <a:rPr sz="1100" b="0" i="0">
                          <a:solidFill>
                            <a:srgbClr val="14171B"/>
                          </a:solidFill>
                          <a:latin typeface="Helvetica Neue"/>
                        </a:rPr>
                        <a:t>higher</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Instant</a:t>
                      </a:r>
                    </a:p>
                  </a:txBody>
                  <a:tcPr marL="64008" marR="64008" marT="27432" marB="27432" anchor="t">
                    <a:solidFill>
                      <a:srgbClr val="FBFAF8"/>
                    </a:solidFill>
                  </a:tcPr>
                </a:tc>
                <a:tc>
                  <a:txBody>
                    <a:bodyPr wrap="square"/>
                    <a:lstStyle/>
                    <a:p>
                      <a:r>
                        <a:rPr sz="1100" b="0" i="0">
                          <a:solidFill>
                            <a:srgbClr val="14171B"/>
                          </a:solidFill>
                          <a:latin typeface="Helvetica Neue"/>
                        </a:rPr>
                        <a:t>Fast answers with references</a:t>
                      </a:r>
                    </a:p>
                  </a:txBody>
                  <a:tcPr marL="64008" marR="64008" marT="27432" marB="27432" anchor="t">
                    <a:solidFill>
                      <a:srgbClr val="FBFAF8"/>
                    </a:solidFill>
                  </a:tcPr>
                </a:tc>
                <a:tc>
                  <a:txBody>
                    <a:bodyPr wrap="square"/>
                    <a:lstStyle/>
                    <a:p>
                      <a:r>
                        <a:rPr sz="1100" b="0" i="0">
                          <a:solidFill>
                            <a:srgbClr val="14171B"/>
                          </a:solidFill>
                          <a:latin typeface="Helvetica Neue"/>
                        </a:rPr>
                        <a:t>low</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Custom</a:t>
                      </a:r>
                    </a:p>
                  </a:txBody>
                  <a:tcPr marL="64008" marR="64008" marT="27432" marB="27432" anchor="t">
                    <a:solidFill>
                      <a:srgbClr val="FBFAF8"/>
                    </a:solidFill>
                  </a:tcPr>
                </a:tc>
                <a:tc>
                  <a:txBody>
                    <a:bodyPr wrap="square"/>
                    <a:lstStyle/>
                    <a:p>
                      <a:r>
                        <a:rPr sz="1100" b="0" i="0">
                          <a:solidFill>
                            <a:srgbClr val="14171B"/>
                          </a:solidFill>
                          <a:latin typeface="Helvetica Neue"/>
                        </a:rPr>
                        <a:t>Your own rules, over your own data</a:t>
                      </a:r>
                    </a:p>
                  </a:txBody>
                  <a:tcPr marL="64008" marR="64008" marT="27432" marB="27432" anchor="t">
                    <a:solidFill>
                      <a:srgbClr val="FBFAF8"/>
                    </a:solidFill>
                  </a:tcPr>
                </a:tc>
                <a:tc>
                  <a:txBody>
                    <a:bodyPr wrap="square"/>
                    <a:lstStyle/>
                    <a:p>
                      <a:r>
                        <a:rPr sz="1100" b="0" i="0">
                          <a:solidFill>
                            <a:srgbClr val="14171B"/>
                          </a:solidFill>
                          <a:latin typeface="Helvetica Neue"/>
                        </a:rPr>
                        <a:t>varies</a:t>
                      </a:r>
                    </a:p>
                  </a:txBody>
                  <a:tcPr marL="64008" marR="64008" marT="27432" marB="27432" anchor="t">
                    <a:solidFill>
                      <a:srgbClr val="FBFAF8"/>
                    </a:solidFill>
                  </a:tcPr>
                </a:tc>
              </a:tr>
            </a:tbl>
          </a:graphicData>
        </a:graphic>
      </p:graphicFrame>
      <p:sp>
        <p:nvSpPr>
          <p:cNvPr id="7" name="TextBox 6"/>
          <p:cNvSpPr txBox="1"/>
          <p:nvPr/>
        </p:nvSpPr>
        <p:spPr>
          <a:xfrm>
            <a:off x="566928" y="3835908"/>
            <a:ext cx="11057839" cy="749808"/>
          </a:xfrm>
          <a:prstGeom prst="rect">
            <a:avLst/>
          </a:prstGeom>
          <a:noFill/>
        </p:spPr>
        <p:txBody>
          <a:bodyPr wrap="square" lIns="0" rIns="0" tIns="0" bIns="0">
            <a:spAutoFit/>
          </a:bodyPr>
          <a:lstStyle/>
          <a:p>
            <a:pPr>
              <a:spcBef>
                <a:spcPts val="0"/>
              </a:spcBef>
              <a:spcAft>
                <a:spcPts val="400"/>
              </a:spcAft>
            </a:pPr>
            <a:r>
              <a:rPr sz="1200" b="0" i="1">
                <a:solidFill>
                  <a:srgbClr val="1E3A5F"/>
                </a:solidFill>
                <a:latin typeface="Helvetica Neue"/>
              </a:rPr>
              <a:t>Global Search is the one nobody else ships, and it is available through the API only. Graph search needs a name to start from. A question like "which courts appear in these documents" gives it none. My own system falls back to plain similarity search on 11 of 35 questions for exactly that reason.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04</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 · FIT</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Where it fits — and where it doesn't</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941828"/>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STRONG FIT</a:t>
            </a:r>
          </a:p>
          <a:p>
            <a:pPr>
              <a:spcBef>
                <a:spcPts val="300"/>
              </a:spcBef>
              <a:spcAft>
                <a:spcPts val="300"/>
              </a:spcAft>
            </a:pPr>
            <a:r>
              <a:rPr sz="1200" b="0" i="0">
                <a:solidFill>
                  <a:srgbClr val="14171B"/>
                </a:solidFill>
                <a:latin typeface="Helvetica Neue"/>
              </a:rPr>
              <a:t>•  Relationships carry the meaning — investigations, compliance, supply chain.</a:t>
            </a:r>
          </a:p>
          <a:p>
            <a:pPr>
              <a:spcBef>
                <a:spcPts val="300"/>
              </a:spcBef>
              <a:spcAft>
                <a:spcPts val="300"/>
              </a:spcAft>
            </a:pPr>
            <a:r>
              <a:rPr sz="1200" b="0" i="0">
                <a:solidFill>
                  <a:srgbClr val="14171B"/>
                </a:solidFill>
                <a:latin typeface="Helvetica Neue"/>
              </a:rPr>
              <a:t>•  Answers span documents — two facts in two files must be joined.</a:t>
            </a:r>
          </a:p>
          <a:p>
            <a:pPr>
              <a:spcBef>
                <a:spcPts val="300"/>
              </a:spcBef>
              <a:spcAft>
                <a:spcPts val="300"/>
              </a:spcAft>
            </a:pPr>
            <a:r>
              <a:rPr sz="1200" b="0" i="0">
                <a:solidFill>
                  <a:srgbClr val="14171B"/>
                </a:solidFill>
                <a:latin typeface="Helvetica Neue"/>
              </a:rPr>
              <a:t>•  Questions about the whole set — counting and summarising, where similarity has nothing to rank.</a:t>
            </a:r>
          </a:p>
          <a:p>
            <a:pPr>
              <a:spcBef>
                <a:spcPts val="300"/>
              </a:spcBef>
              <a:spcAft>
                <a:spcPts val="300"/>
              </a:spcAft>
            </a:pPr>
            <a:r>
              <a:rPr sz="1200" b="0" i="0">
                <a:solidFill>
                  <a:srgbClr val="14171B"/>
                </a:solidFill>
                <a:latin typeface="Helvetica Neue"/>
              </a:rPr>
              <a:t>•  Data that cannot leave — regulated, privileged, classified.</a:t>
            </a:r>
          </a:p>
          <a:p>
            <a:pPr>
              <a:spcBef>
                <a:spcPts val="300"/>
              </a:spcBef>
              <a:spcAft>
                <a:spcPts val="300"/>
              </a:spcAft>
            </a:pPr>
            <a:r>
              <a:rPr sz="1200" b="0" i="0">
                <a:solidFill>
                  <a:srgbClr val="14171B"/>
                </a:solidFill>
                <a:latin typeface="Helvetica Neue"/>
              </a:rPr>
              <a:t>•  The same person or place appears under many names.</a:t>
            </a:r>
          </a:p>
          <a:p>
            <a:pPr>
              <a:spcBef>
                <a:spcPts val="1200"/>
              </a:spcBef>
              <a:spcAft>
                <a:spcPts val="200"/>
              </a:spcAft>
            </a:pPr>
            <a:r>
              <a:rPr sz="1100" b="1" i="0">
                <a:solidFill>
                  <a:srgbClr val="4A5158"/>
                </a:solidFill>
                <a:latin typeface="Helvetica Neue"/>
              </a:rPr>
              <a:t>NOT THE BEST FIT</a:t>
            </a:r>
          </a:p>
          <a:p>
            <a:pPr>
              <a:spcBef>
                <a:spcPts val="300"/>
              </a:spcBef>
              <a:spcAft>
                <a:spcPts val="300"/>
              </a:spcAft>
            </a:pPr>
            <a:r>
              <a:rPr sz="1200" b="0" i="0">
                <a:solidFill>
                  <a:srgbClr val="14171B"/>
                </a:solidFill>
                <a:latin typeface="Helvetica Neue"/>
              </a:rPr>
              <a:t>•  Purely conceptual questions. There is no name to start from, so plain meaning-based search (cosine) wins.</a:t>
            </a:r>
          </a:p>
          <a:p>
            <a:pPr>
              <a:spcBef>
                <a:spcPts val="300"/>
              </a:spcBef>
              <a:spcAft>
                <a:spcPts val="300"/>
              </a:spcAft>
            </a:pPr>
            <a:r>
              <a:rPr sz="1200" b="0" i="0">
                <a:solidFill>
                  <a:srgbClr val="14171B"/>
                </a:solidFill>
                <a:latin typeface="Helvetica Neue"/>
              </a:rPr>
              <a:t>•  Small, uniform document sets. One author and one vocabulary, so the extra machinery earns nothing.</a:t>
            </a:r>
          </a:p>
          <a:p>
            <a:pPr>
              <a:spcBef>
                <a:spcPts val="300"/>
              </a:spcBef>
              <a:spcAft>
                <a:spcPts val="300"/>
              </a:spcAft>
            </a:pPr>
            <a:r>
              <a:rPr sz="1200" b="0" i="0">
                <a:solidFill>
                  <a:srgbClr val="14171B"/>
                </a:solidFill>
                <a:latin typeface="Helvetica Neue"/>
              </a:rPr>
              <a:t>•  Simple lookup. If every question is "find the passage about X", a plain vector index is the answer.</a:t>
            </a:r>
          </a:p>
          <a:p>
            <a:pPr>
              <a:spcBef>
                <a:spcPts val="700"/>
              </a:spcBef>
              <a:spcAft>
                <a:spcPts val="400"/>
              </a:spcAft>
            </a:pPr>
            <a:r>
              <a:rPr sz="1200" b="0" i="1">
                <a:solidFill>
                  <a:srgbClr val="1E3A5F"/>
                </a:solidFill>
                <a:latin typeface="Helvetica Neue"/>
              </a:rPr>
              <a:t>The Importer has a setting, rag_mode: "vector_rag", that skips entity extraction altogether. The product already agrees with this column.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05</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 · POSITIONING</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a prospect is actually weighing</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600200"/>
          <a:ext cx="11057838" cy="2299716"/>
        </p:xfrm>
        <a:graphic>
          <a:graphicData uri="http://schemas.openxmlformats.org/drawingml/2006/table">
            <a:tbl>
              <a:tblPr firstRow="1" bandRow="1">
                <a:tableStyleId>{5C22544A-7EE6-4342-B048-85BDC9FD1C3A}</a:tableStyleId>
              </a:tblPr>
              <a:tblGrid>
                <a:gridCol w="3685946"/>
                <a:gridCol w="3685946"/>
                <a:gridCol w="3685946"/>
              </a:tblGrid>
              <a:tr h="265176">
                <a:tc>
                  <a:txBody>
                    <a:bodyPr wrap="square"/>
                    <a:lstStyle/>
                    <a:p>
                      <a:r>
                        <a:rPr sz="1000" b="1" i="0">
                          <a:solidFill>
                            <a:srgbClr val="4A5158"/>
                          </a:solidFill>
                          <a:latin typeface="Helvetica Neue"/>
                        </a:rPr>
                        <a:t>Alternative</a:t>
                      </a:r>
                    </a:p>
                  </a:txBody>
                  <a:tcPr marL="64008" marR="64008" marT="27432" marB="27432" anchor="t">
                    <a:solidFill>
                      <a:srgbClr val="E7EBF1"/>
                    </a:solidFill>
                  </a:tcPr>
                </a:tc>
                <a:tc>
                  <a:txBody>
                    <a:bodyPr wrap="square"/>
                    <a:lstStyle/>
                    <a:p>
                      <a:r>
                        <a:rPr sz="1000" b="1" i="0">
                          <a:solidFill>
                            <a:srgbClr val="4A5158"/>
                          </a:solidFill>
                          <a:latin typeface="Helvetica Neue"/>
                        </a:rPr>
                        <a:t>Its appeal</a:t>
                      </a:r>
                    </a:p>
                  </a:txBody>
                  <a:tcPr marL="64008" marR="64008" marT="27432" marB="27432" anchor="t">
                    <a:solidFill>
                      <a:srgbClr val="E7EBF1"/>
                    </a:solidFill>
                  </a:tcPr>
                </a:tc>
                <a:tc>
                  <a:txBody>
                    <a:bodyPr wrap="square"/>
                    <a:lstStyle/>
                    <a:p>
                      <a:r>
                        <a:rPr sz="1000" b="1" i="0">
                          <a:solidFill>
                            <a:srgbClr val="4A5158"/>
                          </a:solidFill>
                          <a:latin typeface="Helvetica Neue"/>
                        </a:rPr>
                        <a:t>Where it stops helping</a:t>
                      </a:r>
                    </a:p>
                  </a:txBody>
                  <a:tcPr marL="64008" marR="64008" marT="27432" marB="27432" anchor="t">
                    <a:solidFill>
                      <a:srgbClr val="E7EBF1"/>
                    </a:solidFill>
                  </a:tcPr>
                </a:tc>
              </a:tr>
              <a:tr h="466344">
                <a:tc>
                  <a:txBody>
                    <a:bodyPr wrap="square"/>
                    <a:lstStyle/>
                    <a:p>
                      <a:r>
                        <a:rPr sz="1100" b="0" i="0">
                          <a:solidFill>
                            <a:srgbClr val="14171B"/>
                          </a:solidFill>
                          <a:latin typeface="Helvetica Neue"/>
                        </a:rPr>
                        <a:t>Vector DB alone</a:t>
                      </a:r>
                    </a:p>
                  </a:txBody>
                  <a:tcPr marL="64008" marR="64008" marT="27432" marB="27432" anchor="t">
                    <a:solidFill>
                      <a:srgbClr val="FBFAF8"/>
                    </a:solidFill>
                  </a:tcPr>
                </a:tc>
                <a:tc>
                  <a:txBody>
                    <a:bodyPr wrap="square"/>
                    <a:lstStyle/>
                    <a:p>
                      <a:r>
                        <a:rPr sz="1100" b="0" i="0">
                          <a:solidFill>
                            <a:srgbClr val="14171B"/>
                          </a:solidFill>
                          <a:latin typeface="Helvetica Neue"/>
                        </a:rPr>
                        <a:t>Simplest thing that works</a:t>
                      </a:r>
                    </a:p>
                  </a:txBody>
                  <a:tcPr marL="64008" marR="64008" marT="27432" marB="27432" anchor="t">
                    <a:solidFill>
                      <a:srgbClr val="FBFAF8"/>
                    </a:solidFill>
                  </a:tcPr>
                </a:tc>
                <a:tc>
                  <a:txBody>
                    <a:bodyPr wrap="square"/>
                    <a:lstStyle/>
                    <a:p>
                      <a:r>
                        <a:rPr sz="1100" b="0" i="0">
                          <a:solidFill>
                            <a:srgbClr val="14171B"/>
                          </a:solidFill>
                          <a:latin typeface="Helvetica Neue"/>
                        </a:rPr>
                        <a:t>No structure. It cannot answer "both X and Y", and it cannot count.</a:t>
                      </a:r>
                    </a:p>
                  </a:txBody>
                  <a:tcPr marL="64008" marR="64008" marT="27432" marB="27432" anchor="t">
                    <a:solidFill>
                      <a:srgbClr val="FBFAF8"/>
                    </a:solidFill>
                  </a:tcPr>
                </a:tc>
              </a:tr>
              <a:tr h="635508">
                <a:tc>
                  <a:txBody>
                    <a:bodyPr wrap="square"/>
                    <a:lstStyle/>
                    <a:p>
                      <a:r>
                        <a:rPr sz="1100" b="0" i="0">
                          <a:solidFill>
                            <a:srgbClr val="14171B"/>
                          </a:solidFill>
                          <a:latin typeface="Helvetica Neue"/>
                        </a:rPr>
                        <a:t>Neo4j + LangChain</a:t>
                      </a:r>
                    </a:p>
                  </a:txBody>
                  <a:tcPr marL="64008" marR="64008" marT="27432" marB="27432" anchor="t">
                    <a:solidFill>
                      <a:srgbClr val="FBFAF8"/>
                    </a:solidFill>
                  </a:tcPr>
                </a:tc>
                <a:tc>
                  <a:txBody>
                    <a:bodyPr wrap="square"/>
                    <a:lstStyle/>
                    <a:p>
                      <a:r>
                        <a:rPr sz="1100" b="0" i="0">
                          <a:solidFill>
                            <a:srgbClr val="14171B"/>
                          </a:solidFill>
                          <a:latin typeface="Helvetica Neue"/>
                        </a:rPr>
                        <a:t>Mature engine, large hiring pool</a:t>
                      </a:r>
                    </a:p>
                  </a:txBody>
                  <a:tcPr marL="64008" marR="64008" marT="27432" marB="27432" anchor="t">
                    <a:solidFill>
                      <a:srgbClr val="FBFAF8"/>
                    </a:solidFill>
                  </a:tcPr>
                </a:tc>
                <a:tc>
                  <a:txBody>
                    <a:bodyPr wrap="square"/>
                    <a:lstStyle/>
                    <a:p>
                      <a:r>
                        <a:rPr sz="1100" b="0" i="0">
                          <a:solidFill>
                            <a:srgbClr val="14171B"/>
                          </a:solidFill>
                          <a:latin typeface="Helvetica Neue"/>
                        </a:rPr>
                        <a:t>You assemble the RAG layer yourself. Vectors live in a second database, and the join between the two is where bugs live.</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Microsoft GraphRAG</a:t>
                      </a:r>
                    </a:p>
                  </a:txBody>
                  <a:tcPr marL="64008" marR="64008" marT="27432" marB="27432" anchor="t">
                    <a:solidFill>
                      <a:srgbClr val="FBFAF8"/>
                    </a:solidFill>
                  </a:tcPr>
                </a:tc>
                <a:tc>
                  <a:txBody>
                    <a:bodyPr wrap="square"/>
                    <a:lstStyle/>
                    <a:p>
                      <a:r>
                        <a:rPr sz="1100" b="0" i="0">
                          <a:solidFill>
                            <a:srgbClr val="14171B"/>
                          </a:solidFill>
                          <a:latin typeface="Helvetica Neue"/>
                        </a:rPr>
                        <a:t>Where the idea was published</a:t>
                      </a:r>
                    </a:p>
                  </a:txBody>
                  <a:tcPr marL="64008" marR="64008" marT="27432" marB="27432" anchor="t">
                    <a:solidFill>
                      <a:srgbClr val="FBFAF8"/>
                    </a:solidFill>
                  </a:tcPr>
                </a:tc>
                <a:tc>
                  <a:txBody>
                    <a:bodyPr wrap="square"/>
                    <a:lstStyle/>
                    <a:p>
                      <a:r>
                        <a:rPr sz="1100" b="0" i="0">
                          <a:solidFill>
                            <a:srgbClr val="14171B"/>
                          </a:solidFill>
                          <a:latin typeface="Helvetica Neue"/>
                        </a:rPr>
                        <a:t>A library, not a service. You operate all of it.</a:t>
                      </a:r>
                    </a:p>
                  </a:txBody>
                  <a:tcPr marL="64008" marR="64008" marT="27432" marB="27432" anchor="t">
                    <a:solidFill>
                      <a:srgbClr val="FBFAF8"/>
                    </a:solidFill>
                  </a:tcPr>
                </a:tc>
              </a:tr>
              <a:tr h="635508">
                <a:tc>
                  <a:txBody>
                    <a:bodyPr wrap="square"/>
                    <a:lstStyle/>
                    <a:p>
                      <a:r>
                        <a:rPr sz="1100" b="0" i="0">
                          <a:solidFill>
                            <a:srgbClr val="14171B"/>
                          </a:solidFill>
                          <a:latin typeface="Helvetica Neue"/>
                        </a:rPr>
                        <a:t>Off-the-shelf frameworks</a:t>
                      </a:r>
                    </a:p>
                  </a:txBody>
                  <a:tcPr marL="64008" marR="64008" marT="27432" marB="27432" anchor="t">
                    <a:solidFill>
                      <a:srgbClr val="FBFAF8"/>
                    </a:solidFill>
                  </a:tcPr>
                </a:tc>
                <a:tc>
                  <a:txBody>
                    <a:bodyPr wrap="square"/>
                    <a:lstStyle/>
                    <a:p>
                      <a:r>
                        <a:rPr sz="1100" b="0" i="0">
                          <a:solidFill>
                            <a:srgbClr val="14171B"/>
                          </a:solidFill>
                          <a:latin typeface="Helvetica Neue"/>
                        </a:rPr>
                        <a:t>Fastest path to a demo</a:t>
                      </a:r>
                    </a:p>
                  </a:txBody>
                  <a:tcPr marL="64008" marR="64008" marT="27432" marB="27432" anchor="t">
                    <a:solidFill>
                      <a:srgbClr val="FBFAF8"/>
                    </a:solidFill>
                  </a:tcPr>
                </a:tc>
                <a:tc>
                  <a:txBody>
                    <a:bodyPr wrap="square"/>
                    <a:lstStyle/>
                    <a:p>
                      <a:r>
                        <a:rPr sz="1100" b="0" i="0">
                          <a:solidFill>
                            <a:srgbClr val="14171B"/>
                          </a:solidFill>
                          <a:latin typeface="Helvetica Neue"/>
                        </a:rPr>
                        <a:t>The demo is the easy part. Matching the same person across documents, and re-loading changed documents, are where the year goes.</a:t>
                      </a:r>
                    </a:p>
                  </a:txBody>
                  <a:tcPr marL="64008" marR="64008" marT="27432" marB="27432" anchor="t">
                    <a:solidFill>
                      <a:srgbClr val="FBFAF8"/>
                    </a:solidFill>
                  </a:tcPr>
                </a:tc>
              </a:tr>
            </a:tbl>
          </a:graphicData>
        </a:graphic>
      </p:graphicFrame>
      <p:sp>
        <p:nvSpPr>
          <p:cNvPr id="7" name="TextBox 6"/>
          <p:cNvSpPr txBox="1"/>
          <p:nvPr/>
        </p:nvSpPr>
        <p:spPr>
          <a:xfrm>
            <a:off x="566928" y="4046220"/>
            <a:ext cx="11057839" cy="551688"/>
          </a:xfrm>
          <a:prstGeom prst="rect">
            <a:avLst/>
          </a:prstGeom>
          <a:noFill/>
        </p:spPr>
        <p:txBody>
          <a:bodyPr wrap="square" lIns="0" rIns="0" tIns="0" bIns="0">
            <a:spAutoFit/>
          </a:bodyPr>
          <a:lstStyle/>
          <a:p>
            <a:pPr>
              <a:spcBef>
                <a:spcPts val="0"/>
              </a:spcBef>
              <a:spcAft>
                <a:spcPts val="400"/>
              </a:spcAft>
            </a:pPr>
            <a:r>
              <a:rPr sz="1200" b="0" i="0">
                <a:solidFill>
                  <a:srgbClr val="A6382C"/>
                </a:solidFill>
                <a:latin typeface="Helvetica Neue"/>
              </a:rPr>
              <a:t>What I won't claim: I haven't benchmarked ArangoDB against Neo4j or Neptune. ArangoDB is written in C++ rather than Java, so there are no garbage-collection pauses and the memory floor is lower. My 30–91 ms graph queries are consistent with that. They are not proof of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06</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SOLUTION · PROBLEM</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The same person, written eight ways</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617724"/>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190 unsealed filings from Giuffre v. Maxwell. Depositions, exhibits and motions, written by opposing lawyers, across many authors and many years.</a:t>
            </a:r>
          </a:p>
          <a:p>
            <a:pPr>
              <a:spcBef>
                <a:spcPts val="1200"/>
              </a:spcBef>
              <a:spcAft>
                <a:spcPts val="200"/>
              </a:spcAft>
            </a:pPr>
            <a:r>
              <a:rPr sz="1100" b="1" i="0">
                <a:solidFill>
                  <a:srgbClr val="4A5158"/>
                </a:solidFill>
                <a:latin typeface="Helvetica Neue"/>
              </a:rPr>
              <a:t>WHY THESE DOCUMENTS</a:t>
            </a:r>
          </a:p>
          <a:p>
            <a:pPr>
              <a:spcBef>
                <a:spcPts val="700"/>
              </a:spcBef>
              <a:spcAft>
                <a:spcPts val="400"/>
              </a:spcAft>
            </a:pPr>
            <a:r>
              <a:rPr sz="1200" b="0" i="0">
                <a:solidFill>
                  <a:srgbClr val="14171B"/>
                </a:solidFill>
                <a:latin typeface="Helvetica Neue"/>
              </a:rPr>
              <a:t>The same name is written differently depending on the document: RECAREY, JOSEPH in a case caption, Det. Recarey in a transcript, Mr. Recarey in a brief.</a:t>
            </a:r>
          </a:p>
          <a:p>
            <a:pPr>
              <a:spcBef>
                <a:spcPts val="700"/>
              </a:spcBef>
              <a:spcAft>
                <a:spcPts val="400"/>
              </a:spcAft>
            </a:pPr>
            <a:r>
              <a:rPr sz="1200" b="0" i="0">
                <a:solidFill>
                  <a:srgbClr val="14171B"/>
                </a:solidFill>
                <a:latin typeface="Helvetica Neue"/>
              </a:rPr>
              <a:t>Search one spelling and you reach only the evidence that uses that spelling.</a:t>
            </a:r>
          </a:p>
          <a:p>
            <a:pPr>
              <a:spcBef>
                <a:spcPts val="1200"/>
              </a:spcBef>
              <a:spcAft>
                <a:spcPts val="200"/>
              </a:spcAft>
            </a:pPr>
            <a:r>
              <a:rPr sz="1100" b="1" i="0">
                <a:solidFill>
                  <a:srgbClr val="4A5158"/>
                </a:solidFill>
                <a:latin typeface="Helvetica Neue"/>
              </a:rPr>
              <a:t>THE COUNTER-CASE</a:t>
            </a:r>
          </a:p>
          <a:p>
            <a:pPr>
              <a:spcBef>
                <a:spcPts val="700"/>
              </a:spcBef>
              <a:spcAft>
                <a:spcPts val="400"/>
              </a:spcAft>
            </a:pPr>
            <a:r>
              <a:rPr sz="1200" b="0" i="0">
                <a:solidFill>
                  <a:srgbClr val="14171B"/>
                </a:solidFill>
                <a:latin typeface="Helvetica Neue"/>
              </a:rPr>
              <a:t>Jane Doe, Jane Doe 2, Jane Doe 3 — near-identical to any name-matching algorithm, but three different people.</a:t>
            </a:r>
          </a:p>
          <a:p>
            <a:pPr>
              <a:spcBef>
                <a:spcPts val="700"/>
              </a:spcBef>
              <a:spcAft>
                <a:spcPts val="400"/>
              </a:spcAft>
            </a:pPr>
            <a:r>
              <a:rPr sz="1200" b="0" i="0">
                <a:solidFill>
                  <a:srgbClr val="14171B"/>
                </a:solidFill>
                <a:latin typeface="Helvetica Neue"/>
              </a:rPr>
              <a:t>A system that merges them is worse than one that merges nothing.</a:t>
            </a:r>
          </a:p>
          <a:p>
            <a:pPr>
              <a:spcBef>
                <a:spcPts val="700"/>
              </a:spcBef>
              <a:spcAft>
                <a:spcPts val="400"/>
              </a:spcAft>
            </a:pPr>
            <a:r>
              <a:rPr sz="1200" b="0" i="1">
                <a:solidFill>
                  <a:srgbClr val="1E3A5F"/>
                </a:solidFill>
                <a:latin typeface="Helvetica Neue"/>
              </a:rPr>
              <a:t>Unsealed public record. Every model runs on my own machine. Nothing was sent to an outside service.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07</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SOLUTION · ARCHITECTURE</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Data model</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600200"/>
          <a:ext cx="11057836" cy="2386584"/>
        </p:xfrm>
        <a:graphic>
          <a:graphicData uri="http://schemas.openxmlformats.org/drawingml/2006/table">
            <a:tbl>
              <a:tblPr firstRow="1" bandRow="1">
                <a:tableStyleId>{5C22544A-7EE6-4342-B048-85BDC9FD1C3A}</a:tableStyleId>
              </a:tblPr>
              <a:tblGrid>
                <a:gridCol w="2764459"/>
                <a:gridCol w="2764459"/>
                <a:gridCol w="2764459"/>
                <a:gridCol w="2764459"/>
              </a:tblGrid>
              <a:tr h="265176">
                <a:tc>
                  <a:txBody>
                    <a:bodyPr wrap="square"/>
                    <a:lstStyle/>
                    <a:p>
                      <a:r>
                        <a:rPr sz="1000" b="1" i="0">
                          <a:solidFill>
                            <a:srgbClr val="4A5158"/>
                          </a:solidFill>
                          <a:latin typeface="Helvetica Neue"/>
                        </a:rPr>
                        <a:t>Collection</a:t>
                      </a:r>
                    </a:p>
                  </a:txBody>
                  <a:tcPr marL="64008" marR="64008" marT="27432" marB="27432" anchor="t">
                    <a:solidFill>
                      <a:srgbClr val="E7EBF1"/>
                    </a:solidFill>
                  </a:tcPr>
                </a:tc>
                <a:tc>
                  <a:txBody>
                    <a:bodyPr wrap="square"/>
                    <a:lstStyle/>
                    <a:p>
                      <a:r>
                        <a:rPr sz="1000" b="1" i="0">
                          <a:solidFill>
                            <a:srgbClr val="4A5158"/>
                          </a:solidFill>
                          <a:latin typeface="Helvetica Neue"/>
                        </a:rPr>
                        <a:t>Type</a:t>
                      </a:r>
                    </a:p>
                  </a:txBody>
                  <a:tcPr marL="64008" marR="64008" marT="27432" marB="27432" anchor="t">
                    <a:solidFill>
                      <a:srgbClr val="E7EBF1"/>
                    </a:solidFill>
                  </a:tcPr>
                </a:tc>
                <a:tc>
                  <a:txBody>
                    <a:bodyPr wrap="square"/>
                    <a:lstStyle/>
                    <a:p>
                      <a:r>
                        <a:rPr sz="1000" b="1" i="0">
                          <a:solidFill>
                            <a:srgbClr val="4A5158"/>
                          </a:solidFill>
                          <a:latin typeface="Helvetica Neue"/>
                        </a:rPr>
                        <a:t>Count</a:t>
                      </a:r>
                    </a:p>
                  </a:txBody>
                  <a:tcPr marL="64008" marR="64008" marT="27432" marB="27432" anchor="t">
                    <a:solidFill>
                      <a:srgbClr val="E7EBF1"/>
                    </a:solidFill>
                  </a:tcPr>
                </a:tc>
                <a:tc>
                  <a:txBody>
                    <a:bodyPr wrap="square"/>
                    <a:lstStyle/>
                    <a:p>
                      <a:r>
                        <a:rPr sz="1000" b="1" i="0">
                          <a:solidFill>
                            <a:srgbClr val="4A5158"/>
                          </a:solidFill>
                          <a:latin typeface="Helvetica Neue"/>
                        </a:rPr>
                        <a:t>Purpose</a:t>
                      </a:r>
                    </a:p>
                  </a:txBody>
                  <a:tcPr marL="64008" marR="64008" marT="27432" marB="27432" anchor="t">
                    <a:solidFill>
                      <a:srgbClr val="E7EBF1"/>
                    </a:solidFill>
                  </a:tcPr>
                </a:tc>
              </a:tr>
              <a:tr h="297180">
                <a:tc>
                  <a:txBody>
                    <a:bodyPr wrap="square"/>
                    <a:lstStyle/>
                    <a:p>
                      <a:r>
                        <a:rPr sz="1100" b="0" i="0">
                          <a:solidFill>
                            <a:srgbClr val="14171B"/>
                          </a:solidFill>
                          <a:latin typeface="Helvetica Neue"/>
                        </a:rPr>
                        <a:t>je_chunks</a:t>
                      </a:r>
                    </a:p>
                  </a:txBody>
                  <a:tcPr marL="64008" marR="64008" marT="27432" marB="27432" anchor="t">
                    <a:solidFill>
                      <a:srgbClr val="FBFAF8"/>
                    </a:solidFill>
                  </a:tcPr>
                </a:tc>
                <a:tc>
                  <a:txBody>
                    <a:bodyPr wrap="square"/>
                    <a:lstStyle/>
                    <a:p>
                      <a:r>
                        <a:rPr sz="1100" b="0" i="0">
                          <a:solidFill>
                            <a:srgbClr val="14171B"/>
                          </a:solidFill>
                          <a:latin typeface="Helvetica Neue"/>
                        </a:rPr>
                        <a:t>doc</a:t>
                      </a:r>
                    </a:p>
                  </a:txBody>
                  <a:tcPr marL="64008" marR="64008" marT="27432" marB="27432" anchor="t">
                    <a:solidFill>
                      <a:srgbClr val="FBFAF8"/>
                    </a:solidFill>
                  </a:tcPr>
                </a:tc>
                <a:tc>
                  <a:txBody>
                    <a:bodyPr wrap="square"/>
                    <a:lstStyle/>
                    <a:p>
                      <a:r>
                        <a:rPr sz="1100" b="0" i="0">
                          <a:solidFill>
                            <a:srgbClr val="14171B"/>
                          </a:solidFill>
                          <a:latin typeface="Helvetica Neue"/>
                        </a:rPr>
                        <a:t>3,338</a:t>
                      </a:r>
                    </a:p>
                  </a:txBody>
                  <a:tcPr marL="64008" marR="64008" marT="27432" marB="27432" anchor="t">
                    <a:solidFill>
                      <a:srgbClr val="FBFAF8"/>
                    </a:solidFill>
                  </a:tcPr>
                </a:tc>
                <a:tc>
                  <a:txBody>
                    <a:bodyPr wrap="square"/>
                    <a:lstStyle/>
                    <a:p>
                      <a:r>
                        <a:rPr sz="1100" b="0" i="0">
                          <a:solidFill>
                            <a:srgbClr val="14171B"/>
                          </a:solidFill>
                          <a:latin typeface="Helvetica Neue"/>
                        </a:rPr>
                        <a:t>One row per passage of text</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je_raw_extractions</a:t>
                      </a:r>
                    </a:p>
                  </a:txBody>
                  <a:tcPr marL="64008" marR="64008" marT="27432" marB="27432" anchor="t">
                    <a:solidFill>
                      <a:srgbClr val="FBFAF8"/>
                    </a:solidFill>
                  </a:tcPr>
                </a:tc>
                <a:tc>
                  <a:txBody>
                    <a:bodyPr wrap="square"/>
                    <a:lstStyle/>
                    <a:p>
                      <a:r>
                        <a:rPr sz="1100" b="0" i="0">
                          <a:solidFill>
                            <a:srgbClr val="14171B"/>
                          </a:solidFill>
                          <a:latin typeface="Helvetica Neue"/>
                        </a:rPr>
                        <a:t>doc</a:t>
                      </a:r>
                    </a:p>
                  </a:txBody>
                  <a:tcPr marL="64008" marR="64008" marT="27432" marB="27432" anchor="t">
                    <a:solidFill>
                      <a:srgbClr val="FBFAF8"/>
                    </a:solidFill>
                  </a:tcPr>
                </a:tc>
                <a:tc>
                  <a:txBody>
                    <a:bodyPr wrap="square"/>
                    <a:lstStyle/>
                    <a:p>
                      <a:r>
                        <a:rPr sz="1100" b="0" i="0">
                          <a:solidFill>
                            <a:srgbClr val="14171B"/>
                          </a:solidFill>
                          <a:latin typeface="Helvetica Neue"/>
                        </a:rPr>
                        <a:t>3,338</a:t>
                      </a:r>
                    </a:p>
                  </a:txBody>
                  <a:tcPr marL="64008" marR="64008" marT="27432" marB="27432" anchor="t">
                    <a:solidFill>
                      <a:srgbClr val="FBFAF8"/>
                    </a:solidFill>
                  </a:tcPr>
                </a:tc>
                <a:tc>
                  <a:txBody>
                    <a:bodyPr wrap="square"/>
                    <a:lstStyle/>
                    <a:p>
                      <a:r>
                        <a:rPr sz="1100" b="0" i="0">
                          <a:solidFill>
                            <a:srgbClr val="14171B"/>
                          </a:solidFill>
                          <a:latin typeface="Helvetica Neue"/>
                        </a:rPr>
                        <a:t>The model's raw output, kept for audit</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je_entities</a:t>
                      </a:r>
                    </a:p>
                  </a:txBody>
                  <a:tcPr marL="64008" marR="64008" marT="27432" marB="27432" anchor="t">
                    <a:solidFill>
                      <a:srgbClr val="FBFAF8"/>
                    </a:solidFill>
                  </a:tcPr>
                </a:tc>
                <a:tc>
                  <a:txBody>
                    <a:bodyPr wrap="square"/>
                    <a:lstStyle/>
                    <a:p>
                      <a:r>
                        <a:rPr sz="1100" b="0" i="0">
                          <a:solidFill>
                            <a:srgbClr val="14171B"/>
                          </a:solidFill>
                          <a:latin typeface="Helvetica Neue"/>
                        </a:rPr>
                        <a:t>doc</a:t>
                      </a:r>
                    </a:p>
                  </a:txBody>
                  <a:tcPr marL="64008" marR="64008" marT="27432" marB="27432" anchor="t">
                    <a:solidFill>
                      <a:srgbClr val="FBFAF8"/>
                    </a:solidFill>
                  </a:tcPr>
                </a:tc>
                <a:tc>
                  <a:txBody>
                    <a:bodyPr wrap="square"/>
                    <a:lstStyle/>
                    <a:p>
                      <a:r>
                        <a:rPr sz="1100" b="0" i="0">
                          <a:solidFill>
                            <a:srgbClr val="14171B"/>
                          </a:solidFill>
                          <a:latin typeface="Helvetica Neue"/>
                        </a:rPr>
                        <a:t>2,014</a:t>
                      </a:r>
                    </a:p>
                  </a:txBody>
                  <a:tcPr marL="64008" marR="64008" marT="27432" marB="27432" anchor="t">
                    <a:solidFill>
                      <a:srgbClr val="FBFAF8"/>
                    </a:solidFill>
                  </a:tcPr>
                </a:tc>
                <a:tc>
                  <a:txBody>
                    <a:bodyPr wrap="square"/>
                    <a:lstStyle/>
                    <a:p>
                      <a:r>
                        <a:rPr sz="1100" b="0" i="0">
                          <a:solidFill>
                            <a:srgbClr val="14171B"/>
                          </a:solidFill>
                          <a:latin typeface="Helvetica Neue"/>
                        </a:rPr>
                        <a:t>person · organization · location · facility · court</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je_mentioned_in</a:t>
                      </a:r>
                    </a:p>
                  </a:txBody>
                  <a:tcPr marL="64008" marR="64008" marT="27432" marB="27432" anchor="t">
                    <a:solidFill>
                      <a:srgbClr val="FBFAF8"/>
                    </a:solidFill>
                  </a:tcPr>
                </a:tc>
                <a:tc>
                  <a:txBody>
                    <a:bodyPr wrap="square"/>
                    <a:lstStyle/>
                    <a:p>
                      <a:r>
                        <a:rPr sz="1100" b="0" i="0">
                          <a:solidFill>
                            <a:srgbClr val="14171B"/>
                          </a:solidFill>
                          <a:latin typeface="Helvetica Neue"/>
                        </a:rPr>
                        <a:t>edge</a:t>
                      </a:r>
                    </a:p>
                  </a:txBody>
                  <a:tcPr marL="64008" marR="64008" marT="27432" marB="27432" anchor="t">
                    <a:solidFill>
                      <a:srgbClr val="FBFAF8"/>
                    </a:solidFill>
                  </a:tcPr>
                </a:tc>
                <a:tc>
                  <a:txBody>
                    <a:bodyPr wrap="square"/>
                    <a:lstStyle/>
                    <a:p>
                      <a:r>
                        <a:rPr sz="1100" b="0" i="0">
                          <a:solidFill>
                            <a:srgbClr val="14171B"/>
                          </a:solidFill>
                          <a:latin typeface="Helvetica Neue"/>
                        </a:rPr>
                        <a:t>19,009</a:t>
                      </a:r>
                    </a:p>
                  </a:txBody>
                  <a:tcPr marL="64008" marR="64008" marT="27432" marB="27432" anchor="t">
                    <a:solidFill>
                      <a:srgbClr val="FBFAF8"/>
                    </a:solidFill>
                  </a:tcPr>
                </a:tc>
                <a:tc>
                  <a:txBody>
                    <a:bodyPr wrap="square"/>
                    <a:lstStyle/>
                    <a:p>
                      <a:r>
                        <a:rPr sz="1100" b="0" i="0">
                          <a:solidFill>
                            <a:srgbClr val="14171B"/>
                          </a:solidFill>
                          <a:latin typeface="Helvetica Neue"/>
                        </a:rPr>
                        <a:t>Which name appears in which passage</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je_same_as</a:t>
                      </a:r>
                    </a:p>
                  </a:txBody>
                  <a:tcPr marL="64008" marR="64008" marT="27432" marB="27432" anchor="t">
                    <a:solidFill>
                      <a:srgbClr val="FBFAF8"/>
                    </a:solidFill>
                  </a:tcPr>
                </a:tc>
                <a:tc>
                  <a:txBody>
                    <a:bodyPr wrap="square"/>
                    <a:lstStyle/>
                    <a:p>
                      <a:r>
                        <a:rPr sz="1100" b="0" i="0">
                          <a:solidFill>
                            <a:srgbClr val="14171B"/>
                          </a:solidFill>
                          <a:latin typeface="Helvetica Neue"/>
                        </a:rPr>
                        <a:t>edge</a:t>
                      </a:r>
                    </a:p>
                  </a:txBody>
                  <a:tcPr marL="64008" marR="64008" marT="27432" marB="27432" anchor="t">
                    <a:solidFill>
                      <a:srgbClr val="FBFAF8"/>
                    </a:solidFill>
                  </a:tcPr>
                </a:tc>
                <a:tc>
                  <a:txBody>
                    <a:bodyPr wrap="square"/>
                    <a:lstStyle/>
                    <a:p>
                      <a:r>
                        <a:rPr sz="1100" b="0" i="0">
                          <a:solidFill>
                            <a:srgbClr val="14171B"/>
                          </a:solidFill>
                          <a:latin typeface="Helvetica Neue"/>
                        </a:rPr>
                        <a:t>488</a:t>
                      </a:r>
                    </a:p>
                  </a:txBody>
                  <a:tcPr marL="64008" marR="64008" marT="27432" marB="27432" anchor="t">
                    <a:solidFill>
                      <a:srgbClr val="FBFAF8"/>
                    </a:solidFill>
                  </a:tcPr>
                </a:tc>
                <a:tc>
                  <a:txBody>
                    <a:bodyPr wrap="square"/>
                    <a:lstStyle/>
                    <a:p>
                      <a:r>
                        <a:rPr sz="1100" b="0" i="0">
                          <a:solidFill>
                            <a:srgbClr val="14171B"/>
                          </a:solidFill>
                          <a:latin typeface="Helvetica Neue"/>
                        </a:rPr>
                        <a:t>Two names, same person</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je_possible_duplicates</a:t>
                      </a:r>
                    </a:p>
                  </a:txBody>
                  <a:tcPr marL="64008" marR="64008" marT="27432" marB="27432" anchor="t">
                    <a:solidFill>
                      <a:srgbClr val="FBFAF8"/>
                    </a:solidFill>
                  </a:tcPr>
                </a:tc>
                <a:tc>
                  <a:txBody>
                    <a:bodyPr wrap="square"/>
                    <a:lstStyle/>
                    <a:p>
                      <a:r>
                        <a:rPr sz="1100" b="0" i="0">
                          <a:solidFill>
                            <a:srgbClr val="14171B"/>
                          </a:solidFill>
                          <a:latin typeface="Helvetica Neue"/>
                        </a:rPr>
                        <a:t>edge</a:t>
                      </a:r>
                    </a:p>
                  </a:txBody>
                  <a:tcPr marL="64008" marR="64008" marT="27432" marB="27432" anchor="t">
                    <a:solidFill>
                      <a:srgbClr val="FBFAF8"/>
                    </a:solidFill>
                  </a:tcPr>
                </a:tc>
                <a:tc>
                  <a:txBody>
                    <a:bodyPr wrap="square"/>
                    <a:lstStyle/>
                    <a:p>
                      <a:r>
                        <a:rPr sz="1100" b="0" i="0">
                          <a:solidFill>
                            <a:srgbClr val="14171B"/>
                          </a:solidFill>
                          <a:latin typeface="Helvetica Neue"/>
                        </a:rPr>
                        <a:t>413</a:t>
                      </a:r>
                    </a:p>
                  </a:txBody>
                  <a:tcPr marL="64008" marR="64008" marT="27432" marB="27432" anchor="t">
                    <a:solidFill>
                      <a:srgbClr val="FBFAF8"/>
                    </a:solidFill>
                  </a:tcPr>
                </a:tc>
                <a:tc>
                  <a:txBody>
                    <a:bodyPr wrap="square"/>
                    <a:lstStyle/>
                    <a:p>
                      <a:r>
                        <a:rPr sz="1100" b="0" i="0">
                          <a:solidFill>
                            <a:srgbClr val="14171B"/>
                          </a:solidFill>
                          <a:latin typeface="Helvetica Neue"/>
                        </a:rPr>
                        <a:t>Matches the system refused to make, queued for review</a:t>
                      </a:r>
                    </a:p>
                  </a:txBody>
                  <a:tcPr marL="64008" marR="64008" marT="27432" marB="27432" anchor="t">
                    <a:solidFill>
                      <a:srgbClr val="FBFAF8"/>
                    </a:solidFill>
                  </a:tcPr>
                </a:tc>
              </a:tr>
            </a:tbl>
          </a:graphicData>
        </a:graphic>
      </p:graphicFrame>
      <p:sp>
        <p:nvSpPr>
          <p:cNvPr id="7" name="TextBox 6"/>
          <p:cNvSpPr txBox="1"/>
          <p:nvPr/>
        </p:nvSpPr>
        <p:spPr>
          <a:xfrm>
            <a:off x="566928" y="4133088"/>
            <a:ext cx="11057839" cy="1106932"/>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EVIDENCE ATTACHES TO THE MENTION, NOT THE PERSON</a:t>
            </a:r>
          </a:p>
          <a:p>
            <a:pPr>
              <a:spcBef>
                <a:spcPts val="700"/>
              </a:spcBef>
              <a:spcAft>
                <a:spcPts val="400"/>
              </a:spcAft>
            </a:pPr>
            <a:r>
              <a:rPr sz="1200" b="0" i="0">
                <a:solidFill>
                  <a:srgbClr val="14171B"/>
                </a:solidFill>
                <a:latin typeface="Helvetica Neue"/>
              </a:rPr>
              <a:t>A role and its supporting quote belong to one mention in one passage. Merging two names can never overwrite the trail.</a:t>
            </a:r>
          </a:p>
          <a:p>
            <a:pPr>
              <a:spcBef>
                <a:spcPts val="1200"/>
              </a:spcBef>
              <a:spcAft>
                <a:spcPts val="200"/>
              </a:spcAft>
            </a:pPr>
            <a:r>
              <a:rPr sz="1100" b="1" i="0">
                <a:solidFill>
                  <a:srgbClr val="4A5158"/>
                </a:solidFill>
                <a:latin typeface="Helvetica Neue"/>
              </a:rPr>
              <a:t>LINKS ARE ADDED, NEVER MERGED AWAY</a:t>
            </a:r>
          </a:p>
          <a:p>
            <a:pPr>
              <a:spcBef>
                <a:spcPts val="700"/>
              </a:spcBef>
              <a:spcAft>
                <a:spcPts val="400"/>
              </a:spcAft>
            </a:pPr>
            <a:r>
              <a:rPr sz="1200" b="0" i="0">
                <a:solidFill>
                  <a:srgbClr val="14171B"/>
                </a:solidFill>
                <a:latin typeface="Helvetica Neue"/>
              </a:rPr>
              <a:t>Nothing is deleted. Search follows a whole name family in one step, and a reviewer can undo any single link.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08</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SOLUTION · LIVE</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Demonstration</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1798320"/>
          </a:xfrm>
          <a:prstGeom prst="rect">
            <a:avLst/>
          </a:prstGeom>
          <a:noFill/>
        </p:spPr>
        <p:txBody>
          <a:bodyPr wrap="square" lIns="0" rIns="0" tIns="0" bIns="0">
            <a:spAutoFit/>
          </a:bodyPr>
          <a:lstStyle/>
          <a:p>
            <a:pPr>
              <a:spcBef>
                <a:spcPts val="0"/>
              </a:spcBef>
              <a:spcAft>
                <a:spcPts val="300"/>
              </a:spcAft>
            </a:pPr>
            <a:r>
              <a:rPr sz="1200" b="0" i="0">
                <a:solidFill>
                  <a:srgbClr val="14171B"/>
                </a:solidFill>
                <a:latin typeface="Helvetica Neue"/>
              </a:rPr>
              <a:t>01 A question about a person — watch the graph path. 1,770 passages reachable, eight returned.</a:t>
            </a:r>
          </a:p>
          <a:p>
            <a:pPr>
              <a:spcBef>
                <a:spcPts val="500"/>
              </a:spcBef>
              <a:spcAft>
                <a:spcPts val="300"/>
              </a:spcAft>
            </a:pPr>
            <a:r>
              <a:rPr sz="1200" b="0" i="0">
                <a:solidFill>
                  <a:srgbClr val="14171B"/>
                </a:solidFill>
                <a:latin typeface="Helvetica Neue"/>
              </a:rPr>
              <a:t>02 A question the documents cannot answer — it reports that it found no name to start from, then declines: "no judicial opinions, only party filings."</a:t>
            </a:r>
          </a:p>
          <a:p>
            <a:pPr>
              <a:spcBef>
                <a:spcPts val="500"/>
              </a:spcBef>
              <a:spcAft>
                <a:spcPts val="300"/>
              </a:spcAft>
            </a:pPr>
            <a:r>
              <a:rPr sz="1200" b="0" i="0">
                <a:solidFill>
                  <a:srgbClr val="14171B"/>
                </a:solidFill>
                <a:latin typeface="Helvetica Neue"/>
              </a:rPr>
              <a:t>03 The graph itself — Joseph Recarey's seven different spellings. Then Jane Doe 2, and fifteen matches the system refused to make.</a:t>
            </a:r>
          </a:p>
          <a:p>
            <a:pPr>
              <a:spcBef>
                <a:spcPts val="500"/>
              </a:spcBef>
              <a:spcAft>
                <a:spcPts val="300"/>
              </a:spcAft>
            </a:pPr>
            <a:r>
              <a:rPr sz="1200" b="0" i="0">
                <a:solidFill>
                  <a:srgbClr val="14171B"/>
                </a:solidFill>
                <a:latin typeface="Helvetica Neue"/>
              </a:rPr>
              <a:t>04 AQL, ArangoDB's query language — the name family, the review queue, and how much more evidence a family reaches than a single spelling.</a:t>
            </a:r>
          </a:p>
          <a:p>
            <a:pPr>
              <a:spcBef>
                <a:spcPts val="700"/>
              </a:spcBef>
              <a:spcAft>
                <a:spcPts val="400"/>
              </a:spcAft>
            </a:pPr>
            <a:r>
              <a:rPr sz="1200" b="0" i="1">
                <a:solidFill>
                  <a:srgbClr val="1E3A5F"/>
                </a:solidFill>
                <a:latin typeface="Helvetica Neue"/>
              </a:rPr>
              <a:t>Watch the channel tags: vector#26 lexical#7 graph#11 means three independent methods each picked the same passage. When they agree, that is the strongest signal the system produces.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09</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SOLUTION · TRADEOFFS</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I traded, and what it cost</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716784"/>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TWO STORES INSTEAD OF ONE</a:t>
            </a:r>
          </a:p>
          <a:p>
            <a:pPr>
              <a:spcBef>
                <a:spcPts val="700"/>
              </a:spcBef>
              <a:spcAft>
                <a:spcPts val="400"/>
              </a:spcAft>
            </a:pPr>
            <a:r>
              <a:rPr sz="1200" b="0" i="0">
                <a:solidFill>
                  <a:srgbClr val="14171B"/>
                </a:solidFill>
                <a:latin typeface="Helvetica Neue"/>
              </a:rPr>
              <a:t>The graph sits in ArangoDB; the text and vectors sit in LanceDB. It was the quick choice, and it shows: a few passages exist in the graph with no matching row in LanceDB.</a:t>
            </a:r>
          </a:p>
          <a:p>
            <a:pPr>
              <a:spcBef>
                <a:spcPts val="1200"/>
              </a:spcBef>
              <a:spcAft>
                <a:spcPts val="200"/>
              </a:spcAft>
            </a:pPr>
            <a:r>
              <a:rPr sz="1100" b="1" i="0">
                <a:solidFill>
                  <a:srgbClr val="4A5158"/>
                </a:solidFill>
                <a:latin typeface="Helvetica Neue"/>
              </a:rPr>
              <a:t>NO PERSON-TO-PERSON LINKS</a:t>
            </a:r>
          </a:p>
          <a:p>
            <a:pPr>
              <a:spcBef>
                <a:spcPts val="700"/>
              </a:spcBef>
              <a:spcAft>
                <a:spcPts val="400"/>
              </a:spcAft>
            </a:pPr>
            <a:r>
              <a:rPr sz="1200" b="0" i="0">
                <a:solidFill>
                  <a:srgbClr val="14171B"/>
                </a:solidFill>
                <a:latin typeface="Helvetica Neue"/>
              </a:rPr>
              <a:t>This is an index of who appears where, not a map of how people relate. A second step would only mean "mentioned in the same passage", which here says very little.</a:t>
            </a:r>
          </a:p>
          <a:p>
            <a:pPr>
              <a:spcBef>
                <a:spcPts val="1200"/>
              </a:spcBef>
              <a:spcAft>
                <a:spcPts val="200"/>
              </a:spcAft>
            </a:pPr>
            <a:r>
              <a:rPr sz="1100" b="1" i="0">
                <a:solidFill>
                  <a:srgbClr val="4A5158"/>
                </a:solidFill>
                <a:latin typeface="Helvetica Neue"/>
              </a:rPr>
              <a:t>SAME-PERSON LINKS FOR PEOPLE ONLY</a:t>
            </a:r>
          </a:p>
          <a:p>
            <a:pPr>
              <a:spcBef>
                <a:spcPts val="700"/>
              </a:spcBef>
              <a:spcAft>
                <a:spcPts val="400"/>
              </a:spcAft>
            </a:pPr>
            <a:r>
              <a:rPr sz="1200" b="0" i="0">
                <a:solidFill>
                  <a:srgbClr val="14171B"/>
                </a:solidFill>
                <a:latin typeface="Helvetica Neue"/>
              </a:rPr>
              <a:t>The rule that works for people runs backwards for places. A trial run produced 11 wrong links out of 14. I stopped it and limited the pass to people.</a:t>
            </a:r>
          </a:p>
          <a:p>
            <a:pPr>
              <a:spcBef>
                <a:spcPts val="1200"/>
              </a:spcBef>
              <a:spcAft>
                <a:spcPts val="200"/>
              </a:spcAft>
            </a:pPr>
            <a:r>
              <a:rPr sz="1100" b="1" i="0">
                <a:solidFill>
                  <a:srgbClr val="4A5158"/>
                </a:solidFill>
                <a:latin typeface="Helvetica Neue"/>
              </a:rPr>
              <a:t>RATHER MISS A LINK THAN INVENT ONE</a:t>
            </a:r>
          </a:p>
          <a:p>
            <a:pPr>
              <a:spcBef>
                <a:spcPts val="700"/>
              </a:spcBef>
              <a:spcAft>
                <a:spcPts val="400"/>
              </a:spcAft>
            </a:pPr>
            <a:r>
              <a:rPr sz="1200" b="0" i="0">
                <a:solidFill>
                  <a:srgbClr val="14171B"/>
                </a:solidFill>
                <a:latin typeface="Helvetica Neue"/>
              </a:rPr>
              <a:t>413 refusals are queued for review. A wrong merge invents a connection between real people. A missed one only means we find less.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10</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SOLUTION · PRODUCTION</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I'd change to run this at scale</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3338068"/>
          </a:xfrm>
          <a:prstGeom prst="rect">
            <a:avLst/>
          </a:prstGeom>
          <a:noFill/>
        </p:spPr>
        <p:txBody>
          <a:bodyPr wrap="square" lIns="0" rIns="0" tIns="0" bIns="0">
            <a:spAutoFit/>
          </a:bodyPr>
          <a:lstStyle/>
          <a:p>
            <a:pPr>
              <a:spcBef>
                <a:spcPts val="0"/>
              </a:spcBef>
              <a:spcAft>
                <a:spcPts val="400"/>
              </a:spcAft>
            </a:pPr>
            <a:r>
              <a:rPr sz="1200" b="0" i="1">
                <a:solidFill>
                  <a:srgbClr val="1E3A5F"/>
                </a:solidFill>
                <a:latin typeface="Helvetica Neue"/>
              </a:rPr>
              <a:t>First, I'd delete LanceDB. ArangoDB 3.12 has a native vector index. Two stores collapse into one, an entire class of consistency bug disappears, and a join across two systems becomes a single lookup.</a:t>
            </a:r>
          </a:p>
          <a:p>
            <a:pPr>
              <a:spcBef>
                <a:spcPts val="1200"/>
              </a:spcBef>
              <a:spcAft>
                <a:spcPts val="200"/>
              </a:spcAft>
            </a:pPr>
            <a:r>
              <a:rPr sz="1100" b="1" i="0">
                <a:solidFill>
                  <a:srgbClr val="4A5158"/>
                </a:solidFill>
                <a:latin typeface="Helvetica Neue"/>
              </a:rPr>
              <a:t>CLUSTER AND SHAPE</a:t>
            </a:r>
          </a:p>
          <a:p>
            <a:pPr>
              <a:spcBef>
                <a:spcPts val="300"/>
              </a:spcBef>
              <a:spcAft>
                <a:spcPts val="300"/>
              </a:spcAft>
            </a:pPr>
            <a:r>
              <a:rPr sz="1200" b="0" i="0">
                <a:solidFill>
                  <a:srgbClr val="14171B"/>
                </a:solidFill>
                <a:latin typeface="Helvetica Neue"/>
              </a:rPr>
              <a:t>•  SmartGraphs with partition_id, so graph queries stay on a single shard.</a:t>
            </a:r>
          </a:p>
          <a:p>
            <a:pPr>
              <a:spcBef>
                <a:spcPts val="300"/>
              </a:spcBef>
              <a:spcAft>
                <a:spcPts val="300"/>
              </a:spcAft>
            </a:pPr>
            <a:r>
              <a:rPr sz="1200" b="0" i="0">
                <a:solidFill>
                  <a:srgbClr val="14171B"/>
                </a:solidFill>
                <a:latin typeface="Helvetica Neue"/>
              </a:rPr>
              <a:t>•  Satellite collections keep the entity index on every node.</a:t>
            </a:r>
          </a:p>
          <a:p>
            <a:pPr>
              <a:spcBef>
                <a:spcPts val="300"/>
              </a:spcBef>
              <a:spcAft>
                <a:spcPts val="300"/>
              </a:spcAft>
            </a:pPr>
            <a:r>
              <a:rPr sz="1200" b="0" i="0">
                <a:solidFill>
                  <a:srgbClr val="14171B"/>
                </a:solidFill>
                <a:latin typeface="Helvetica Neue"/>
              </a:rPr>
              <a:t>•  Partition by legal matter, which is also the customer boundary.</a:t>
            </a:r>
          </a:p>
          <a:p>
            <a:pPr>
              <a:spcBef>
                <a:spcPts val="1200"/>
              </a:spcBef>
              <a:spcAft>
                <a:spcPts val="200"/>
              </a:spcAft>
            </a:pPr>
            <a:r>
              <a:rPr sz="1100" b="1" i="0">
                <a:solidFill>
                  <a:srgbClr val="4A5158"/>
                </a:solidFill>
                <a:latin typeface="Helvetica Neue"/>
              </a:rPr>
              <a:t>CORRECTNESS BEFORE FEATURES</a:t>
            </a:r>
          </a:p>
          <a:p>
            <a:pPr>
              <a:spcBef>
                <a:spcPts val="300"/>
              </a:spcBef>
              <a:spcAft>
                <a:spcPts val="300"/>
              </a:spcAft>
            </a:pPr>
            <a:r>
              <a:rPr sz="1200" b="0" i="0">
                <a:solidFill>
                  <a:srgbClr val="14171B"/>
                </a:solidFill>
                <a:latin typeface="Helvetica Neue"/>
              </a:rPr>
              <a:t>•  Decide first, then write. Built and measured: the system now declines to answer when it should, 4–5 times out of 5, up from 0.</a:t>
            </a:r>
          </a:p>
          <a:p>
            <a:pPr>
              <a:spcBef>
                <a:spcPts val="300"/>
              </a:spcBef>
              <a:spcAft>
                <a:spcPts val="300"/>
              </a:spcAft>
            </a:pPr>
            <a:r>
              <a:rPr sz="1200" b="0" i="0">
                <a:solidFill>
                  <a:srgbClr val="14171B"/>
                </a:solidFill>
                <a:latin typeface="Helvetica Neue"/>
              </a:rPr>
              <a:t>•  A human review step, budgeted and staffed.</a:t>
            </a:r>
          </a:p>
          <a:p>
            <a:pPr>
              <a:spcBef>
                <a:spcPts val="300"/>
              </a:spcBef>
              <a:spcAft>
                <a:spcPts val="300"/>
              </a:spcAft>
            </a:pPr>
            <a:r>
              <a:rPr sz="1200" b="0" i="0">
                <a:solidFill>
                  <a:srgbClr val="14171B"/>
                </a:solidFill>
                <a:latin typeface="Helvetica Neue"/>
              </a:rPr>
              <a:t>•  A review screen for the 413 flagged pairs.</a:t>
            </a:r>
          </a:p>
          <a:p>
            <a:pPr>
              <a:spcBef>
                <a:spcPts val="300"/>
              </a:spcBef>
              <a:spcAft>
                <a:spcPts val="300"/>
              </a:spcAft>
            </a:pPr>
            <a:r>
              <a:rPr sz="1200" b="0" i="0">
                <a:solidFill>
                  <a:srgbClr val="14171B"/>
                </a:solidFill>
                <a:latin typeface="Helvetica Neue"/>
              </a:rPr>
              <a:t>•  A second, slower model to re-order the final shortlist (a cross-encoder reranker).</a:t>
            </a:r>
          </a:p>
          <a:p>
            <a:pPr>
              <a:spcBef>
                <a:spcPts val="700"/>
              </a:spcBef>
              <a:spcAft>
                <a:spcPts val="400"/>
              </a:spcAft>
            </a:pPr>
            <a:r>
              <a:rPr sz="1200" b="0" i="0">
                <a:solidFill>
                  <a:srgbClr val="A6382C"/>
                </a:solidFill>
                <a:latin typeface="Helvetica Neue"/>
              </a:rPr>
              <a:t>Unsolved: adding new documents without rebuilding. Matching names across all 190 filings took 19 hours, and that cost grows with the number of mentions, not the number of documents. Adding one filing without redoing the whole graph is the hard problem.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11</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A6382C"/>
                </a:solidFill>
                <a:latin typeface="Menlo"/>
              </a:rPr>
              <a:t>THE SOLUTION · CANDOUR</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Pitfalls learned along the way</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4700270"/>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Each one taught me something I now carry into the next build and related projects.</a:t>
            </a:r>
          </a:p>
          <a:p>
            <a:pPr>
              <a:spcBef>
                <a:spcPts val="1200"/>
              </a:spcBef>
              <a:spcAft>
                <a:spcPts val="200"/>
              </a:spcAft>
            </a:pPr>
            <a:r>
              <a:rPr sz="1100" b="1" i="0">
                <a:solidFill>
                  <a:srgbClr val="4A5158"/>
                </a:solidFill>
                <a:latin typeface="Helvetica Neue"/>
              </a:rPr>
              <a:t>1 · A LIBRARY DEFAULT COST 9.6% OF THE GRAPH</a:t>
            </a:r>
          </a:p>
          <a:p>
            <a:pPr>
              <a:spcBef>
                <a:spcPts val="700"/>
              </a:spcBef>
              <a:spcAft>
                <a:spcPts val="400"/>
              </a:spcAft>
            </a:pPr>
            <a:r>
              <a:rPr sz="1200" b="0" i="0">
                <a:solidFill>
                  <a:srgbClr val="14171B"/>
                </a:solidFill>
                <a:latin typeface="Helvetica Neue"/>
              </a:rPr>
              <a:t>The name-matching library (Jaro-Winkler) defaults to case-sensitive. In documents full of ALL-CAPS captions, that produced 38 separate "Mr. Barton" nodes.</a:t>
            </a:r>
          </a:p>
          <a:p>
            <a:pPr>
              <a:spcBef>
                <a:spcPts val="200"/>
              </a:spcBef>
              <a:spcAft>
                <a:spcPts val="600"/>
              </a:spcAft>
            </a:pPr>
            <a:r>
              <a:rPr sz="1100" b="0" i="0">
                <a:solidFill>
                  <a:srgbClr val="1E3A5F"/>
                </a:solidFill>
                <a:latin typeface="Helvetica Neue"/>
              </a:rPr>
              <a:t>→  Fixed — compare both names in the same case, and sort the candidate list by score before cutting it to five. Then re-ran the pass over every document.</a:t>
            </a:r>
          </a:p>
          <a:p>
            <a:pPr>
              <a:spcBef>
                <a:spcPts val="1200"/>
              </a:spcBef>
              <a:spcAft>
                <a:spcPts val="200"/>
              </a:spcAft>
            </a:pPr>
            <a:r>
              <a:rPr sz="1100" b="1" i="0">
                <a:solidFill>
                  <a:srgbClr val="4A5158"/>
                </a:solidFill>
                <a:latin typeface="Helvetica Neue"/>
              </a:rPr>
              <a:t>2 · TWO DIFFERENT MAXWELLS MERGED INTO ONE</a:t>
            </a:r>
          </a:p>
          <a:p>
            <a:pPr>
              <a:spcBef>
                <a:spcPts val="700"/>
              </a:spcBef>
              <a:spcAft>
                <a:spcPts val="400"/>
              </a:spcAft>
            </a:pPr>
            <a:r>
              <a:rPr sz="1200" b="0" i="0">
                <a:solidFill>
                  <a:srgbClr val="14171B"/>
                </a:solidFill>
                <a:latin typeface="Helvetica Neue"/>
              </a:rPr>
              <a:t>Ghislaine and her father Robert. Comparing two names at a time cannot tell a fuller version of one name from a different person entirely.</a:t>
            </a:r>
          </a:p>
          <a:p>
            <a:pPr>
              <a:spcBef>
                <a:spcPts val="200"/>
              </a:spcBef>
              <a:spcAft>
                <a:spcPts val="600"/>
              </a:spcAft>
            </a:pPr>
            <a:r>
              <a:rPr sz="1100" b="0" i="0">
                <a:solidFill>
                  <a:srgbClr val="1E3A5F"/>
                </a:solidFill>
                <a:latin typeface="Helvetica Neue"/>
              </a:rPr>
              <a:t>→  Fixed — judge the whole family of names at once instead of pair by pair, using how often each appears, how widely across documents, and in what role. Anything still uncertain is flagged, not merged.</a:t>
            </a:r>
          </a:p>
          <a:p>
            <a:pPr>
              <a:spcBef>
                <a:spcPts val="1200"/>
              </a:spcBef>
              <a:spcAft>
                <a:spcPts val="200"/>
              </a:spcAft>
            </a:pPr>
            <a:r>
              <a:rPr sz="1100" b="1" i="0">
                <a:solidFill>
                  <a:srgbClr val="4A5158"/>
                </a:solidFill>
                <a:latin typeface="Helvetica Neue"/>
              </a:rPr>
              <a:t>3 · THE MODEL NEVER SAW THE TOP OF ITS OWN INSTRUCTIONS</a:t>
            </a:r>
          </a:p>
          <a:p>
            <a:pPr>
              <a:spcBef>
                <a:spcPts val="700"/>
              </a:spcBef>
              <a:spcAft>
                <a:spcPts val="400"/>
              </a:spcAft>
            </a:pPr>
            <a:r>
              <a:rPr sz="1200" b="0" i="0">
                <a:solidFill>
                  <a:srgbClr val="14171B"/>
                </a:solidFill>
                <a:latin typeface="Helvetica Neue"/>
              </a:rPr>
              <a:t>Ollama silently cuts any prompt down to 4,096 tokens, without warning — and it cuts from the front. Mine were 4,235, so every test run lost the opening of its own system prompt, starting with "use only these sources".</a:t>
            </a:r>
          </a:p>
          <a:p>
            <a:pPr>
              <a:spcBef>
                <a:spcPts val="200"/>
              </a:spcBef>
              <a:spcAft>
                <a:spcPts val="600"/>
              </a:spcAft>
            </a:pPr>
            <a:r>
              <a:rPr sz="1100" b="0" i="0">
                <a:solidFill>
                  <a:srgbClr val="1E3A5F"/>
                </a:solidFill>
                <a:latin typeface="Helvetica Neue"/>
              </a:rPr>
              <a:t>→  Fixed — set the context length explicitly to 8,192 in config rather than inheriting a default, and log the prompt length so the next cut is visible.</a:t>
            </a:r>
          </a:p>
          <a:p>
            <a:pPr>
              <a:spcBef>
                <a:spcPts val="1200"/>
              </a:spcBef>
              <a:spcAft>
                <a:spcPts val="200"/>
              </a:spcAft>
            </a:pPr>
            <a:r>
              <a:rPr sz="1100" b="1" i="0">
                <a:solidFill>
                  <a:srgbClr val="4A5158"/>
                </a:solidFill>
                <a:latin typeface="Helvetica Neue"/>
              </a:rPr>
              <a:t>4 · BIGGER MODEL, WORSE RESULTS</a:t>
            </a:r>
          </a:p>
          <a:p>
            <a:pPr>
              <a:spcBef>
                <a:spcPts val="700"/>
              </a:spcBef>
              <a:spcAft>
                <a:spcPts val="400"/>
              </a:spcAft>
            </a:pPr>
            <a:r>
              <a:rPr sz="1200" b="0" i="0">
                <a:solidFill>
                  <a:srgbClr val="14171B"/>
                </a:solidFill>
                <a:latin typeface="Helvetica Neue"/>
              </a:rPr>
              <a:t>A 30-billion-parameter model of the mixture-of-experts kind scored 11/16. A plain 8-billion model scored 15/16, at the same speed.</a:t>
            </a:r>
          </a:p>
          <a:p>
            <a:pPr>
              <a:spcBef>
                <a:spcPts val="200"/>
              </a:spcBef>
              <a:spcAft>
                <a:spcPts val="600"/>
              </a:spcAft>
            </a:pPr>
            <a:r>
              <a:rPr sz="1100" b="0" i="0">
                <a:solidFill>
                  <a:srgbClr val="1E3A5F"/>
                </a:solidFill>
                <a:latin typeface="Helvetica Neue"/>
              </a:rPr>
              <a:t>→  Settled — kept the smaller model, on the evidence. I also abandoned a prompt change that made both models worse, rather than trying to rescue it.</a:t>
            </a:r>
          </a:p>
          <a:p>
            <a:pPr>
              <a:spcBef>
                <a:spcPts val="700"/>
              </a:spcBef>
              <a:spcAft>
                <a:spcPts val="400"/>
              </a:spcAft>
            </a:pPr>
            <a:r>
              <a:rPr sz="1200" b="0" i="1">
                <a:solidFill>
                  <a:srgbClr val="1E3A5F"/>
                </a:solidFill>
                <a:latin typeface="Helvetica Neue"/>
              </a:rPr>
              <a:t>Every one was found by auditing real output — not by reading code, and not by a test. Every one is fixed and re-measured.</a:t>
            </a:r>
          </a:p>
          <a:p>
            <a:pPr>
              <a:spcBef>
                <a:spcPts val="700"/>
              </a:spcBef>
              <a:spcAft>
                <a:spcPts val="400"/>
              </a:spcAft>
            </a:pPr>
            <a:r>
              <a:rPr sz="1200" b="0" i="1">
                <a:solidFill>
                  <a:srgbClr val="1E3A5F"/>
                </a:solidFill>
                <a:latin typeface="Helvetica Neue"/>
              </a:rPr>
              <a:t>A human stayed in the middle of every step. Claude Code wrote most of the code. Every data structure, threshold and algorithm choice was argued out before it went in. Working the problem with the model rather than delegating it to the model is where the experience compounded.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B1</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RETRIEVAL</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Four channels, fused by rank</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600200"/>
          <a:ext cx="11057838" cy="2130552"/>
        </p:xfrm>
        <a:graphic>
          <a:graphicData uri="http://schemas.openxmlformats.org/drawingml/2006/table">
            <a:tbl>
              <a:tblPr firstRow="1" bandRow="1">
                <a:tableStyleId>{5C22544A-7EE6-4342-B048-85BDC9FD1C3A}</a:tableStyleId>
              </a:tblPr>
              <a:tblGrid>
                <a:gridCol w="3685946"/>
                <a:gridCol w="3685946"/>
                <a:gridCol w="3685946"/>
              </a:tblGrid>
              <a:tr h="265176">
                <a:tc>
                  <a:txBody>
                    <a:bodyPr wrap="square"/>
                    <a:lstStyle/>
                    <a:p>
                      <a:r>
                        <a:rPr sz="1000" b="1" i="0">
                          <a:solidFill>
                            <a:srgbClr val="4A5158"/>
                          </a:solidFill>
                          <a:latin typeface="Helvetica Neue"/>
                        </a:rPr>
                        <a:t>Channel</a:t>
                      </a:r>
                    </a:p>
                  </a:txBody>
                  <a:tcPr marL="64008" marR="64008" marT="27432" marB="27432" anchor="t">
                    <a:solidFill>
                      <a:srgbClr val="E7EBF1"/>
                    </a:solidFill>
                  </a:tcPr>
                </a:tc>
                <a:tc>
                  <a:txBody>
                    <a:bodyPr wrap="square"/>
                    <a:lstStyle/>
                    <a:p>
                      <a:r>
                        <a:rPr sz="1000" b="1" i="0">
                          <a:solidFill>
                            <a:srgbClr val="4A5158"/>
                          </a:solidFill>
                          <a:latin typeface="Helvetica Neue"/>
                        </a:rPr>
                        <a:t>Mechanism</a:t>
                      </a:r>
                    </a:p>
                  </a:txBody>
                  <a:tcPr marL="64008" marR="64008" marT="27432" marB="27432" anchor="t">
                    <a:solidFill>
                      <a:srgbClr val="E7EBF1"/>
                    </a:solidFill>
                  </a:tcPr>
                </a:tc>
                <a:tc>
                  <a:txBody>
                    <a:bodyPr wrap="square"/>
                    <a:lstStyle/>
                    <a:p>
                      <a:r>
                        <a:rPr sz="1000" b="1" i="0">
                          <a:solidFill>
                            <a:srgbClr val="4A5158"/>
                          </a:solidFill>
                          <a:latin typeface="Helvetica Neue"/>
                        </a:rPr>
                        <a:t>The question that justified it</a:t>
                      </a:r>
                    </a:p>
                  </a:txBody>
                  <a:tcPr marL="64008" marR="64008" marT="27432" marB="27432" anchor="t">
                    <a:solidFill>
                      <a:srgbClr val="E7EBF1"/>
                    </a:solidFill>
                  </a:tcPr>
                </a:tc>
              </a:tr>
              <a:tr h="466344">
                <a:tc>
                  <a:txBody>
                    <a:bodyPr wrap="square"/>
                    <a:lstStyle/>
                    <a:p>
                      <a:r>
                        <a:rPr sz="1100" b="0" i="0">
                          <a:solidFill>
                            <a:srgbClr val="14171B"/>
                          </a:solidFill>
                          <a:latin typeface="Helvetica Neue"/>
                        </a:rPr>
                        <a:t>vector</a:t>
                      </a:r>
                    </a:p>
                  </a:txBody>
                  <a:tcPr marL="64008" marR="64008" marT="27432" marB="27432" anchor="t">
                    <a:solidFill>
                      <a:srgbClr val="FBFAF8"/>
                    </a:solidFill>
                  </a:tcPr>
                </a:tc>
                <a:tc>
                  <a:txBody>
                    <a:bodyPr wrap="square"/>
                    <a:lstStyle/>
                    <a:p>
                      <a:r>
                        <a:rPr sz="1100" b="0" i="0">
                          <a:solidFill>
                            <a:srgbClr val="14171B"/>
                          </a:solidFill>
                          <a:latin typeface="Helvetica Neue"/>
                        </a:rPr>
                        <a:t>Meaning-based similarity (cosine)</a:t>
                      </a:r>
                    </a:p>
                  </a:txBody>
                  <a:tcPr marL="64008" marR="64008" marT="27432" marB="27432" anchor="t">
                    <a:solidFill>
                      <a:srgbClr val="FBFAF8"/>
                    </a:solidFill>
                  </a:tcPr>
                </a:tc>
                <a:tc>
                  <a:txBody>
                    <a:bodyPr wrap="square"/>
                    <a:lstStyle/>
                    <a:p>
                      <a:r>
                        <a:rPr sz="1100" b="0" i="0">
                          <a:solidFill>
                            <a:srgbClr val="14171B"/>
                          </a:solidFill>
                          <a:latin typeface="Helvetica Neue"/>
                        </a:rPr>
                        <a:t>One passage names him, and it ranks first by similarity</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density</a:t>
                      </a:r>
                    </a:p>
                  </a:txBody>
                  <a:tcPr marL="64008" marR="64008" marT="27432" marB="27432" anchor="t">
                    <a:solidFill>
                      <a:srgbClr val="FBFAF8"/>
                    </a:solidFill>
                  </a:tcPr>
                </a:tc>
                <a:tc>
                  <a:txBody>
                    <a:bodyPr wrap="square"/>
                    <a:lstStyle/>
                    <a:p>
                      <a:r>
                        <a:rPr sz="1100" b="0" i="0">
                          <a:solidFill>
                            <a:srgbClr val="14171B"/>
                          </a:solidFill>
                          <a:latin typeface="Helvetica Neue"/>
                        </a:rPr>
                        <a:t>Documents with the most passages in the shortlist</a:t>
                      </a:r>
                    </a:p>
                  </a:txBody>
                  <a:tcPr marL="64008" marR="64008" marT="27432" marB="27432" anchor="t">
                    <a:solidFill>
                      <a:srgbClr val="FBFAF8"/>
                    </a:solidFill>
                  </a:tcPr>
                </a:tc>
                <a:tc>
                  <a:txBody>
                    <a:bodyPr wrap="square"/>
                    <a:lstStyle/>
                    <a:p>
                      <a:r>
                        <a:rPr sz="1100" b="0" i="0">
                          <a:solidFill>
                            <a:srgbClr val="14171B"/>
                          </a:solidFill>
                          <a:latin typeface="Helvetica Neue"/>
                        </a:rPr>
                        <a:t>A 102-passage transcript: ranked 14th by its best passage, 2nd by density</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lexical</a:t>
                      </a:r>
                    </a:p>
                  </a:txBody>
                  <a:tcPr marL="64008" marR="64008" marT="27432" marB="27432" anchor="t">
                    <a:solidFill>
                      <a:srgbClr val="FBFAF8"/>
                    </a:solidFill>
                  </a:tcPr>
                </a:tc>
                <a:tc>
                  <a:txBody>
                    <a:bodyPr wrap="square"/>
                    <a:lstStyle/>
                    <a:p>
                      <a:r>
                        <a:rPr sz="1100" b="0" i="0">
                          <a:solidFill>
                            <a:srgbClr val="14171B"/>
                          </a:solidFill>
                          <a:latin typeface="Helvetica Neue"/>
                        </a:rPr>
                        <a:t>Keyword search after the model widens the query (BM25)</a:t>
                      </a:r>
                    </a:p>
                  </a:txBody>
                  <a:tcPr marL="64008" marR="64008" marT="27432" marB="27432" anchor="t">
                    <a:solidFill>
                      <a:srgbClr val="FBFAF8"/>
                    </a:solidFill>
                  </a:tcPr>
                </a:tc>
                <a:tc>
                  <a:txBody>
                    <a:bodyPr wrap="square"/>
                    <a:lstStyle/>
                    <a:p>
                      <a:r>
                        <a:rPr sz="1100" b="0" i="0">
                          <a:solidFill>
                            <a:srgbClr val="14171B"/>
                          </a:solidFill>
                          <a:latin typeface="Helvetica Neue"/>
                        </a:rPr>
                        <a:t>The word "obiter" appears nowhere; 35 passages say "held that"</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graph</a:t>
                      </a:r>
                    </a:p>
                  </a:txBody>
                  <a:tcPr marL="64008" marR="64008" marT="27432" marB="27432" anchor="t">
                    <a:solidFill>
                      <a:srgbClr val="FBFAF8"/>
                    </a:solidFill>
                  </a:tcPr>
                </a:tc>
                <a:tc>
                  <a:txBody>
                    <a:bodyPr wrap="square"/>
                    <a:lstStyle/>
                    <a:p>
                      <a:r>
                        <a:rPr sz="1100" b="0" i="0">
                          <a:solidFill>
                            <a:srgbClr val="14171B"/>
                          </a:solidFill>
                          <a:latin typeface="Helvetica Neue"/>
                        </a:rPr>
                        <a:t>Match a name, follow one link, collect its mentions</a:t>
                      </a:r>
                    </a:p>
                  </a:txBody>
                  <a:tcPr marL="64008" marR="64008" marT="27432" marB="27432" anchor="t">
                    <a:solidFill>
                      <a:srgbClr val="FBFAF8"/>
                    </a:solidFill>
                  </a:tcPr>
                </a:tc>
                <a:tc>
                  <a:txBody>
                    <a:bodyPr wrap="square"/>
                    <a:lstStyle/>
                    <a:p>
                      <a:r>
                        <a:rPr sz="1100" b="0" i="0">
                          <a:solidFill>
                            <a:srgbClr val="14171B"/>
                          </a:solidFill>
                          <a:latin typeface="Helvetica Neue"/>
                        </a:rPr>
                        <a:t>"Both Maxwell and Epstein" — a single vector cannot express "both"</a:t>
                      </a:r>
                    </a:p>
                  </a:txBody>
                  <a:tcPr marL="64008" marR="64008" marT="27432" marB="27432" anchor="t">
                    <a:solidFill>
                      <a:srgbClr val="FBFAF8"/>
                    </a:solidFill>
                  </a:tcPr>
                </a:tc>
              </a:tr>
            </a:tbl>
          </a:graphicData>
        </a:graphic>
      </p:graphicFrame>
      <p:sp>
        <p:nvSpPr>
          <p:cNvPr id="7" name="TextBox 6"/>
          <p:cNvSpPr txBox="1"/>
          <p:nvPr/>
        </p:nvSpPr>
        <p:spPr>
          <a:xfrm>
            <a:off x="566928" y="3877056"/>
            <a:ext cx="11057839" cy="1106932"/>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RANK FUSION (RRF)</a:t>
            </a:r>
          </a:p>
          <a:p>
            <a:pPr>
              <a:spcBef>
                <a:spcPts val="700"/>
              </a:spcBef>
              <a:spcAft>
                <a:spcPts val="400"/>
              </a:spcAft>
            </a:pPr>
            <a:r>
              <a:rPr sz="1200" b="0" i="0">
                <a:solidFill>
                  <a:srgbClr val="14171B"/>
                </a:solidFill>
                <a:latin typeface="Helvetica Neue"/>
              </a:rPr>
              <a:t>Σ 1/(60 + rank). It uses position only, so channels that score on completely different scales can be combined without anyone inventing weights.</a:t>
            </a:r>
          </a:p>
          <a:p>
            <a:pPr>
              <a:spcBef>
                <a:spcPts val="1200"/>
              </a:spcBef>
              <a:spcAft>
                <a:spcPts val="200"/>
              </a:spcAft>
            </a:pPr>
            <a:r>
              <a:rPr sz="1100" b="1" i="0">
                <a:solidFill>
                  <a:srgbClr val="4A5158"/>
                </a:solidFill>
                <a:latin typeface="Helvetica Neue"/>
              </a:rPr>
              <a:t>WHY HALF THE SLOTS ARE RESERVED</a:t>
            </a:r>
          </a:p>
          <a:p>
            <a:pPr>
              <a:spcBef>
                <a:spcPts val="700"/>
              </a:spcBef>
              <a:spcAft>
                <a:spcPts val="400"/>
              </a:spcAft>
            </a:pPr>
            <a:r>
              <a:rPr sz="1200" b="0" i="0">
                <a:solidFill>
                  <a:srgbClr val="14171B"/>
                </a:solidFill>
                <a:latin typeface="Helvetica Neue"/>
              </a:rPr>
              <a:t>Half always go to plain similarity search. Treating all four channels equally once fixed one question and broke another in the same change.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B2</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THE HARDEST FIX</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Saying "I don't know": decide first, then write</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3144011"/>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WHY FOUR PROMPT FIXES FAILED</a:t>
            </a:r>
          </a:p>
          <a:p>
            <a:pPr>
              <a:spcBef>
                <a:spcPts val="700"/>
              </a:spcBef>
              <a:spcAft>
                <a:spcPts val="400"/>
              </a:spcAft>
            </a:pPr>
            <a:r>
              <a:rPr sz="1200" b="0" i="0">
                <a:solidFill>
                  <a:srgbClr val="14171B"/>
                </a:solidFill>
                <a:latin typeface="Helvetica Neue"/>
              </a:rPr>
              <a:t>The prompt already forbade guessing. The cause was structural: one model, in one pass, was both judging whether it had enough evidence and writing the answer. Producing something is the easier path.</a:t>
            </a:r>
          </a:p>
          <a:p>
            <a:pPr>
              <a:spcBef>
                <a:spcPts val="1200"/>
              </a:spcBef>
              <a:spcAft>
                <a:spcPts val="200"/>
              </a:spcAft>
            </a:pPr>
            <a:r>
              <a:rPr sz="1100" b="1" i="0">
                <a:solidFill>
                  <a:srgbClr val="4A5158"/>
                </a:solidFill>
                <a:latin typeface="Helvetica Neue"/>
              </a:rPr>
              <a:t>THE FIX</a:t>
            </a:r>
          </a:p>
          <a:p>
            <a:pPr>
              <a:spcBef>
                <a:spcPts val="700"/>
              </a:spcBef>
              <a:spcAft>
                <a:spcPts val="400"/>
              </a:spcAft>
            </a:pPr>
            <a:r>
              <a:rPr sz="1200" b="0" i="0">
                <a:solidFill>
                  <a:srgbClr val="14171B"/>
                </a:solidFill>
                <a:latin typeface="Helvetica Neue"/>
              </a:rPr>
              <a:t>Step 1 judges, and its answer format has no field long enough to hold prose. Step 2 writes, and only if step 1 said yes.</a:t>
            </a:r>
          </a:p>
          <a:p>
            <a:pPr>
              <a:spcBef>
                <a:spcPts val="700"/>
              </a:spcBef>
              <a:spcAft>
                <a:spcPts val="400"/>
              </a:spcAft>
            </a:pPr>
            <a:r>
              <a:rPr sz="1200" b="0" i="0">
                <a:solidFill>
                  <a:srgbClr val="14171B"/>
                </a:solidFill>
                <a:latin typeface="Helvetica Neue"/>
              </a:rPr>
              <a:t>When step 1 still claimed it had enough evidence while marking every source irrelevant, that rule moved out of the prompt and into code.</a:t>
            </a:r>
          </a:p>
          <a:p>
            <a:pPr>
              <a:spcBef>
                <a:spcPts val="600"/>
              </a:spcBef>
              <a:spcAft>
                <a:spcPts val="200"/>
              </a:spcAft>
            </a:pPr>
            <a:r>
              <a:rPr sz="2000" b="1" i="0">
                <a:solidFill>
                  <a:srgbClr val="A6382C"/>
                </a:solidFill>
                <a:latin typeface="Georgia"/>
              </a:rPr>
              <a:t>0 / 5   </a:t>
            </a:r>
            <a:r>
              <a:rPr sz="1000" b="0" i="0">
                <a:solidFill>
                  <a:srgbClr val="838B93"/>
                </a:solidFill>
                <a:latin typeface="Helvetica Neue"/>
              </a:rPr>
              <a:t>BEFORE</a:t>
            </a:r>
          </a:p>
          <a:p>
            <a:pPr>
              <a:spcBef>
                <a:spcPts val="600"/>
              </a:spcBef>
              <a:spcAft>
                <a:spcPts val="200"/>
              </a:spcAft>
            </a:pPr>
            <a:r>
              <a:rPr sz="2000" b="1" i="0">
                <a:solidFill>
                  <a:srgbClr val="1E3A5F"/>
                </a:solidFill>
                <a:latin typeface="Georgia"/>
              </a:rPr>
              <a:t>4–5 / 5   </a:t>
            </a:r>
            <a:r>
              <a:rPr sz="1000" b="0" i="0">
                <a:solidFill>
                  <a:srgbClr val="838B93"/>
                </a:solidFill>
                <a:latin typeface="Helvetica Neue"/>
              </a:rPr>
              <a:t>AFTER</a:t>
            </a:r>
          </a:p>
          <a:p>
            <a:pPr>
              <a:spcBef>
                <a:spcPts val="600"/>
              </a:spcBef>
              <a:spcAft>
                <a:spcPts val="200"/>
              </a:spcAft>
            </a:pPr>
            <a:r>
              <a:rPr sz="2000" b="1" i="0">
                <a:solidFill>
                  <a:srgbClr val="A6382C"/>
                </a:solidFill>
                <a:latin typeface="Georgia"/>
              </a:rPr>
              <a:t>68.7s   </a:t>
            </a:r>
            <a:r>
              <a:rPr sz="1000" b="0" i="0">
                <a:solidFill>
                  <a:srgbClr val="838B93"/>
                </a:solidFill>
                <a:latin typeface="Helvetica Neue"/>
              </a:rPr>
              <a:t>WAS A BLANK SCREEN</a:t>
            </a:r>
          </a:p>
          <a:p>
            <a:pPr>
              <a:spcBef>
                <a:spcPts val="600"/>
              </a:spcBef>
              <a:spcAft>
                <a:spcPts val="200"/>
              </a:spcAft>
            </a:pPr>
            <a:r>
              <a:rPr sz="2000" b="1" i="0">
                <a:solidFill>
                  <a:srgbClr val="1E3A5F"/>
                </a:solidFill>
                <a:latin typeface="Georgia"/>
              </a:rPr>
              <a:t>63ms   </a:t>
            </a:r>
            <a:r>
              <a:rPr sz="1000" b="0" i="0">
                <a:solidFill>
                  <a:srgbClr val="838B93"/>
                </a:solidFill>
                <a:latin typeface="Helvetica Neue"/>
              </a:rPr>
              <a:t>NOW TO FIRST RESULT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B3</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MEASUREMENT</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is measured, and what is not</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813812"/>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MEASURED</a:t>
            </a:r>
          </a:p>
          <a:p>
            <a:pPr>
              <a:spcBef>
                <a:spcPts val="700"/>
              </a:spcBef>
              <a:spcAft>
                <a:spcPts val="400"/>
              </a:spcAft>
            </a:pPr>
            <a:r>
              <a:rPr sz="1200" b="0" i="0">
                <a:solidFill>
                  <a:srgbClr val="14171B"/>
                </a:solidFill>
                <a:latin typeface="Helvetica Neue"/>
              </a:rPr>
              <a:t>35 questions in seven categories. The predicted winner was written down and locked before any strategy ran.</a:t>
            </a:r>
          </a:p>
          <a:p>
            <a:pPr>
              <a:spcBef>
                <a:spcPts val="300"/>
              </a:spcBef>
              <a:spcAft>
                <a:spcPts val="300"/>
              </a:spcAft>
            </a:pPr>
            <a:r>
              <a:rPr sz="1200" b="0" i="0">
                <a:solidFill>
                  <a:srgbClr val="14171B"/>
                </a:solidFill>
                <a:latin typeface="Helvetica Neue"/>
              </a:rPr>
              <a:t>•  Graph found no name to start from on 11 of 35</a:t>
            </a:r>
          </a:p>
          <a:p>
            <a:pPr>
              <a:spcBef>
                <a:spcPts val="300"/>
              </a:spcBef>
              <a:spcAft>
                <a:spcPts val="300"/>
              </a:spcAft>
            </a:pPr>
            <a:r>
              <a:rPr sz="1200" b="0" i="0">
                <a:solidFill>
                  <a:srgbClr val="14171B"/>
                </a:solidFill>
                <a:latin typeface="Helvetica Neue"/>
              </a:rPr>
              <a:t>•  Won at least one of the eight final slots on 18 of 35</a:t>
            </a:r>
          </a:p>
          <a:p>
            <a:pPr>
              <a:spcBef>
                <a:spcPts val="300"/>
              </a:spcBef>
              <a:spcAft>
                <a:spcPts val="300"/>
              </a:spcAft>
            </a:pPr>
            <a:r>
              <a:rPr sz="1200" b="0" i="0">
                <a:solidFill>
                  <a:srgbClr val="14171B"/>
                </a:solidFill>
                <a:latin typeface="Helvetica Neue"/>
              </a:rPr>
              <a:t>•  Changed the document set on 14 of 35</a:t>
            </a:r>
          </a:p>
          <a:p>
            <a:pPr>
              <a:spcBef>
                <a:spcPts val="1200"/>
              </a:spcBef>
              <a:spcAft>
                <a:spcPts val="200"/>
              </a:spcAft>
            </a:pPr>
            <a:r>
              <a:rPr sz="1100" b="1" i="0">
                <a:solidFill>
                  <a:srgbClr val="4A5158"/>
                </a:solidFill>
                <a:latin typeface="Helvetica Neue"/>
              </a:rPr>
              <a:t>NOT MEASURED — DELIBERATELY</a:t>
            </a:r>
          </a:p>
          <a:p>
            <a:pPr>
              <a:spcBef>
                <a:spcPts val="700"/>
              </a:spcBef>
              <a:spcAft>
                <a:spcPts val="400"/>
              </a:spcAft>
            </a:pPr>
            <a:r>
              <a:rPr sz="1200" b="0" i="0">
                <a:solidFill>
                  <a:srgbClr val="14171B"/>
                </a:solidFill>
                <a:latin typeface="Helvetica Neue"/>
              </a:rPr>
              <a:t>No human-marked correct answers, so none of the standard ranking scores (recall@k, nDCG) can be computed. Judging correctness requires a person, and cannot be delegated.</a:t>
            </a:r>
          </a:p>
          <a:p>
            <a:pPr>
              <a:spcBef>
                <a:spcPts val="700"/>
              </a:spcBef>
              <a:spcAft>
                <a:spcPts val="400"/>
              </a:spcAft>
            </a:pPr>
            <a:r>
              <a:rPr sz="1200" b="0" i="0">
                <a:solidFill>
                  <a:srgbClr val="14171B"/>
                </a:solidFill>
                <a:latin typeface="Helvetica Neue"/>
              </a:rPr>
              <a:t>An answer key written by a model would measure the judge, not the systems.</a:t>
            </a:r>
          </a:p>
          <a:p>
            <a:pPr>
              <a:spcBef>
                <a:spcPts val="700"/>
              </a:spcBef>
              <a:spcAft>
                <a:spcPts val="400"/>
              </a:spcAft>
            </a:pPr>
            <a:r>
              <a:rPr sz="1200" b="0" i="1">
                <a:solidFill>
                  <a:srgbClr val="1E3A5F"/>
                </a:solidFill>
                <a:latin typeface="Helvetica Neue"/>
              </a:rPr>
              <a:t>The evaluation shows that the strategies behave differently. It does not show which one is right. I would rather say that than quote a number I cannot defend.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B4</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A6382C"/>
                </a:solidFill>
                <a:latin typeface="Menlo"/>
              </a:rPr>
              <a:t>BACKUP · ROADMAP</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Challenges for improving the system</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1928368"/>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Each one is scoped, understood and costed. None of them is a surprise, which is the point of measuring a system rather than only building it.</a:t>
            </a:r>
          </a:p>
          <a:p>
            <a:pPr>
              <a:spcBef>
                <a:spcPts val="300"/>
              </a:spcBef>
              <a:spcAft>
                <a:spcPts val="300"/>
              </a:spcAft>
            </a:pPr>
            <a:r>
              <a:rPr sz="1200" b="0" i="0">
                <a:solidFill>
                  <a:srgbClr val="14171B"/>
                </a:solidFill>
                <a:latin typeface="Helvetica Neue"/>
              </a:rPr>
              <a:t>•  Same-person links for places and organisations. Limited to people for now; the matching rule has to change depending on the type.</a:t>
            </a:r>
          </a:p>
          <a:p>
            <a:pPr>
              <a:spcBef>
                <a:spcPts val="300"/>
              </a:spcBef>
              <a:spcAft>
                <a:spcPts val="300"/>
              </a:spcAft>
            </a:pPr>
            <a:r>
              <a:rPr sz="1200" b="0" i="0">
                <a:solidFill>
                  <a:srgbClr val="14171B"/>
                </a:solidFill>
                <a:latin typeface="Helvetica Neue"/>
              </a:rPr>
              <a:t>•  413 flagged pairs awaiting a decision. The system knows what it is unsure about. It needs a screen that shows a reviewer.</a:t>
            </a:r>
          </a:p>
          <a:p>
            <a:pPr>
              <a:spcBef>
                <a:spcPts val="300"/>
              </a:spcBef>
              <a:spcAft>
                <a:spcPts val="300"/>
              </a:spcAft>
            </a:pPr>
            <a:r>
              <a:rPr sz="1200" b="0" i="0">
                <a:solidFill>
                  <a:srgbClr val="14171B"/>
                </a:solidFill>
                <a:latin typeface="Helvetica Neue"/>
              </a:rPr>
              <a:t>•  Correctness not yet verified by a person. Human work by design, not a gap waiting on automation.</a:t>
            </a:r>
          </a:p>
          <a:p>
            <a:pPr>
              <a:spcBef>
                <a:spcPts val="300"/>
              </a:spcBef>
              <a:spcAft>
                <a:spcPts val="300"/>
              </a:spcAft>
            </a:pPr>
            <a:r>
              <a:rPr sz="1200" b="0" i="0">
                <a:solidFill>
                  <a:srgbClr val="14171B"/>
                </a:solidFill>
                <a:latin typeface="Helvetica Neue"/>
              </a:rPr>
              <a:t>•  Answering a different question than the one asked. Separate from declining to answer, and not fixed by it.</a:t>
            </a:r>
          </a:p>
          <a:p>
            <a:pPr>
              <a:spcBef>
                <a:spcPts val="300"/>
              </a:spcBef>
              <a:spcAft>
                <a:spcPts val="300"/>
              </a:spcAft>
            </a:pPr>
            <a:r>
              <a:rPr sz="1200" b="0" i="0">
                <a:solidFill>
                  <a:srgbClr val="14171B"/>
                </a:solidFill>
                <a:latin typeface="Helvetica Neue"/>
              </a:rPr>
              <a:t>•  Adding new documents without rebuilding. The hardest, and the one that matters most at scale.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