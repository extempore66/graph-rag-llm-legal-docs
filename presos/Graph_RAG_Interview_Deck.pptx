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11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It reads everything once, so nobody on your team has to read it again.</a:t>
            </a:r>
          </a:p>
          <a:p>
            <a:pPr>
              <a:spcBef>
                <a:spcPts val="300"/>
              </a:spcBef>
              <a:spcAft>
                <a:spcPts val="100"/>
              </a:spcAft>
            </a:pPr>
            <a:r>
              <a:rPr sz="1200" b="0" i="0">
                <a:solidFill>
                  <a:srgbClr val="14171B"/>
                </a:solidFill>
                <a:latin typeface="Helvetica Neue"/>
              </a:rPr>
              <a:t>•  Every answer cites the page it came from.</a:t>
            </a:r>
          </a:p>
          <a:p>
            <a:pPr lvl="1">
              <a:spcBef>
                <a:spcPts val="0"/>
              </a:spcBef>
              <a:spcAft>
                <a:spcPts val="400"/>
              </a:spcAft>
            </a:pPr>
            <a:r>
              <a:rPr sz="1100" b="0" i="1">
                <a:solidFill>
                  <a:srgbClr val="4A5158"/>
                </a:solidFill>
                <a:latin typeface="Georgia"/>
              </a:rPr>
              <a:t>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37464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is the one nobody else ships. It reads the pre-written topic reports instead of walking the graph, so it can answer a question about the collection as a whole.</a:t>
            </a:r>
          </a:p>
          <a:p>
            <a:pPr lvl="1">
              <a:spcBef>
                <a:spcPts val="0"/>
              </a:spcBef>
              <a:spcAft>
                <a:spcPts val="400"/>
              </a:spcAft>
            </a:pPr>
            <a:r>
              <a:rPr sz="1100" b="0" i="1">
                <a:solidFill>
                  <a:srgbClr val="4A5158"/>
                </a:solidFill>
                <a:latin typeface="Georgia"/>
              </a:rPr>
              <a:t>"what is actually in here?" — the first thing anyone asks, and the one thing ordinary search cannot do.</a:t>
            </a:r>
          </a:p>
          <a:p>
            <a:pPr>
              <a:spcBef>
                <a:spcPts val="300"/>
              </a:spcBef>
              <a:spcAft>
                <a:spcPts val="100"/>
              </a:spcAft>
            </a:pPr>
            <a:r>
              <a:rPr sz="1200" b="0" i="0">
                <a:solidFill>
                  <a:srgbClr val="14171B"/>
                </a:solidFill>
                <a:latin typeface="Helvetica Neue"/>
              </a:rPr>
              <a:t>•  Graph search needs a name to start from. Ask "which courts appear in these documents" and there is nothing to anchor on. Mine falls back to plain similarity search on 11 of 35 test questions for exactly that reason.</a:t>
            </a:r>
          </a:p>
          <a:p>
            <a:pPr lvl="1">
              <a:spcBef>
                <a:spcPts val="0"/>
              </a:spcBef>
              <a:spcAft>
                <a:spcPts val="400"/>
              </a:spcAft>
            </a:pPr>
            <a:r>
              <a:rPr sz="1100" b="0" i="1">
                <a:solidFill>
                  <a:srgbClr val="4A5158"/>
                </a:solidFill>
                <a:latin typeface="Georgia"/>
              </a:rPr>
              <a:t>This is where my design stops and theirs keeps going. I would rather show you the gap than hide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7970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306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Groups the graph into topics, and writes a report on each.</a:t>
            </a:r>
          </a:p>
          <a:p>
            <a:pPr lvl="1">
              <a:spcBef>
                <a:spcPts val="0"/>
              </a:spcBef>
              <a:spcAft>
                <a:spcPts val="400"/>
              </a:spcAft>
            </a:pPr>
            <a:r>
              <a:rPr sz="1100" b="0" i="1">
                <a:solidFill>
                  <a:srgbClr val="4A5158"/>
                </a:solidFill>
                <a:latin typeface="Georgia"/>
              </a:rPr>
              <a:t>It can describe a whole collection, not just find a passage in it.</a:t>
            </a:r>
          </a:p>
          <a:p>
            <a:pPr>
              <a:spcBef>
                <a:spcPts val="300"/>
              </a:spcBef>
              <a:spcAft>
                <a:spcPts val="100"/>
              </a:spcAft>
            </a:pPr>
            <a:r>
              <a:rPr sz="1200" b="0" i="0">
                <a:solidFill>
                  <a:srgbClr val="14171B"/>
                </a:solidFill>
                <a:latin typeface="Helvetica Neue"/>
              </a:rPr>
              <a:t>•  Those reports absorb duplicate names on their own.</a:t>
            </a:r>
          </a:p>
          <a:p>
            <a:pPr lvl="1">
              <a:spcBef>
                <a:spcPts val="0"/>
              </a:spcBef>
              <a:spcAft>
                <a:spcPts val="400"/>
              </a:spcAft>
            </a:pPr>
            <a:r>
              <a:rPr sz="1100" b="0" i="1">
                <a:solidFill>
                  <a:srgbClr val="4A5158"/>
                </a:solidFill>
                <a:latin typeface="Georgia"/>
              </a:rPr>
              <a:t>On well-named documents, the problem mostly solves itself.</a:t>
            </a:r>
          </a:p>
          <a:p>
            <a:pPr>
              <a:spcBef>
                <a:spcPts val="300"/>
              </a:spcBef>
              <a:spcAft>
                <a:spcPts val="100"/>
              </a:spcAft>
            </a:pPr>
            <a:r>
              <a:rPr sz="1200" b="0" i="0">
                <a:solidFill>
                  <a:srgbClr val="14171B"/>
                </a:solidFill>
                <a:latin typeface="Helvetica Neue"/>
              </a:rPr>
              <a:t>•  Best on precise material — documentation, reports, structured filings.</a:t>
            </a:r>
          </a:p>
          <a:p>
            <a:pPr lvl="1">
              <a:spcBef>
                <a:spcPts val="0"/>
              </a:spcBef>
              <a:spcAft>
                <a:spcPts val="400"/>
              </a:spcAft>
            </a:pPr>
            <a:r>
              <a:rPr sz="1100" b="0" i="1">
                <a:solidFill>
                  <a:srgbClr val="4A5158"/>
                </a:solidFill>
                <a:latin typeface="Georgia"/>
              </a:rPr>
              <a:t>Most business content is written this way.</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That absorption stops at Local Search. Two nodes for one person, half the connections, no warning.</a:t>
            </a:r>
          </a:p>
          <a:p>
            <a:pPr lvl="1">
              <a:spcBef>
                <a:spcPts val="0"/>
              </a:spcBef>
              <a:spcAft>
                <a:spcPts val="400"/>
              </a:spcAft>
            </a:pPr>
            <a:r>
              <a:rPr sz="1100" b="0" i="1">
                <a:solidFill>
                  <a:srgbClr val="4A5158"/>
                </a:solidFill>
                <a:latin typeface="Georgia"/>
              </a:rPr>
              <a:t>The answer looks complete when it is not.</a:t>
            </a:r>
          </a:p>
          <a:p>
            <a:pPr>
              <a:spcBef>
                <a:spcPts val="300"/>
              </a:spcBef>
              <a:spcAft>
                <a:spcPts val="100"/>
              </a:spcAft>
            </a:pPr>
            <a:r>
              <a:rPr sz="1200" b="0" i="0">
                <a:solidFill>
                  <a:srgbClr val="14171B"/>
                </a:solidFill>
                <a:latin typeface="Helvetica Neue"/>
              </a:rPr>
              <a:t>•  My documents name people loosely. RECAREY, JOSEPH · Det. Recarey · Mr. Recarey — one man, one docket.</a:t>
            </a:r>
          </a:p>
          <a:p>
            <a:pPr lvl="1">
              <a:spcBef>
                <a:spcPts val="0"/>
              </a:spcBef>
              <a:spcAft>
                <a:spcPts val="400"/>
              </a:spcAft>
            </a:pPr>
            <a:r>
              <a:rPr sz="1100" b="0" i="1">
                <a:solidFill>
                  <a:srgbClr val="4A5158"/>
                </a:solidFill>
                <a:latin typeface="Georgia"/>
              </a:rPr>
              <a:t>Documents that name things consistently never need this step.</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ACTUAL PEOPLE</a:t>
            </a:r>
          </a:p>
          <a:p>
            <a:pPr>
              <a:spcBef>
                <a:spcPts val="600"/>
              </a:spcBef>
              <a:spcAft>
                <a:spcPts val="200"/>
              </a:spcAft>
            </a:pPr>
            <a:r>
              <a:rPr sz="2000" b="1" i="0">
                <a:solidFill>
                  <a:srgbClr val="1E3A5F"/>
                </a:solidFill>
                <a:latin typeface="Georgia"/>
              </a:rPr>
              <a:t>19.8h   </a:t>
            </a:r>
            <a:r>
              <a:rPr sz="1000" b="0" i="0">
                <a:solidFill>
                  <a:srgbClr val="838B93"/>
                </a:solidFill>
                <a:latin typeface="Helvetica Neue"/>
              </a:rPr>
              <a:t>THE MOST EXPENSIVE STAGE</a:t>
            </a:r>
          </a:p>
          <a:p>
            <a:pPr>
              <a:spcBef>
                <a:spcPts val="700"/>
              </a:spcBef>
              <a:spcAft>
                <a:spcPts val="400"/>
              </a:spcAft>
            </a:pPr>
            <a:r>
              <a:rPr sz="1200" b="0" i="1">
                <a:solidFill>
                  <a:srgbClr val="1E3A5F"/>
                </a:solidFill>
                <a:latin typeface="Helvetica Neue"/>
              </a:rPr>
              <a:t>Said carefully: I read their published documentation, not their source, and I did not test the product. Their docs describe no identity-resolution step, but that is an argument from silence. The fair question is on their ground, not mine: how does the Importer handle k8s versus Kubernetes?</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153915"/>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