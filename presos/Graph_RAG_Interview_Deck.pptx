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is measured. Several of the numbers contradict what I expected before I measured them, and I've kept those in."</a:t>
            </a:r>
          </a:p>
          <a:p>
            <a:r>
              <a:t>Set the contract in the first fifteen seconds: this is a working system, not a slideware architecture, and the honesty is deliberate. It buys permission for slide 11.</a:t>
            </a:r>
          </a:p>
          <a:p>
            <a:r>
              <a:t>The four numbers are the whole build in one line — 19,009 mentions collapsing to 2,014 entities is the story of identity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to eight minutes and resist the urge to narrate a CV. The panel is listening for whether you want this job or a job.</a:t>
            </a:r>
          </a:p>
          <a:p>
            <a:r>
              <a:t>Be specific about what you have run in anger versus read about — a panel of engineers will find the seam if you blur it.</a:t>
            </a:r>
          </a:p>
          <a:p>
            <a:r>
              <a:t>Land the closing line deliberately. It is the hinge into Act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service names once and then stop using them. The panel will hear "Importer" and "Retriever" all day from their own people; what they want to know is whether a stranger can explain the split cleanly, and whether the split is the sensible one. It is — rebuilding a graph is slow and occasional, answering is fast and constant, and those two things should never share a deployment.</a:t>
            </a:r>
          </a:p>
          <a:p>
            <a:r>
              <a:t>The four build steps are the same first move I made. Steps one and two are mine almost exactly. Steps three and four — clustering into topics and summarising each — are the part I do not have, and that is deliberate on their side, not an extra. Slide 06 is where that matters.</a:t>
            </a:r>
          </a:p>
          <a:p>
            <a:r>
              <a:t>On "runs where the data lives": their self-hosted path uses Triton. Mine used Ollama on a laptop. Architecturally that is the same decision — local inference for data that cannot leave — made with much cheaper machinery. Worth saying, because it shows I understand why the option exists rather than just that it exists.</a:t>
            </a:r>
          </a:p>
          <a:p>
            <a:r>
              <a:t>If someone pushes on cost, the honest line is that consolidating three systems into one saves licence and staffing money, and I have not measured it. Do not quote their TCO figures as if they were mine.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Instant and Deep are exposed in the web interface. Global, Local and Custom are API-only, which is a real detail worth knowing — a prospect evaluating from the UI alone will not see the capability that most differentiates the product.</a:t>
            </a:r>
          </a:p>
          <a:p>
            <a:r>
              <a:t>My 11-of-35 fallback number is the strongest thing on this slide, because it is a measurement of my own shortfall that their architecture answers. Concentrated in two categories: counting questions and aggregation questions. Both name nothing, so both have no entry point.</a:t>
            </a:r>
          </a:p>
          <a:p>
            <a:r>
              <a:t>Deep Search is worth a second look — it is Local Search with a model planning its own steps. That is an agentic loop over the graph, and a different answer to multi-step questions than my single-pass traversal.</a:t>
            </a:r>
          </a:p>
          <a:p>
            <a:r>
              <a:t>If asked which I would sell first: Instant, because it demos in one screen and needs no explanation. Global is the one that wins the second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purchase. A solutions architect who has never talked a customer out of something is a salesperson with a diagram. Spending thirty seconds here buys belief in everything else.</a:t>
            </a:r>
          </a:p>
          <a:p>
            <a:r>
              <a:t>Arango's own engineering blog concedes the first point: graph retrieval "struggles with semantic connections based on conceptual meaning rather than explicit relationships." I measured the same thing independently — my AB-01 question, where all three strategies returned identical results because there was nothing to anchor on.</a:t>
            </a:r>
          </a:p>
          <a:p>
            <a:r>
              <a:t>They are also deliberately unenthusiastic about HybridRAG in that post: it "can be beneficial and sometimes necessary", but they argue the added complexity needs justifying per application. Agreeing with them here is both honest and disarming.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second-store point is not theoretical for me — I hit it. My build keeps chunk text and vectors in LanceDB and the graph in ArangoDB, and a handful of chunks exist as graph anchors with no LanceDB row. The graph channel has to filter ids before fusion or it hydrates a row with no text. That is the seam, and I can describe it from experience rather than from a competitive brief.</a:t>
            </a:r>
          </a:p>
          <a:p>
            <a:r>
              <a:t>The disclaimer at the bottom is not weakness. If you claim a benchmark you did not run, an engineer on the panel will ask for the methodology and the whole deck loses credit. Saying it first is stronger.</a:t>
            </a:r>
          </a:p>
          <a:p>
            <a:r>
              <a:t>If pushed on cost: their comparison page puts annual TCO at $127,025 for GraphRAG against $205,290 for vector-database RAG at 1 TB and 10K queries/day, the saving resting largely on not recomputing embeddings. I would not lead with it — it is vendor marketing with unstated assumptions, and it does not transfer to my system, which uses embeddings for both retrieval and dedup candidates.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whole talk is built around. Do not rush it. The argument is not that they got something wrong. It is that whether you need identity resolution depends on your documents rather than on the database, so leaving it to the user is a reasonable call.</a:t>
            </a:r>
          </a:p>
          <a:p>
            <a:r>
              <a:t>Why their design is right for their market. Good technical writing declares a name and then repeats the exact token — the name is the identifier. One authorial voice, usually to a style guide. And the entities are mostly concepts and products, which have no honorifics, no initials, no maiden names. My corpus inverts all three: multi-author and adversarial, quoted speech nested inside transcripts nested inside exhibits, and people whose names vary by register on purpose.</a:t>
            </a:r>
          </a:p>
          <a:p>
            <a:r>
              <a:t>One detail worth mentioning if the conversation goes technical. Their settings include a knob for catching entities the model missed. There is nothing that asks whether it counted the same one twice. That tells you what they were solving for, and it is worth raising as an observation rather than a gotcha.</a:t>
            </a:r>
          </a:p>
          <a:p>
            <a:r>
              <a:t>Two honesty checks, and say them before anyone else does. First, "we do resolution, they don't" is too clean and it is not true of me either — I resolved people. The same rule ran backwards on places, wrote 11 wrong links out of 14 in a trial, and I stopped it and scoped the pass to people. Place and organisation resolution is still not done. Second, deduplication is invisible when it works; you cannot screenshot two nodes that were secretly one person. Topic summaries demo beautifully. Product surface follows what demos, and that is not cynicism, it is how roadmaps get built.</a:t>
            </a:r>
          </a:p>
          <a:p>
            <a:r>
              <a:t>The counter-case, if someone asks why not just merge aggressively. Jane Doe, Jane Doe 2, Jane Doe 3 are near-identical to any name-matching algorithm and are three different people. A system that merges them is worse than one that merges nothing, because it invents a connection between real people.</a:t>
            </a:r>
          </a:p>
          <a:p>
            <a:r>
              <a:t>Where to land it: they publish a sameAs pattern already. Running that over the entity collection after import is where this work would go. Offer it as a use case for their product, not as something they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 Start the server, open ask.html, and have the ArangoDB web UI already on a second tab with the named graph created. Do not run an eval beforehand — Ollama serialises generation and a queued request takes 75 seconds instead of a few.</a:t>
            </a:r>
          </a:p>
          <a:p>
            <a:r>
              <a:t>Move 1 — "Who is Alfredo Rodriguez and what was his role in relation to Jeffrey Epstein?" on the graph strategy. Retrieval renders in ~60ms. Point at the coreference families before the answer arrives; that panel is the most interesting thing on screen.</a:t>
            </a:r>
          </a:p>
          <a:p>
            <a:r>
              <a:t>Move 2 — "What is the obiter dicta in this case?" Two things to name out loud: the amber fallback banner (graph could not anchor, so it degraded to vector search — and it says so rather than taking credit), and then the refusal. Abstention failed four times before it worked; this is the hardest thing the system does.</a:t>
            </a:r>
          </a:p>
          <a:p>
            <a:r>
              <a:t>Move 3 — je_entities/1348883 for Recarey; je_entities/1285748 for Jane Doe 2. Set the viewer's label attribute to name or every node shows a numeric key. Never click "load full graph" — 2,014 vertices and 19,009 edges will crawl.</a:t>
            </a:r>
          </a:p>
          <a:p>
            <a:r>
              <a:t>Move 4 — the family-reach query is the punchline: it quantifies what coreference bought, in chunks.</a:t>
            </a:r>
          </a:p>
          <a:p>
            <a:r>
              <a:t>Timing: aim for six minutes on moves 1–2, four on 3–4, leaving room for interruptions. Expect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I owe this slide. An earlier version of this deck said "SmartGraphs with partition_id". There is no such parameter — the real mechanism is smartGraphAttribute, and partition_id was my own placeholder name for the field I would nominate. Worth stating plainly if anyone knows the product well, because inventing a parameter name is exactly the kind of thing that costs credibility.</a:t>
            </a:r>
          </a:p>
          <a:p>
            <a:r>
              <a:t>Two stores was the quick choice and it shows. A few passages exist in the graph with no matching row in LanceDB. That is not a hypothetical consistency risk; it already happened.</a:t>
            </a:r>
          </a:p>
          <a:p>
            <a:r>
              <a:t>What I deliberately did not build: person-to-person edges. This is an index of who appears where, not a map of how people relate. The only link I could honestly derive is "mentioned in the same passage", which in a 190-filing docket says almost nothing.</a:t>
            </a:r>
          </a:p>
          <a:p>
            <a:r>
              <a:t>Also on the list, lower down: a review screen for the 413 flagged pairs, and a second slower model to re-order the final shortlist — a cross-encoder reranker. There is no reranker in the system today; what it has is rank fusion, which is a different thing, and B1 covers it if anyone asks.</a:t>
            </a:r>
          </a:p>
          <a:p>
            <a:r>
              <a:t>On the shard_count question. Ask it as a question. If the answer is "yes, that is a pre-release limit and it is going away", I have learned something. If the answer is "no, here is how", I have learned more. Either way it beats asserting a limitation at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SOUTHERN DISTRICT OF NEW YORK scored 0.517 against its own title case, nowhere near the 0.85 threshold. Combined with capping an unsorted candidate list, true matches were crowded out by weaker partial ones. It failed in the safe direction — missed merges, never false ones — but fragmented the graph badly. A 200-chunk test could not surface it, because the defect only appears at entity density.</a:t>
            </a:r>
          </a:p>
          <a:p>
            <a:r>
              <a:t>2. The flag table held both "Ms. Maxwell" ↔ "Maxwell" and "baron Robert Maxwell" ↔ "Maxwell" — identical surface shape, opposite correct answers. The fix was to change the question from pairs to partitions: judge a whole name family at once, using mention counts, document spread and roles.</a:t>
            </a:r>
          </a:p>
          <a:p>
            <a:r>
              <a:t>3. Found by reading prompt_eval_count and noticing it was suspiciously round — exactly 4096 on every call. A real token count is never a round power of two. Confirmed by re-running the identical prompt with a larger context, which reported the true 4,235. Nothing in any log said a word.</a:t>
            </a:r>
          </a:p>
          <a:p>
            <a:r>
              <a:t>The direction of the cut is the part worth telling. I first assumed the tail of the last passage was lost, then tested it: a prompt with markers at both ends, run at 4096, came back seeing only the last marker. Ollama truncates from the front and does not protect the system message. So the tokens dropped were not evidence — they were the opening of the instructions, the part that says to use only the supplied sources. The system prompt on the path that produced every eval row measures 322 tokens, so a 139-token overrun removes roughly its first 40%.</a:t>
            </a:r>
          </a:p>
          <a:p>
            <a:r>
              <a:t>4. Roughly 3B parameters are active per token in a 30B-A3B model. It is a 30B download, not 30B of thinking. I also tested a prompt amendment that made both models worse, and abandoned it rather than iterating.</a:t>
            </a:r>
          </a:p>
          <a:p>
            <a:r>
              <a:t>On the human in the middle — worth saying out loud, because a panel looking at an AI-assisted project will be wondering. Not one of these four defects was raised by the model. Each surfaced because I was reading real output: a prompt_eval_count that was suspiciously round, a merged name I recognised as two different people, an entity count that did not match what I knew about the corpus. An LLM is a fast, tireless implementer that will build the wrong thing with complete confidence. Deciding what to build, what to measure, and when to distrust a passing result stayed on my side of the loop — and that is the part of the skill set this project actually grew.</a:t>
            </a:r>
          </a:p>
          <a:p>
            <a:r>
              <a:t>If the panel only remembers one thing from this slide, it should be the method: measure real output at real scale, because every one of these was invisible in a small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rank fusion rather than combining the scores — the four channels return numbers that are not comparable. Vector gives a similarity of 0.42. Lexical gives a keyword score of 14.7, unbounded, and it shifts with query length. Density gives a raw count, like nine chunks. Graph gives a hop distance. To fuse by score you would first have to put all four on one scale, then decide how much each one counts: final = 0.5·vector + 0.2·lexical + 0.2·density + 0.1·graph. Those four numbers are the invention. There is no principled source for them here, because fitting weights honestly needs labelled data — a set of questions with known-correct passages to optimise against. This project deliberately has none. So in practice they would be guessed, then nudged while watching five or six questions, which is tuning to those five or six questions rather than to the problem. Rank fusion sidesteps it.</a:t>
            </a:r>
          </a:p>
          <a:p>
            <a:r>
              <a:t>Every channel searches the whole corpus. This is deliberately not retrieve-then-rerank: a reranker can only reorder what stage one returned, so anything ranked badly first is unrecoverable. The obiter case proves the point — those chunks sit at #329–#2970 by cosine, so a bi-encoder-then-rerank design would never surface them.</a:t>
            </a:r>
          </a:p>
          <a:p>
            <a:r>
              <a:t>On reserved slots: the first version fused all channels equally. It fixed the obiter question and simultaneously broke "who is Alfredo Rodriguez" — the deposition that answers it, #3 by plain cosine, fell out of the top 8 entirely because density ranks that document #12 and outvoted the channel that was right. Equal-weight fusion is only sound when channels are independent, and these are inversely correlated by construction.</a:t>
            </a:r>
          </a:p>
          <a:p>
            <a:r>
              <a:t>The graph channel abstains rather than falling back when a question anchors on nothing. Falling back would feed the vector ranking into RRF a second time under a different name — doubling vector's weight on exactly the questions where graph contributes nothing.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Five questions the documents cannot answer, run through all three strategies — fifteen runs. Before the split, it answered all fifteen. After both fixes, it declines eleven. And every single refusal across the full 105-run set was checked by hand against the corpus: none of them was wrong.</a:t>
            </a:r>
          </a:p>
          <a:p>
            <a:r>
              <a:t>What the old version was really doing. Asked which judge signed the January 2024 order, it wrote about adverse inference instructions. Asked what the errata sheet said, it wrote about a passport stamp. Both times: confident, fluent, all eight sources cited, and about a different question. The citation counts in the old results measured nothing at all.</a:t>
            </a:r>
          </a:p>
          <a:p>
            <a:r>
              <a:t>Why the second bug is the interesting one. My first instinct was that the past tense broke it — "who were" failed, "who are" worked. That was wrong. Holding the retrieved passages fixed, both wordings give the same verdict; changing the wording only moved the query embedding, which swapped three of the eight passages. The tense was never the cause. Blaming the user's phrasing would have shipped the bug.</a:t>
            </a:r>
          </a:p>
          <a:p>
            <a:r>
              <a:t>Cost. Eight small calls instead of one large one. It came out faster — the same passages are read either way, but each call now writes a handful of tokens instead of a paragraph.</a:t>
            </a:r>
          </a:p>
          <a:p>
            <a:r>
              <a:t>An instruction a model can ignore becomes a rule it cannot, once it moves into code. Both fixes are the same move, and it is the same lesson as pinning minItems/maxItems in the dedup schema. It is the single most transferable idea in the build.</a:t>
            </a:r>
          </a:p>
          <a:p>
            <a:r>
              <a:t>Still broken, if asked. Two of the five still get answered. "What sentence did the court impose on Jeffrey Epstein?" produces two different sentences from two strategies, so at least one is invented — and the phrase it quotes appears nowhere in the corpus. "What did Prince Andrew say in his deposition?" describes what he did not say in a deposition that never happened. The documents hold a great deal about both subjects, which is why per-passage judging says yes. That is answer relevance, a different problem from absence.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Pre-registration is the methodological point worth making. Several of my predictions were wrong — I expected graph to dominate the counting stratum and it fell back on four of five. Being wrong about a frozen hypothesis is a result; being right about a hypothesis formed afterwards is a story.</a:t>
            </a:r>
          </a:p>
          <a:p>
            <a:r>
              <a:t>The 35 gold answers are standing human work, not an automation gap waiting on a better model. In a legal setting that is the right shape: the machine narrows 3,338 passages to eight and shows its working; a person decides whether the answer is right.</a:t>
            </a:r>
          </a:p>
          <a:p>
            <a:r>
              <a:t>The cheap next step is an answer-in-context rate: for extractive questions, check whether the expected answer string appears in the retrieved text. One label per question instead of thousands, and it splits the error — string present but answer wrong is a generation bug, string absent is a retrieval bug.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Distinguishing "Royal makes a different town" from "Jeffrey does not make a different person" is world knowledge a token rule does not have. The likely fix is a type-aware rule plus an LLM judgment for the place cases, which is the same two-layer pattern used everywhere else in this build.</a:t>
            </a:r>
          </a:p>
          <a:p>
            <a:r>
              <a:t>On answering the wrong question: a grounded, fluent but non-responsive answer remains possible when the corpus does hold the right material. That is an answer-relevance problem; abstention only covers the case where the material is absent.</a:t>
            </a:r>
          </a:p>
          <a:p>
            <a:r>
              <a:t>Keep this slide in reserve. If the panel asks "what's left", it is the answer. If they don't, do not volunteer all five — slide 11 has already established the candour.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SOLUTIONS ARCHITECT · PANEL PRESENTATION</a:t>
            </a:r>
          </a:p>
        </p:txBody>
      </p:sp>
      <p:sp>
        <p:nvSpPr>
          <p:cNvPr id="4" name="TextBox 3"/>
          <p:cNvSpPr txBox="1"/>
          <p:nvPr/>
        </p:nvSpPr>
        <p:spPr>
          <a:xfrm>
            <a:off x="566928" y="841248"/>
            <a:ext cx="11057839" cy="822960"/>
          </a:xfrm>
          <a:prstGeom prst="rect">
            <a:avLst/>
          </a:prstGeom>
          <a:noFill/>
        </p:spPr>
        <p:txBody>
          <a:bodyPr wrap="square" lIns="0" rIns="0" tIns="0" bIns="0">
            <a:spAutoFit/>
          </a:bodyPr>
          <a:lstStyle/>
          <a:p>
            <a:pPr>
              <a:spcBef>
                <a:spcPts val="0"/>
              </a:spcBef>
              <a:spcAft>
                <a:spcPts val="0"/>
              </a:spcAft>
            </a:pPr>
            <a:r>
              <a:rPr sz="3400" b="1" i="0">
                <a:solidFill>
                  <a:srgbClr val="14171B"/>
                </a:solidFill>
                <a:latin typeface="Georgia"/>
              </a:rPr>
              <a:t>One person, eight names.</a:t>
            </a:r>
          </a:p>
        </p:txBody>
      </p:sp>
      <p:sp>
        <p:nvSpPr>
          <p:cNvPr id="5" name="Rectangle 4"/>
          <p:cNvSpPr/>
          <p:nvPr/>
        </p:nvSpPr>
        <p:spPr>
          <a:xfrm>
            <a:off x="566928" y="173736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920240"/>
            <a:ext cx="11057839" cy="240715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Graph RAG system over 190 unsealed federal court filings. Built on ArangoDB, measured earnestly, and brutally honest about where it falls short.</a:t>
            </a:r>
          </a:p>
          <a:p>
            <a:pPr>
              <a:spcBef>
                <a:spcPts val="600"/>
              </a:spcBef>
              <a:spcAft>
                <a:spcPts val="200"/>
              </a:spcAft>
            </a:pPr>
            <a:r>
              <a:rPr sz="2000" b="1" i="0">
                <a:solidFill>
                  <a:srgbClr val="1E3A5F"/>
                </a:solidFill>
                <a:latin typeface="Georgia"/>
              </a:rPr>
              <a:t>3,338   </a:t>
            </a:r>
            <a:r>
              <a:rPr sz="1000" b="0" i="0">
                <a:solidFill>
                  <a:srgbClr val="838B93"/>
                </a:solidFill>
                <a:latin typeface="Helvetica Neue"/>
              </a:rPr>
              <a:t>PASSAGES</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PEOPLE, PLACES, ORGS</a:t>
            </a:r>
          </a:p>
          <a:p>
            <a:pPr>
              <a:spcBef>
                <a:spcPts val="600"/>
              </a:spcBef>
              <a:spcAft>
                <a:spcPts val="200"/>
              </a:spcAft>
            </a:pPr>
            <a:r>
              <a:rPr sz="2000" b="1" i="0">
                <a:solidFill>
                  <a:srgbClr val="1E3A5F"/>
                </a:solidFill>
                <a:latin typeface="Georgia"/>
              </a:rPr>
              <a:t>488   </a:t>
            </a:r>
            <a:r>
              <a:rPr sz="1000" b="0" i="0">
                <a:solidFill>
                  <a:srgbClr val="838B93"/>
                </a:solidFill>
                <a:latin typeface="Helvetica Neue"/>
              </a:rPr>
              <a:t>SAME-PERSON LINKS</a:t>
            </a:r>
          </a:p>
          <a:p>
            <a:pPr>
              <a:spcBef>
                <a:spcPts val="1000"/>
              </a:spcBef>
              <a:spcAft>
                <a:spcPts val="400"/>
              </a:spcAft>
            </a:pPr>
            <a:r>
              <a:rPr sz="900" b="0" i="0">
                <a:solidFill>
                  <a:srgbClr val="838B93"/>
                </a:solidFill>
                <a:latin typeface="Menlo"/>
              </a:rPr>
              <a:t>Background · Arango AI Suite · Live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BACKGROUND · 6–8 MINUTES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My bio, why this role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09143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SUMMARY &amp; ENGAGEMENTS</a:t>
            </a:r>
          </a:p>
          <a:p>
            <a:pPr>
              <a:spcBef>
                <a:spcPts val="700"/>
              </a:spcBef>
              <a:spcAft>
                <a:spcPts val="400"/>
              </a:spcAft>
            </a:pPr>
            <a:r>
              <a:rPr sz="1200" b="0" i="0">
                <a:solidFill>
                  <a:srgbClr val="14171B"/>
                </a:solidFill>
                <a:latin typeface="Helvetica Neue"/>
              </a:rPr>
              <a:t>Where you are now, in one sentence.</a:t>
            </a:r>
          </a:p>
          <a:p>
            <a:pPr>
              <a:spcBef>
                <a:spcPts val="700"/>
              </a:spcBef>
              <a:spcAft>
                <a:spcPts val="400"/>
              </a:spcAft>
            </a:pPr>
            <a:r>
              <a:rPr sz="1200" b="0" i="0">
                <a:solidFill>
                  <a:srgbClr val="14171B"/>
                </a:solidFill>
                <a:latin typeface="Helvetica Neue"/>
              </a:rPr>
              <a:t>Two or three engagements — favour ones where you explained something technical to a non-technical decision maker.</a:t>
            </a:r>
          </a:p>
          <a:p>
            <a:pPr>
              <a:spcBef>
                <a:spcPts val="1200"/>
              </a:spcBef>
              <a:spcAft>
                <a:spcPts val="200"/>
              </a:spcAft>
            </a:pPr>
            <a:r>
              <a:rPr sz="1100" b="1" i="0">
                <a:solidFill>
                  <a:srgbClr val="4A5158"/>
                </a:solidFill>
                <a:latin typeface="Helvetica Neue"/>
              </a:rPr>
              <a:t>GRAPH EXPERIENCE &amp; WHY THIS ROLE</a:t>
            </a:r>
          </a:p>
          <a:p>
            <a:pPr>
              <a:spcBef>
                <a:spcPts val="700"/>
              </a:spcBef>
              <a:spcAft>
                <a:spcPts val="400"/>
              </a:spcAft>
            </a:pPr>
            <a:r>
              <a:rPr sz="1200" b="0" i="0">
                <a:solidFill>
                  <a:srgbClr val="14171B"/>
                </a:solidFill>
                <a:latin typeface="Helvetica Neue"/>
              </a:rPr>
              <a:t>Which systems, at what depth, on what problems.</a:t>
            </a:r>
          </a:p>
          <a:p>
            <a:pPr>
              <a:spcBef>
                <a:spcPts val="700"/>
              </a:spcBef>
              <a:spcAft>
                <a:spcPts val="400"/>
              </a:spcAft>
            </a:pPr>
            <a:r>
              <a:rPr sz="1200" b="0" i="0">
                <a:solidFill>
                  <a:srgbClr val="14171B"/>
                </a:solidFill>
                <a:latin typeface="Helvetica Neue"/>
              </a:rPr>
              <a:t>Why ArangoDB, why now, why solutions architecture.</a:t>
            </a:r>
          </a:p>
          <a:p>
            <a:pPr>
              <a:spcBef>
                <a:spcPts val="700"/>
              </a:spcBef>
              <a:spcAft>
                <a:spcPts val="400"/>
              </a:spcAft>
            </a:pPr>
            <a:r>
              <a:rPr sz="1200" b="0" i="1">
                <a:solidFill>
                  <a:srgbClr val="1E3A5F"/>
                </a:solidFill>
                <a:latin typeface="Helvetica Neue"/>
              </a:rPr>
              <a:t>The rest of this deck is one long answer to the same question: I didn't read about Graph RAG. I built one, measured it, and can tell you where it fails.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the suite actually does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017012"/>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Two services. One draws the map, the other reads it.</a:t>
            </a:r>
          </a:p>
          <a:p>
            <a:pPr>
              <a:spcBef>
                <a:spcPts val="300"/>
              </a:spcBef>
              <a:spcAft>
                <a:spcPts val="100"/>
              </a:spcAft>
            </a:pPr>
            <a:r>
              <a:rPr sz="1200" b="0" i="0">
                <a:solidFill>
                  <a:srgbClr val="14171B"/>
                </a:solidFill>
                <a:latin typeface="Helvetica Neue"/>
              </a:rPr>
              <a:t>•  The Importer builds, the Retriever answers. Raw files go in one end and come out as a knowledge graph; questions go to the other.</a:t>
            </a:r>
          </a:p>
          <a:p>
            <a:pPr lvl="1">
              <a:spcBef>
                <a:spcPts val="0"/>
              </a:spcBef>
              <a:spcAft>
                <a:spcPts val="400"/>
              </a:spcAft>
            </a:pPr>
            <a:r>
              <a:rPr sz="1100" b="0" i="1">
                <a:solidFill>
                  <a:srgbClr val="4A5158"/>
                </a:solidFill>
                <a:latin typeface="Georgia"/>
              </a:rPr>
              <a:t>In other words: you can redraw the map without touching the thing your users talk to.</a:t>
            </a:r>
          </a:p>
          <a:p>
            <a:pPr>
              <a:spcBef>
                <a:spcPts val="300"/>
              </a:spcBef>
              <a:spcAft>
                <a:spcPts val="100"/>
              </a:spcAft>
            </a:pPr>
            <a:r>
              <a:rPr sz="1200" b="0" i="0">
                <a:solidFill>
                  <a:srgbClr val="14171B"/>
                </a:solidFill>
                <a:latin typeface="Helvetica Neue"/>
              </a:rPr>
              <a:t>•  Four steps to build it. Split the documents into passages, have a model find the people, places and organisations, group related ones into topics, then have the model write a short report on each topic.</a:t>
            </a:r>
          </a:p>
          <a:p>
            <a:pPr lvl="1">
              <a:spcBef>
                <a:spcPts val="0"/>
              </a:spcBef>
              <a:spcAft>
                <a:spcPts val="400"/>
              </a:spcAft>
            </a:pPr>
            <a:r>
              <a:rPr sz="1100" b="0" i="1">
                <a:solidFill>
                  <a:srgbClr val="4A5158"/>
                </a:solidFill>
                <a:latin typeface="Georgia"/>
              </a:rPr>
              <a:t>In other words: it reads everything once, so nobody on your team has to read it again.</a:t>
            </a:r>
          </a:p>
          <a:p>
            <a:pPr>
              <a:spcBef>
                <a:spcPts val="300"/>
              </a:spcBef>
              <a:spcAft>
                <a:spcPts val="100"/>
              </a:spcAft>
            </a:pPr>
            <a:r>
              <a:rPr sz="1200" b="0" i="0">
                <a:solidFill>
                  <a:srgbClr val="14171B"/>
                </a:solidFill>
                <a:latin typeface="Helvetica Neue"/>
              </a:rPr>
              <a:t>•  Every answer cites the page it came from.</a:t>
            </a:r>
          </a:p>
          <a:p>
            <a:pPr lvl="1">
              <a:spcBef>
                <a:spcPts val="0"/>
              </a:spcBef>
              <a:spcAft>
                <a:spcPts val="400"/>
              </a:spcAft>
            </a:pPr>
            <a:r>
              <a:rPr sz="1100" b="0" i="1">
                <a:solidFill>
                  <a:srgbClr val="4A5158"/>
                </a:solidFill>
                <a:latin typeface="Georgia"/>
              </a:rPr>
              <a:t>In other words: a person can check the work — which is the difference between a tool a regulated business can use and one it cannot.</a:t>
            </a:r>
          </a:p>
          <a:p>
            <a:pPr>
              <a:spcBef>
                <a:spcPts val="300"/>
              </a:spcBef>
              <a:spcAft>
                <a:spcPts val="100"/>
              </a:spcAft>
            </a:pPr>
            <a:r>
              <a:rPr sz="1200" b="0" i="0">
                <a:solidFill>
                  <a:srgbClr val="14171B"/>
                </a:solidFill>
                <a:latin typeface="Helvetica Neue"/>
              </a:rPr>
              <a:t>•  It runs where the data already lives, including air-gapped, against models on your own hardware.</a:t>
            </a:r>
          </a:p>
          <a:p>
            <a:pPr lvl="1">
              <a:spcBef>
                <a:spcPts val="0"/>
              </a:spcBef>
              <a:spcAft>
                <a:spcPts val="400"/>
              </a:spcAft>
            </a:pPr>
            <a:r>
              <a:rPr sz="1100" b="0" i="1">
                <a:solidFill>
                  <a:srgbClr val="4A5158"/>
                </a:solidFill>
                <a:latin typeface="Georgia"/>
              </a:rPr>
              <a:t>In other words: nothing leaves the building, and one database replaces three to secure and staff.</a:t>
            </a:r>
          </a:p>
          <a:p>
            <a:pPr>
              <a:spcBef>
                <a:spcPts val="700"/>
              </a:spcBef>
              <a:spcAft>
                <a:spcPts val="400"/>
              </a:spcAft>
            </a:pPr>
            <a:r>
              <a:rPr sz="1200" b="0" i="1">
                <a:solidFill>
                  <a:srgbClr val="1E3A5F"/>
                </a:solidFill>
                <a:latin typeface="Helvetica Neue"/>
              </a:rPr>
              <a:t>The executive question is never "how does the retriever work". It is what can my team ask on Monday that they could not ask on Friday — and can they trust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CAPABILITY</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Five ways to ask a question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8658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Different business questions need different retrieval. Most products ship one.</a:t>
            </a:r>
          </a:p>
        </p:txBody>
      </p:sp>
      <p:graphicFrame>
        <p:nvGraphicFramePr>
          <p:cNvPr id="7" name="Table 6"/>
          <p:cNvGraphicFramePr>
            <a:graphicFrameLocks noGrp="1"/>
          </p:cNvGraphicFramePr>
          <p:nvPr/>
        </p:nvGraphicFramePr>
        <p:xfrm>
          <a:off x="566928" y="1986788"/>
          <a:ext cx="11057838" cy="2089404"/>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Method</a:t>
                      </a:r>
                    </a:p>
                  </a:txBody>
                  <a:tcPr marL="64008" marR="64008" marT="27432" marB="27432" anchor="t">
                    <a:solidFill>
                      <a:srgbClr val="E7EBF1"/>
                    </a:solidFill>
                  </a:tcPr>
                </a:tc>
                <a:tc>
                  <a:txBody>
                    <a:bodyPr wrap="square"/>
                    <a:lstStyle/>
                    <a:p>
                      <a:r>
                        <a:rPr sz="1000" b="1" i="0">
                          <a:solidFill>
                            <a:srgbClr val="4A5158"/>
                          </a:solidFill>
                          <a:latin typeface="Helvetica Neue"/>
                        </a:rPr>
                        <a:t>Answers</a:t>
                      </a:r>
                    </a:p>
                  </a:txBody>
                  <a:tcPr marL="64008" marR="64008" marT="27432" marB="27432" anchor="t">
                    <a:solidFill>
                      <a:srgbClr val="E7EBF1"/>
                    </a:solidFill>
                  </a:tcPr>
                </a:tc>
                <a:tc>
                  <a:txBody>
                    <a:bodyPr wrap="square"/>
                    <a:lstStyle/>
                    <a:p>
                      <a:r>
                        <a:rPr sz="1000" b="1" i="0">
                          <a:solidFill>
                            <a:srgbClr val="4A5158"/>
                          </a:solidFill>
                          <a:latin typeface="Helvetica Neue"/>
                        </a:rPr>
                        <a:t>Speed</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Global</a:t>
                      </a:r>
                    </a:p>
                  </a:txBody>
                  <a:tcPr marL="64008" marR="64008" marT="27432" marB="27432" anchor="t">
                    <a:solidFill>
                      <a:srgbClr val="FBFAF8"/>
                    </a:solidFill>
                  </a:tcPr>
                </a:tc>
                <a:tc>
                  <a:txBody>
                    <a:bodyPr wrap="square"/>
                    <a:lstStyle/>
                    <a:p>
                      <a:r>
                        <a:rPr sz="1100" b="0" i="0">
                          <a:solidFill>
                            <a:srgbClr val="14171B"/>
                          </a:solidFill>
                          <a:latin typeface="Helvetica Neue"/>
                        </a:rPr>
                        <a:t>Themes across every document, using the topic reports</a:t>
                      </a:r>
                    </a:p>
                  </a:txBody>
                  <a:tcPr marL="64008" marR="64008" marT="27432" marB="27432" anchor="t">
                    <a:solidFill>
                      <a:srgbClr val="FBFAF8"/>
                    </a:solidFill>
                  </a:tcPr>
                </a:tc>
                <a:tc>
                  <a:txBody>
                    <a:bodyPr wrap="square"/>
                    <a:lstStyle/>
                    <a:p>
                      <a:r>
                        <a:rPr sz="1100" b="0" i="0">
                          <a:solidFill>
                            <a:srgbClr val="14171B"/>
                          </a:solidFill>
                          <a:latin typeface="Helvetica Neue"/>
                        </a:rPr>
                        <a:t>medium</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Local</a:t>
                      </a:r>
                    </a:p>
                  </a:txBody>
                  <a:tcPr marL="64008" marR="64008" marT="27432" marB="27432" anchor="t">
                    <a:solidFill>
                      <a:srgbClr val="FBFAF8"/>
                    </a:solidFill>
                  </a:tcPr>
                </a:tc>
                <a:tc>
                  <a:txBody>
                    <a:bodyPr wrap="square"/>
                    <a:lstStyle/>
                    <a:p>
                      <a:r>
                        <a:rPr sz="1100" b="0" i="0">
                          <a:solidFill>
                            <a:srgbClr val="14171B"/>
                          </a:solidFill>
                          <a:latin typeface="Helvetica Neue"/>
                        </a:rPr>
                        <a:t>One person or organisation, and everything linked to it</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Deep</a:t>
                      </a:r>
                    </a:p>
                  </a:txBody>
                  <a:tcPr marL="64008" marR="64008" marT="27432" marB="27432" anchor="t">
                    <a:solidFill>
                      <a:srgbClr val="FBFAF8"/>
                    </a:solidFill>
                  </a:tcPr>
                </a:tc>
                <a:tc>
                  <a:txBody>
                    <a:bodyPr wrap="square"/>
                    <a:lstStyle/>
                    <a:p>
                      <a:r>
                        <a:rPr sz="1100" b="0" i="0">
                          <a:solidFill>
                            <a:srgbClr val="14171B"/>
                          </a:solidFill>
                          <a:latin typeface="Helvetica Neue"/>
                        </a:rPr>
                        <a:t>Multi-step research; the model plans its own steps</a:t>
                      </a:r>
                    </a:p>
                  </a:txBody>
                  <a:tcPr marL="64008" marR="64008" marT="27432" marB="27432" anchor="t">
                    <a:solidFill>
                      <a:srgbClr val="FBFAF8"/>
                    </a:solidFill>
                  </a:tcPr>
                </a:tc>
                <a:tc>
                  <a:txBody>
                    <a:bodyPr wrap="square"/>
                    <a:lstStyle/>
                    <a:p>
                      <a:r>
                        <a:rPr sz="1100" b="0" i="0">
                          <a:solidFill>
                            <a:srgbClr val="14171B"/>
                          </a:solidFill>
                          <a:latin typeface="Helvetica Neue"/>
                        </a:rPr>
                        <a:t>higher</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Instant</a:t>
                      </a:r>
                    </a:p>
                  </a:txBody>
                  <a:tcPr marL="64008" marR="64008" marT="27432" marB="27432" anchor="t">
                    <a:solidFill>
                      <a:srgbClr val="FBFAF8"/>
                    </a:solidFill>
                  </a:tcPr>
                </a:tc>
                <a:tc>
                  <a:txBody>
                    <a:bodyPr wrap="square"/>
                    <a:lstStyle/>
                    <a:p>
                      <a:r>
                        <a:rPr sz="1100" b="0" i="0">
                          <a:solidFill>
                            <a:srgbClr val="14171B"/>
                          </a:solidFill>
                          <a:latin typeface="Helvetica Neue"/>
                        </a:rPr>
                        <a:t>Fast answers with references</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Custom</a:t>
                      </a:r>
                    </a:p>
                  </a:txBody>
                  <a:tcPr marL="64008" marR="64008" marT="27432" marB="27432" anchor="t">
                    <a:solidFill>
                      <a:srgbClr val="FBFAF8"/>
                    </a:solidFill>
                  </a:tcPr>
                </a:tc>
                <a:tc>
                  <a:txBody>
                    <a:bodyPr wrap="square"/>
                    <a:lstStyle/>
                    <a:p>
                      <a:r>
                        <a:rPr sz="1100" b="0" i="0">
                          <a:solidFill>
                            <a:srgbClr val="14171B"/>
                          </a:solidFill>
                          <a:latin typeface="Helvetica Neue"/>
                        </a:rPr>
                        <a:t>Your own rules, over your own data</a:t>
                      </a:r>
                    </a:p>
                  </a:txBody>
                  <a:tcPr marL="64008" marR="64008" marT="27432" marB="27432" anchor="t">
                    <a:solidFill>
                      <a:srgbClr val="FBFAF8"/>
                    </a:solidFill>
                  </a:tcPr>
                </a:tc>
                <a:tc>
                  <a:txBody>
                    <a:bodyPr wrap="square"/>
                    <a:lstStyle/>
                    <a:p>
                      <a:r>
                        <a:rPr sz="1100" b="0" i="0">
                          <a:solidFill>
                            <a:srgbClr val="14171B"/>
                          </a:solidFill>
                          <a:latin typeface="Helvetica Neue"/>
                        </a:rPr>
                        <a:t>varies</a:t>
                      </a:r>
                    </a:p>
                  </a:txBody>
                  <a:tcPr marL="64008" marR="64008" marT="27432" marB="27432" anchor="t">
                    <a:solidFill>
                      <a:srgbClr val="FBFAF8"/>
                    </a:solidFill>
                  </a:tcPr>
                </a:tc>
              </a:tr>
            </a:tbl>
          </a:graphicData>
        </a:graphic>
      </p:graphicFrame>
      <p:sp>
        <p:nvSpPr>
          <p:cNvPr id="8" name="TextBox 7"/>
          <p:cNvSpPr txBox="1"/>
          <p:nvPr/>
        </p:nvSpPr>
        <p:spPr>
          <a:xfrm>
            <a:off x="566928" y="4222496"/>
            <a:ext cx="11057839" cy="1572768"/>
          </a:xfrm>
          <a:prstGeom prst="rect">
            <a:avLst/>
          </a:prstGeom>
          <a:noFill/>
        </p:spPr>
        <p:txBody>
          <a:bodyPr wrap="square" lIns="0" rIns="0" tIns="0" bIns="0">
            <a:spAutoFit/>
          </a:bodyPr>
          <a:lstStyle/>
          <a:p>
            <a:pPr>
              <a:spcBef>
                <a:spcPts val="0"/>
              </a:spcBef>
              <a:spcAft>
                <a:spcPts val="100"/>
              </a:spcAft>
            </a:pPr>
            <a:r>
              <a:rPr sz="1200" b="0" i="0">
                <a:solidFill>
                  <a:srgbClr val="14171B"/>
                </a:solidFill>
                <a:latin typeface="Helvetica Neue"/>
              </a:rPr>
              <a:t>•  Global Search is the one nobody else ships. It reads the pre-written topic reports instead of walking the graph, so it can answer a question about the collection as a whole.</a:t>
            </a:r>
          </a:p>
          <a:p>
            <a:pPr lvl="1">
              <a:spcBef>
                <a:spcPts val="0"/>
              </a:spcBef>
              <a:spcAft>
                <a:spcPts val="400"/>
              </a:spcAft>
            </a:pPr>
            <a:r>
              <a:rPr sz="1100" b="0" i="1">
                <a:solidFill>
                  <a:srgbClr val="4A5158"/>
                </a:solidFill>
                <a:latin typeface="Georgia"/>
              </a:rPr>
              <a:t>In other words: "what is actually in here?" — the first thing anyone asks, and the one thing ordinary search cannot do.</a:t>
            </a:r>
          </a:p>
          <a:p>
            <a:pPr>
              <a:spcBef>
                <a:spcPts val="300"/>
              </a:spcBef>
              <a:spcAft>
                <a:spcPts val="100"/>
              </a:spcAft>
            </a:pPr>
            <a:r>
              <a:rPr sz="1200" b="0" i="0">
                <a:solidFill>
                  <a:srgbClr val="14171B"/>
                </a:solidFill>
                <a:latin typeface="Helvetica Neue"/>
              </a:rPr>
              <a:t>•  Graph search needs a name to start from. Ask "which courts appear in these documents" and there is nothing to anchor on. Mine falls back to plain similarity search on 11 of 35 test questions for exactly that reason.</a:t>
            </a:r>
          </a:p>
          <a:p>
            <a:pPr lvl="1">
              <a:spcBef>
                <a:spcPts val="0"/>
              </a:spcBef>
              <a:spcAft>
                <a:spcPts val="400"/>
              </a:spcAft>
            </a:pPr>
            <a:r>
              <a:rPr sz="1100" b="0" i="1">
                <a:solidFill>
                  <a:srgbClr val="4A5158"/>
                </a:solidFill>
                <a:latin typeface="Georgia"/>
              </a:rPr>
              <a:t>In other words: this is where my design stops and theirs keeps going. I would rather show you the gap than hide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FIT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Ideal fit, and less than ideal fit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679700"/>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IDEAL FIT</a:t>
            </a:r>
          </a:p>
          <a:p>
            <a:pPr>
              <a:spcBef>
                <a:spcPts val="300"/>
              </a:spcBef>
              <a:spcAft>
                <a:spcPts val="300"/>
              </a:spcAft>
            </a:pPr>
            <a:r>
              <a:rPr sz="1200" b="0" i="0">
                <a:solidFill>
                  <a:srgbClr val="14171B"/>
                </a:solidFill>
                <a:latin typeface="Helvetica Neue"/>
              </a:rPr>
              <a:t>•  Relationships carry the meaning — investigations, compliance, supply chain.</a:t>
            </a:r>
          </a:p>
          <a:p>
            <a:pPr>
              <a:spcBef>
                <a:spcPts val="300"/>
              </a:spcBef>
              <a:spcAft>
                <a:spcPts val="300"/>
              </a:spcAft>
            </a:pPr>
            <a:r>
              <a:rPr sz="1200" b="0" i="0">
                <a:solidFill>
                  <a:srgbClr val="14171B"/>
                </a:solidFill>
                <a:latin typeface="Helvetica Neue"/>
              </a:rPr>
              <a:t>•  Answers span documents — two facts in two files must be joined.</a:t>
            </a:r>
          </a:p>
          <a:p>
            <a:pPr>
              <a:spcBef>
                <a:spcPts val="300"/>
              </a:spcBef>
              <a:spcAft>
                <a:spcPts val="300"/>
              </a:spcAft>
            </a:pPr>
            <a:r>
              <a:rPr sz="1200" b="0" i="0">
                <a:solidFill>
                  <a:srgbClr val="14171B"/>
                </a:solidFill>
                <a:latin typeface="Helvetica Neue"/>
              </a:rPr>
              <a:t>•  Questions about the whole set — counting and summarising, where similarity has nothing to rank.</a:t>
            </a:r>
          </a:p>
          <a:p>
            <a:pPr>
              <a:spcBef>
                <a:spcPts val="300"/>
              </a:spcBef>
              <a:spcAft>
                <a:spcPts val="300"/>
              </a:spcAft>
            </a:pPr>
            <a:r>
              <a:rPr sz="1200" b="0" i="0">
                <a:solidFill>
                  <a:srgbClr val="14171B"/>
                </a:solidFill>
                <a:latin typeface="Helvetica Neue"/>
              </a:rPr>
              <a:t>•  Data that cannot leave — regulated, privileged, classified.</a:t>
            </a:r>
          </a:p>
          <a:p>
            <a:pPr>
              <a:spcBef>
                <a:spcPts val="1200"/>
              </a:spcBef>
              <a:spcAft>
                <a:spcPts val="200"/>
              </a:spcAft>
            </a:pPr>
            <a:r>
              <a:rPr sz="1100" b="1" i="0">
                <a:solidFill>
                  <a:srgbClr val="4A5158"/>
                </a:solidFill>
                <a:latin typeface="Helvetica Neue"/>
              </a:rPr>
              <a:t>NOT THE BEST FIT</a:t>
            </a:r>
          </a:p>
          <a:p>
            <a:pPr>
              <a:spcBef>
                <a:spcPts val="300"/>
              </a:spcBef>
              <a:spcAft>
                <a:spcPts val="300"/>
              </a:spcAft>
            </a:pPr>
            <a:r>
              <a:rPr sz="1200" b="0" i="0">
                <a:solidFill>
                  <a:srgbClr val="14171B"/>
                </a:solidFill>
                <a:latin typeface="Helvetica Neue"/>
              </a:rPr>
              <a:t>•  Purely conceptual questions. There is no name to start from, so plain meaning-based search (cosine) wins.</a:t>
            </a:r>
          </a:p>
          <a:p>
            <a:pPr>
              <a:spcBef>
                <a:spcPts val="300"/>
              </a:spcBef>
              <a:spcAft>
                <a:spcPts val="300"/>
              </a:spcAft>
            </a:pPr>
            <a:r>
              <a:rPr sz="1200" b="0" i="0">
                <a:solidFill>
                  <a:srgbClr val="14171B"/>
                </a:solidFill>
                <a:latin typeface="Helvetica Neue"/>
              </a:rPr>
              <a:t>•  Small, uniform document sets. One author and one vocabulary, so the extra machinery earns nothing.</a:t>
            </a:r>
          </a:p>
          <a:p>
            <a:pPr>
              <a:spcBef>
                <a:spcPts val="300"/>
              </a:spcBef>
              <a:spcAft>
                <a:spcPts val="300"/>
              </a:spcAft>
            </a:pPr>
            <a:r>
              <a:rPr sz="1200" b="0" i="0">
                <a:solidFill>
                  <a:srgbClr val="14171B"/>
                </a:solidFill>
                <a:latin typeface="Helvetica Neue"/>
              </a:rPr>
              <a:t>•  Simple lookup. If every question is "find the passage about X", a plain vector index is the answer.</a:t>
            </a:r>
          </a:p>
          <a:p>
            <a:pPr>
              <a:spcBef>
                <a:spcPts val="700"/>
              </a:spcBef>
              <a:spcAft>
                <a:spcPts val="400"/>
              </a:spcAft>
            </a:pPr>
            <a:r>
              <a:rPr sz="1200" b="0" i="1">
                <a:solidFill>
                  <a:srgbClr val="1E3A5F"/>
                </a:solidFill>
                <a:latin typeface="Helvetica Neue"/>
              </a:rPr>
              <a:t>The Importer has a setting, rag_mode: "vector_rag", that skips entity extraction altogether. The product already agrees with this column.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POSITIONING</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Solutions comparison at a glance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299716"/>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Alternative</a:t>
                      </a:r>
                    </a:p>
                  </a:txBody>
                  <a:tcPr marL="64008" marR="64008" marT="27432" marB="27432" anchor="t">
                    <a:solidFill>
                      <a:srgbClr val="E7EBF1"/>
                    </a:solidFill>
                  </a:tcPr>
                </a:tc>
                <a:tc>
                  <a:txBody>
                    <a:bodyPr wrap="square"/>
                    <a:lstStyle/>
                    <a:p>
                      <a:r>
                        <a:rPr sz="1000" b="1" i="0">
                          <a:solidFill>
                            <a:srgbClr val="4A5158"/>
                          </a:solidFill>
                          <a:latin typeface="Helvetica Neue"/>
                        </a:rPr>
                        <a:t>Its appeal</a:t>
                      </a:r>
                    </a:p>
                  </a:txBody>
                  <a:tcPr marL="64008" marR="64008" marT="27432" marB="27432" anchor="t">
                    <a:solidFill>
                      <a:srgbClr val="E7EBF1"/>
                    </a:solidFill>
                  </a:tcPr>
                </a:tc>
                <a:tc>
                  <a:txBody>
                    <a:bodyPr wrap="square"/>
                    <a:lstStyle/>
                    <a:p>
                      <a:r>
                        <a:rPr sz="1000" b="1" i="0">
                          <a:solidFill>
                            <a:srgbClr val="4A5158"/>
                          </a:solidFill>
                          <a:latin typeface="Helvetica Neue"/>
                        </a:rPr>
                        <a:t>Where it stops helping</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 DB alone</a:t>
                      </a:r>
                    </a:p>
                  </a:txBody>
                  <a:tcPr marL="64008" marR="64008" marT="27432" marB="27432" anchor="t">
                    <a:solidFill>
                      <a:srgbClr val="FBFAF8"/>
                    </a:solidFill>
                  </a:tcPr>
                </a:tc>
                <a:tc>
                  <a:txBody>
                    <a:bodyPr wrap="square"/>
                    <a:lstStyle/>
                    <a:p>
                      <a:r>
                        <a:rPr sz="1100" b="0" i="0">
                          <a:solidFill>
                            <a:srgbClr val="14171B"/>
                          </a:solidFill>
                          <a:latin typeface="Helvetica Neue"/>
                        </a:rPr>
                        <a:t>Simplest thing that works</a:t>
                      </a:r>
                    </a:p>
                  </a:txBody>
                  <a:tcPr marL="64008" marR="64008" marT="27432" marB="27432" anchor="t">
                    <a:solidFill>
                      <a:srgbClr val="FBFAF8"/>
                    </a:solidFill>
                  </a:tcPr>
                </a:tc>
                <a:tc>
                  <a:txBody>
                    <a:bodyPr wrap="square"/>
                    <a:lstStyle/>
                    <a:p>
                      <a:r>
                        <a:rPr sz="1100" b="0" i="0">
                          <a:solidFill>
                            <a:srgbClr val="14171B"/>
                          </a:solidFill>
                          <a:latin typeface="Helvetica Neue"/>
                        </a:rPr>
                        <a:t>No structure. It cannot answer "both X and Y", and it cannot count.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Neo4j + LangChain</a:t>
                      </a:r>
                    </a:p>
                  </a:txBody>
                  <a:tcPr marL="64008" marR="64008" marT="27432" marB="27432" anchor="t">
                    <a:solidFill>
                      <a:srgbClr val="FBFAF8"/>
                    </a:solidFill>
                  </a:tcPr>
                </a:tc>
                <a:tc>
                  <a:txBody>
                    <a:bodyPr wrap="square"/>
                    <a:lstStyle/>
                    <a:p>
                      <a:r>
                        <a:rPr sz="1100" b="0" i="0">
                          <a:solidFill>
                            <a:srgbClr val="14171B"/>
                          </a:solidFill>
                          <a:latin typeface="Helvetica Neue"/>
                        </a:rPr>
                        <a:t>Mature engine, large hiring pool</a:t>
                      </a:r>
                    </a:p>
                  </a:txBody>
                  <a:tcPr marL="64008" marR="64008" marT="27432" marB="27432" anchor="t">
                    <a:solidFill>
                      <a:srgbClr val="FBFAF8"/>
                    </a:solidFill>
                  </a:tcPr>
                </a:tc>
                <a:tc>
                  <a:txBody>
                    <a:bodyPr wrap="square"/>
                    <a:lstStyle/>
                    <a:p>
                      <a:r>
                        <a:rPr sz="1100" b="0" i="0">
                          <a:solidFill>
                            <a:srgbClr val="14171B"/>
                          </a:solidFill>
                          <a:latin typeface="Helvetica Neue"/>
                        </a:rPr>
                        <a:t>You assemble the RAG layer yourself. Vectors live in a second database, and the join between the two is where bugs live.</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Microsoft GraphRAG</a:t>
                      </a:r>
                    </a:p>
                  </a:txBody>
                  <a:tcPr marL="64008" marR="64008" marT="27432" marB="27432" anchor="t">
                    <a:solidFill>
                      <a:srgbClr val="FBFAF8"/>
                    </a:solidFill>
                  </a:tcPr>
                </a:tc>
                <a:tc>
                  <a:txBody>
                    <a:bodyPr wrap="square"/>
                    <a:lstStyle/>
                    <a:p>
                      <a:r>
                        <a:rPr sz="1100" b="0" i="0">
                          <a:solidFill>
                            <a:srgbClr val="14171B"/>
                          </a:solidFill>
                          <a:latin typeface="Helvetica Neue"/>
                        </a:rPr>
                        <a:t>Where the idea was published</a:t>
                      </a:r>
                    </a:p>
                  </a:txBody>
                  <a:tcPr marL="64008" marR="64008" marT="27432" marB="27432" anchor="t">
                    <a:solidFill>
                      <a:srgbClr val="FBFAF8"/>
                    </a:solidFill>
                  </a:tcPr>
                </a:tc>
                <a:tc>
                  <a:txBody>
                    <a:bodyPr wrap="square"/>
                    <a:lstStyle/>
                    <a:p>
                      <a:r>
                        <a:rPr sz="1100" b="0" i="0">
                          <a:solidFill>
                            <a:srgbClr val="14171B"/>
                          </a:solidFill>
                          <a:latin typeface="Helvetica Neue"/>
                        </a:rPr>
                        <a:t>A library, not a service. You operate all of it.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Off-the-shelf frameworks</a:t>
                      </a:r>
                    </a:p>
                  </a:txBody>
                  <a:tcPr marL="64008" marR="64008" marT="27432" marB="27432" anchor="t">
                    <a:solidFill>
                      <a:srgbClr val="FBFAF8"/>
                    </a:solidFill>
                  </a:tcPr>
                </a:tc>
                <a:tc>
                  <a:txBody>
                    <a:bodyPr wrap="square"/>
                    <a:lstStyle/>
                    <a:p>
                      <a:r>
                        <a:rPr sz="1100" b="0" i="0">
                          <a:solidFill>
                            <a:srgbClr val="14171B"/>
                          </a:solidFill>
                          <a:latin typeface="Helvetica Neue"/>
                        </a:rPr>
                        <a:t>Fastest path to a demo</a:t>
                      </a:r>
                    </a:p>
                  </a:txBody>
                  <a:tcPr marL="64008" marR="64008" marT="27432" marB="27432" anchor="t">
                    <a:solidFill>
                      <a:srgbClr val="FBFAF8"/>
                    </a:solidFill>
                  </a:tcPr>
                </a:tc>
                <a:tc>
                  <a:txBody>
                    <a:bodyPr wrap="square"/>
                    <a:lstStyle/>
                    <a:p>
                      <a:r>
                        <a:rPr sz="1100" b="0" i="0">
                          <a:solidFill>
                            <a:srgbClr val="14171B"/>
                          </a:solidFill>
                          <a:latin typeface="Helvetica Neue"/>
                        </a:rPr>
                        <a:t>The demo is the easy part. Matching the same person across documents, and re-loading changed documents, are where the year goes.</a:t>
                      </a:r>
                    </a:p>
                  </a:txBody>
                  <a:tcPr marL="64008" marR="64008" marT="27432" marB="27432" anchor="t">
                    <a:solidFill>
                      <a:srgbClr val="FBFAF8"/>
                    </a:solidFill>
                  </a:tcPr>
                </a:tc>
              </a:tr>
            </a:tbl>
          </a:graphicData>
        </a:graphic>
      </p:graphicFrame>
      <p:sp>
        <p:nvSpPr>
          <p:cNvPr id="7" name="TextBox 6"/>
          <p:cNvSpPr txBox="1"/>
          <p:nvPr/>
        </p:nvSpPr>
        <p:spPr>
          <a:xfrm>
            <a:off x="566928" y="4046220"/>
            <a:ext cx="11057839" cy="551688"/>
          </a:xfrm>
          <a:prstGeom prst="rect">
            <a:avLst/>
          </a:prstGeom>
          <a:noFill/>
        </p:spPr>
        <p:txBody>
          <a:bodyPr wrap="square" lIns="0" rIns="0" tIns="0" bIns="0">
            <a:spAutoFit/>
          </a:bodyPr>
          <a:lstStyle/>
          <a:p>
            <a:pPr>
              <a:spcBef>
                <a:spcPts val="0"/>
              </a:spcBef>
              <a:spcAft>
                <a:spcPts val="400"/>
              </a:spcAft>
            </a:pPr>
            <a:r>
              <a:rPr sz="1200" b="0" i="0">
                <a:solidFill>
                  <a:srgbClr val="A6382C"/>
                </a:solidFill>
                <a:latin typeface="Helvetica Neue"/>
              </a:rPr>
              <a:t>What I won't claim: I haven't benchmarked ArangoDB against Neo4j or Neptune. ArangoDB is written in C++ rather than Java, so there are no garbage-collection pauses and the memory floor is lower. My 30–91 ms graph queries are consistent with that. They are not proof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WHERE IT SITS ALONGSIDE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ArangoDB excels at — and where mine might complement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90118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The kind of documents you have decides which approach works.</a:t>
            </a:r>
          </a:p>
          <a:p>
            <a:pPr>
              <a:spcBef>
                <a:spcPts val="1200"/>
              </a:spcBef>
              <a:spcAft>
                <a:spcPts val="200"/>
              </a:spcAft>
            </a:pPr>
            <a:r>
              <a:rPr sz="1100" b="1" i="0">
                <a:solidFill>
                  <a:srgbClr val="4A5158"/>
                </a:solidFill>
                <a:latin typeface="Helvetica Neue"/>
              </a:rPr>
              <a:t>WHAT ARANGODB EXCELS AT</a:t>
            </a:r>
          </a:p>
          <a:p>
            <a:pPr>
              <a:spcBef>
                <a:spcPts val="300"/>
              </a:spcBef>
              <a:spcAft>
                <a:spcPts val="100"/>
              </a:spcAft>
            </a:pPr>
            <a:r>
              <a:rPr sz="1200" b="0" i="0">
                <a:solidFill>
                  <a:srgbClr val="14171B"/>
                </a:solidFill>
                <a:latin typeface="Helvetica Neue"/>
              </a:rPr>
              <a:t>•  Groups the graph into topics, and writes a report on each.</a:t>
            </a:r>
          </a:p>
          <a:p>
            <a:pPr lvl="1">
              <a:spcBef>
                <a:spcPts val="0"/>
              </a:spcBef>
              <a:spcAft>
                <a:spcPts val="400"/>
              </a:spcAft>
            </a:pPr>
            <a:r>
              <a:rPr sz="1100" b="0" i="1">
                <a:solidFill>
                  <a:srgbClr val="4A5158"/>
                </a:solidFill>
                <a:latin typeface="Georgia"/>
              </a:rPr>
              <a:t>In other words: it can describe a whole collection, not just find a passage in it.</a:t>
            </a:r>
          </a:p>
          <a:p>
            <a:pPr>
              <a:spcBef>
                <a:spcPts val="300"/>
              </a:spcBef>
              <a:spcAft>
                <a:spcPts val="100"/>
              </a:spcAft>
            </a:pPr>
            <a:r>
              <a:rPr sz="1200" b="0" i="0">
                <a:solidFill>
                  <a:srgbClr val="14171B"/>
                </a:solidFill>
                <a:latin typeface="Helvetica Neue"/>
              </a:rPr>
              <a:t>•  Those reports absorb duplicate names on their own.</a:t>
            </a:r>
          </a:p>
          <a:p>
            <a:pPr lvl="1">
              <a:spcBef>
                <a:spcPts val="0"/>
              </a:spcBef>
              <a:spcAft>
                <a:spcPts val="400"/>
              </a:spcAft>
            </a:pPr>
            <a:r>
              <a:rPr sz="1100" b="0" i="1">
                <a:solidFill>
                  <a:srgbClr val="4A5158"/>
                </a:solidFill>
                <a:latin typeface="Georgia"/>
              </a:rPr>
              <a:t>In other words: on well-named documents, the problem mostly solves itself.</a:t>
            </a:r>
          </a:p>
          <a:p>
            <a:pPr>
              <a:spcBef>
                <a:spcPts val="300"/>
              </a:spcBef>
              <a:spcAft>
                <a:spcPts val="100"/>
              </a:spcAft>
            </a:pPr>
            <a:r>
              <a:rPr sz="1200" b="0" i="0">
                <a:solidFill>
                  <a:srgbClr val="14171B"/>
                </a:solidFill>
                <a:latin typeface="Helvetica Neue"/>
              </a:rPr>
              <a:t>•  Best on precise material — documentation, reports, structured filings.</a:t>
            </a:r>
          </a:p>
          <a:p>
            <a:pPr lvl="1">
              <a:spcBef>
                <a:spcPts val="0"/>
              </a:spcBef>
              <a:spcAft>
                <a:spcPts val="400"/>
              </a:spcAft>
            </a:pPr>
            <a:r>
              <a:rPr sz="1100" b="0" i="1">
                <a:solidFill>
                  <a:srgbClr val="4A5158"/>
                </a:solidFill>
                <a:latin typeface="Georgia"/>
              </a:rPr>
              <a:t>In other words: most business content is written this way.</a:t>
            </a:r>
          </a:p>
          <a:p>
            <a:pPr>
              <a:spcBef>
                <a:spcPts val="1200"/>
              </a:spcBef>
              <a:spcAft>
                <a:spcPts val="200"/>
              </a:spcAft>
            </a:pPr>
            <a:r>
              <a:rPr sz="1100" b="1" i="0">
                <a:solidFill>
                  <a:srgbClr val="4A5158"/>
                </a:solidFill>
                <a:latin typeface="Helvetica Neue"/>
              </a:rPr>
              <a:t>WHERE MINE MIGHT COMPLEMENT</a:t>
            </a:r>
          </a:p>
          <a:p>
            <a:pPr>
              <a:spcBef>
                <a:spcPts val="300"/>
              </a:spcBef>
              <a:spcAft>
                <a:spcPts val="100"/>
              </a:spcAft>
            </a:pPr>
            <a:r>
              <a:rPr sz="1200" b="0" i="0">
                <a:solidFill>
                  <a:srgbClr val="14171B"/>
                </a:solidFill>
                <a:latin typeface="Helvetica Neue"/>
              </a:rPr>
              <a:t>•  That absorption stops at Local Search. Two nodes for one person, half the connections, no warning.</a:t>
            </a:r>
          </a:p>
          <a:p>
            <a:pPr lvl="1">
              <a:spcBef>
                <a:spcPts val="0"/>
              </a:spcBef>
              <a:spcAft>
                <a:spcPts val="400"/>
              </a:spcAft>
            </a:pPr>
            <a:r>
              <a:rPr sz="1100" b="0" i="1">
                <a:solidFill>
                  <a:srgbClr val="4A5158"/>
                </a:solidFill>
                <a:latin typeface="Georgia"/>
              </a:rPr>
              <a:t>In other words: the answer looks complete when it is not.</a:t>
            </a:r>
          </a:p>
          <a:p>
            <a:pPr>
              <a:spcBef>
                <a:spcPts val="300"/>
              </a:spcBef>
              <a:spcAft>
                <a:spcPts val="100"/>
              </a:spcAft>
            </a:pPr>
            <a:r>
              <a:rPr sz="1200" b="0" i="0">
                <a:solidFill>
                  <a:srgbClr val="14171B"/>
                </a:solidFill>
                <a:latin typeface="Helvetica Neue"/>
              </a:rPr>
              <a:t>•  My documents name people loosely. RECAREY, JOSEPH · Det. Recarey · Mr. Recarey — one man, one docket.</a:t>
            </a:r>
          </a:p>
          <a:p>
            <a:pPr lvl="1">
              <a:spcBef>
                <a:spcPts val="0"/>
              </a:spcBef>
              <a:spcAft>
                <a:spcPts val="400"/>
              </a:spcAft>
            </a:pPr>
            <a:r>
              <a:rPr sz="1100" b="0" i="1">
                <a:solidFill>
                  <a:srgbClr val="4A5158"/>
                </a:solidFill>
                <a:latin typeface="Georgia"/>
              </a:rPr>
              <a:t>In other words: documents that name things consistently never need this step.</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ACTUAL PEOPLE</a:t>
            </a:r>
          </a:p>
          <a:p>
            <a:pPr>
              <a:spcBef>
                <a:spcPts val="600"/>
              </a:spcBef>
              <a:spcAft>
                <a:spcPts val="200"/>
              </a:spcAft>
            </a:pPr>
            <a:r>
              <a:rPr sz="2000" b="1" i="0">
                <a:solidFill>
                  <a:srgbClr val="1E3A5F"/>
                </a:solidFill>
                <a:latin typeface="Georgia"/>
              </a:rPr>
              <a:t>19.8h   </a:t>
            </a:r>
            <a:r>
              <a:rPr sz="1000" b="0" i="0">
                <a:solidFill>
                  <a:srgbClr val="838B93"/>
                </a:solidFill>
                <a:latin typeface="Helvetica Neue"/>
              </a:rPr>
              <a:t>THE MOST EXPENSIVE STAGE</a:t>
            </a:r>
          </a:p>
          <a:p>
            <a:pPr>
              <a:spcBef>
                <a:spcPts val="700"/>
              </a:spcBef>
              <a:spcAft>
                <a:spcPts val="400"/>
              </a:spcAft>
            </a:pPr>
            <a:r>
              <a:rPr sz="1200" b="0" i="1">
                <a:solidFill>
                  <a:srgbClr val="1E3A5F"/>
                </a:solidFill>
                <a:latin typeface="Helvetica Neue"/>
              </a:rPr>
              <a:t>Said carefully: I read their published documentation, not their source, and I did not test the product. Their docs describe no identity-resolution step, but that is an argument from silence. The fair question is on their ground, not mine: how does the Importer handle k8s versus Kubernetes?</a:t>
            </a:r>
          </a:p>
          <a:p>
            <a:pPr>
              <a:spcBef>
                <a:spcPts val="700"/>
              </a:spcBef>
              <a:spcAft>
                <a:spcPts val="400"/>
              </a:spcAft>
            </a:pPr>
            <a:r>
              <a:rPr sz="1200" b="0" i="0">
                <a:solidFill>
                  <a:srgbClr val="14171B"/>
                </a:solidFill>
                <a:latin typeface="Helvetica Neue"/>
              </a:rPr>
              <a:t>190 unsealed filings from a single civil docket, public record. Every model ran on my own machine; nothing was sent to an outside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07</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LIVE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Demonstration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798320"/>
          </a:xfrm>
          <a:prstGeom prst="rect">
            <a:avLst/>
          </a:prstGeom>
          <a:noFill/>
        </p:spPr>
        <p:txBody>
          <a:bodyPr wrap="square" lIns="0" rIns="0" tIns="0" bIns="0">
            <a:spAutoFit/>
          </a:bodyPr>
          <a:lstStyle/>
          <a:p>
            <a:pPr>
              <a:spcBef>
                <a:spcPts val="0"/>
              </a:spcBef>
              <a:spcAft>
                <a:spcPts val="300"/>
              </a:spcAft>
            </a:pPr>
            <a:r>
              <a:rPr sz="1200" b="0" i="0">
                <a:solidFill>
                  <a:srgbClr val="14171B"/>
                </a:solidFill>
                <a:latin typeface="Helvetica Neue"/>
              </a:rPr>
              <a:t>01 A question about a person — watch the graph path. 1,770 passages reachable, eight returned.</a:t>
            </a:r>
          </a:p>
          <a:p>
            <a:pPr>
              <a:spcBef>
                <a:spcPts val="500"/>
              </a:spcBef>
              <a:spcAft>
                <a:spcPts val="300"/>
              </a:spcAft>
            </a:pPr>
            <a:r>
              <a:rPr sz="1200" b="0" i="0">
                <a:solidFill>
                  <a:srgbClr val="14171B"/>
                </a:solidFill>
                <a:latin typeface="Helvetica Neue"/>
              </a:rPr>
              <a:t>02 A question the documents cannot answer — it reports that it found no name to start from, then declines: "no judicial opinions, only party filings."</a:t>
            </a:r>
          </a:p>
          <a:p>
            <a:pPr>
              <a:spcBef>
                <a:spcPts val="500"/>
              </a:spcBef>
              <a:spcAft>
                <a:spcPts val="300"/>
              </a:spcAft>
            </a:pPr>
            <a:r>
              <a:rPr sz="1200" b="0" i="0">
                <a:solidFill>
                  <a:srgbClr val="14171B"/>
                </a:solidFill>
                <a:latin typeface="Helvetica Neue"/>
              </a:rPr>
              <a:t>03 The graph itself — Joseph Recarey's seven different spellings. Then Jane Doe 2, and fifteen matches the system refused to make.</a:t>
            </a:r>
          </a:p>
          <a:p>
            <a:pPr>
              <a:spcBef>
                <a:spcPts val="500"/>
              </a:spcBef>
              <a:spcAft>
                <a:spcPts val="300"/>
              </a:spcAft>
            </a:pPr>
            <a:r>
              <a:rPr sz="1200" b="0" i="0">
                <a:solidFill>
                  <a:srgbClr val="14171B"/>
                </a:solidFill>
                <a:latin typeface="Helvetica Neue"/>
              </a:rPr>
              <a:t>04 AQL, ArangoDB's query language — the name family, the review queue, and how much more evidence a family reaches than a single spelling.</a:t>
            </a:r>
          </a:p>
          <a:p>
            <a:pPr>
              <a:spcBef>
                <a:spcPts val="700"/>
              </a:spcBef>
              <a:spcAft>
                <a:spcPts val="400"/>
              </a:spcAft>
            </a:pPr>
            <a:r>
              <a:rPr sz="1200" b="0" i="1">
                <a:solidFill>
                  <a:srgbClr val="1E3A5F"/>
                </a:solidFill>
                <a:latin typeface="Helvetica Neue"/>
              </a:rPr>
              <a:t>Watch the channel tags: vector#26 lexical#7 graph#11 means three independent methods each picked the same passage. When they agree, that is the strongest signal the system produces.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08</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PRODUCTION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I'd change to run this at scale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352036"/>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What I built proves the idea. It is not what I would deploy.</a:t>
            </a:r>
          </a:p>
          <a:p>
            <a:pPr>
              <a:spcBef>
                <a:spcPts val="300"/>
              </a:spcBef>
              <a:spcAft>
                <a:spcPts val="100"/>
              </a:spcAft>
            </a:pPr>
            <a:r>
              <a:rPr sz="1200" b="0" i="0">
                <a:solidFill>
                  <a:srgbClr val="14171B"/>
                </a:solidFill>
                <a:latin typeface="Helvetica Neue"/>
              </a:rPr>
              <a:t>•  I would delete the second database. The graph is in ArangoDB and the text and vectors are in LanceDB. ArangoDB 3.12 has a native vector index, so the two collapse into one.</a:t>
            </a:r>
          </a:p>
          <a:p>
            <a:pPr lvl="1">
              <a:spcBef>
                <a:spcPts val="0"/>
              </a:spcBef>
              <a:spcAft>
                <a:spcPts val="400"/>
              </a:spcAft>
            </a:pPr>
            <a:r>
              <a:rPr sz="1100" b="0" i="1">
                <a:solidFill>
                  <a:srgbClr val="4A5158"/>
                </a:solidFill>
                <a:latin typeface="Georgia"/>
              </a:rPr>
              <a:t>In other words: a whole class of bug — the two stores quietly disagreeing — stops existing, and a join across two systems becomes one lookup.</a:t>
            </a:r>
          </a:p>
          <a:p>
            <a:pPr>
              <a:spcBef>
                <a:spcPts val="300"/>
              </a:spcBef>
              <a:spcAft>
                <a:spcPts val="100"/>
              </a:spcAft>
            </a:pPr>
            <a:r>
              <a:rPr sz="1200" b="0" i="0">
                <a:solidFill>
                  <a:srgbClr val="14171B"/>
                </a:solidFill>
                <a:latin typeface="Helvetica Neue"/>
              </a:rPr>
              <a:t>•  I would shard the graph by legal matter. A SmartGraph is split on an attribute you nominate; put every vertex of one matter on the same shard and a traversal never crosses the network. It is also the customer boundary.</a:t>
            </a:r>
          </a:p>
          <a:p>
            <a:pPr lvl="1">
              <a:spcBef>
                <a:spcPts val="0"/>
              </a:spcBef>
              <a:spcAft>
                <a:spcPts val="400"/>
              </a:spcAft>
            </a:pPr>
            <a:r>
              <a:rPr sz="1100" b="0" i="1">
                <a:solidFill>
                  <a:srgbClr val="4A5158"/>
                </a:solidFill>
                <a:latin typeface="Georgia"/>
              </a:rPr>
              <a:t>In other words: one client's documents stay in one place — faster to query, and far easier to explain to their auditor.</a:t>
            </a:r>
          </a:p>
          <a:p>
            <a:pPr>
              <a:spcBef>
                <a:spcPts val="300"/>
              </a:spcBef>
              <a:spcAft>
                <a:spcPts val="100"/>
              </a:spcAft>
            </a:pPr>
            <a:r>
              <a:rPr sz="1200" b="0" i="0">
                <a:solidFill>
                  <a:srgbClr val="14171B"/>
                </a:solidFill>
                <a:latin typeface="Helvetica Neue"/>
              </a:rPr>
              <a:t>•  I would keep the entity index on every node as a satellite collection, because every single traversal touches it.</a:t>
            </a:r>
          </a:p>
          <a:p>
            <a:pPr lvl="1">
              <a:spcBef>
                <a:spcPts val="0"/>
              </a:spcBef>
              <a:spcAft>
                <a:spcPts val="400"/>
              </a:spcAft>
            </a:pPr>
            <a:r>
              <a:rPr sz="1100" b="0" i="1">
                <a:solidFill>
                  <a:srgbClr val="4A5158"/>
                </a:solidFill>
                <a:latin typeface="Georgia"/>
              </a:rPr>
              <a:t>In other words: don't make the most-used lookup in the system take a network hop.</a:t>
            </a:r>
          </a:p>
          <a:p>
            <a:pPr>
              <a:spcBef>
                <a:spcPts val="300"/>
              </a:spcBef>
              <a:spcAft>
                <a:spcPts val="100"/>
              </a:spcAft>
            </a:pPr>
            <a:r>
              <a:rPr sz="1200" b="0" i="0">
                <a:solidFill>
                  <a:srgbClr val="14171B"/>
                </a:solidFill>
                <a:latin typeface="Helvetica Neue"/>
              </a:rPr>
              <a:t>•  I would budget and staff a human review step. 413 uncertain name matches are queued and nobody has looked at them. A wrong merge invents a connection between real people; a missed one only means we find less.</a:t>
            </a:r>
          </a:p>
          <a:p>
            <a:pPr lvl="1">
              <a:spcBef>
                <a:spcPts val="0"/>
              </a:spcBef>
              <a:spcAft>
                <a:spcPts val="400"/>
              </a:spcAft>
            </a:pPr>
            <a:r>
              <a:rPr sz="1100" b="0" i="1">
                <a:solidFill>
                  <a:srgbClr val="4A5158"/>
                </a:solidFill>
                <a:latin typeface="Georgia"/>
              </a:rPr>
              <a:t>In other words: I would rather miss a link than invent one — and someone has to be paid to make that call.</a:t>
            </a:r>
          </a:p>
          <a:p>
            <a:pPr>
              <a:spcBef>
                <a:spcPts val="300"/>
              </a:spcBef>
              <a:spcAft>
                <a:spcPts val="100"/>
              </a:spcAft>
            </a:pPr>
            <a:r>
              <a:rPr sz="1200" b="0" i="0">
                <a:solidFill>
                  <a:srgbClr val="14171B"/>
                </a:solidFill>
                <a:latin typeface="Helvetica Neue"/>
              </a:rPr>
              <a:t>•  Unsolved: adding documents without rebuilding. Matching names across all 190 filings took 19 hours, and that cost grows with the number of mentions, not the number of documents.</a:t>
            </a:r>
          </a:p>
          <a:p>
            <a:pPr lvl="1">
              <a:spcBef>
                <a:spcPts val="0"/>
              </a:spcBef>
              <a:spcAft>
                <a:spcPts val="400"/>
              </a:spcAft>
            </a:pPr>
            <a:r>
              <a:rPr sz="1100" b="0" i="1">
                <a:solidFill>
                  <a:srgbClr val="4A5158"/>
                </a:solidFill>
                <a:latin typeface="Georgia"/>
              </a:rPr>
              <a:t>In other words: today, one new filing means redoing the whole graph. That is the hard problem, and I have not solved it.</a:t>
            </a:r>
          </a:p>
          <a:p>
            <a:pPr>
              <a:spcBef>
                <a:spcPts val="700"/>
              </a:spcBef>
              <a:spcAft>
                <a:spcPts val="400"/>
              </a:spcAft>
            </a:pPr>
            <a:r>
              <a:rPr sz="1200" b="0" i="0">
                <a:solidFill>
                  <a:srgbClr val="A6382C"/>
                </a:solidFill>
                <a:latin typeface="Helvetica Neue"/>
              </a:rPr>
              <a:t>A question for you, not a criticism: the Technical Overview says SmartGraph creation through the Importer currently accepts only shard_count: 1. So is the sharding above something I would have to build outside the Importer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09</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THE SOLUTION · CANDOUR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Pitfalls learned along the way</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027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taught me something I now carry into the next build and related projects.</a:t>
            </a:r>
          </a:p>
          <a:p>
            <a:pPr>
              <a:spcBef>
                <a:spcPts val="1200"/>
              </a:spcBef>
              <a:spcAft>
                <a:spcPts val="200"/>
              </a:spcAft>
            </a:pPr>
            <a:r>
              <a:rPr sz="1100" b="1" i="0">
                <a:solidFill>
                  <a:srgbClr val="4A5158"/>
                </a:solidFill>
                <a:latin typeface="Helvetica Neue"/>
              </a:rPr>
              <a:t>1 · A LIBRARY DEFAULT COST 9.6% OF THE GRAPH</a:t>
            </a:r>
          </a:p>
          <a:p>
            <a:pPr>
              <a:spcBef>
                <a:spcPts val="700"/>
              </a:spcBef>
              <a:spcAft>
                <a:spcPts val="400"/>
              </a:spcAft>
            </a:pPr>
            <a:r>
              <a:rPr sz="1200" b="0" i="0">
                <a:solidFill>
                  <a:srgbClr val="14171B"/>
                </a:solidFill>
                <a:latin typeface="Helvetica Neue"/>
              </a:rPr>
              <a:t>The name-matching library (Jaro-Winkler) defaults to case-sensitive. In documents full of ALL-CAPS captions, that produced 38 separate "Mr. Barton" nodes.</a:t>
            </a:r>
          </a:p>
          <a:p>
            <a:pPr>
              <a:spcBef>
                <a:spcPts val="200"/>
              </a:spcBef>
              <a:spcAft>
                <a:spcPts val="600"/>
              </a:spcAft>
            </a:pPr>
            <a:r>
              <a:rPr sz="1100" b="0" i="0">
                <a:solidFill>
                  <a:srgbClr val="1E3A5F"/>
                </a:solidFill>
                <a:latin typeface="Helvetica Neue"/>
              </a:rPr>
              <a:t>→  Fixed — compare both names in the same case, and sort the candidate list by score before cutting it to five. Then re-ran the pass over every document.</a:t>
            </a:r>
          </a:p>
          <a:p>
            <a:pPr>
              <a:spcBef>
                <a:spcPts val="1200"/>
              </a:spcBef>
              <a:spcAft>
                <a:spcPts val="200"/>
              </a:spcAft>
            </a:pPr>
            <a:r>
              <a:rPr sz="1100" b="1" i="0">
                <a:solidFill>
                  <a:srgbClr val="4A5158"/>
                </a:solidFill>
                <a:latin typeface="Helvetica Neue"/>
              </a:rPr>
              <a:t>2 · TWO DIFFERENT MAXWELLS MERGED INTO ONE</a:t>
            </a:r>
          </a:p>
          <a:p>
            <a:pPr>
              <a:spcBef>
                <a:spcPts val="700"/>
              </a:spcBef>
              <a:spcAft>
                <a:spcPts val="400"/>
              </a:spcAft>
            </a:pPr>
            <a:r>
              <a:rPr sz="1200" b="0" i="0">
                <a:solidFill>
                  <a:srgbClr val="14171B"/>
                </a:solidFill>
                <a:latin typeface="Helvetica Neue"/>
              </a:rPr>
              <a:t>Ghislaine and her father Robert. Comparing two names at a time cannot tell a fuller version of one name from a different person entirely.</a:t>
            </a:r>
          </a:p>
          <a:p>
            <a:pPr>
              <a:spcBef>
                <a:spcPts val="200"/>
              </a:spcBef>
              <a:spcAft>
                <a:spcPts val="600"/>
              </a:spcAft>
            </a:pPr>
            <a:r>
              <a:rPr sz="1100" b="0" i="0">
                <a:solidFill>
                  <a:srgbClr val="1E3A5F"/>
                </a:solidFill>
                <a:latin typeface="Helvetica Neue"/>
              </a:rPr>
              <a:t>→  Fixed — judge the whole family of names at once instead of pair by pair, using how often each appears, how widely across documents, and in what role. Anything still uncertain is flagged, not merged.</a:t>
            </a:r>
          </a:p>
          <a:p>
            <a:pPr>
              <a:spcBef>
                <a:spcPts val="1200"/>
              </a:spcBef>
              <a:spcAft>
                <a:spcPts val="200"/>
              </a:spcAft>
            </a:pPr>
            <a:r>
              <a:rPr sz="1100" b="1" i="0">
                <a:solidFill>
                  <a:srgbClr val="4A5158"/>
                </a:solidFill>
                <a:latin typeface="Helvetica Neue"/>
              </a:rPr>
              <a:t>3 · THE MODEL NEVER SAW THE TOP OF ITS OWN INSTRUCTIONS</a:t>
            </a:r>
          </a:p>
          <a:p>
            <a:pPr>
              <a:spcBef>
                <a:spcPts val="700"/>
              </a:spcBef>
              <a:spcAft>
                <a:spcPts val="400"/>
              </a:spcAft>
            </a:pPr>
            <a:r>
              <a:rPr sz="1200" b="0" i="0">
                <a:solidFill>
                  <a:srgbClr val="14171B"/>
                </a:solidFill>
                <a:latin typeface="Helvetica Neue"/>
              </a:rPr>
              <a:t>Ollama silently cuts any prompt down to 4,096 tokens, without warning — and it cuts from the front. Mine were 4,235, so every test run lost the opening of its own system prompt, starting with "use only these sources".</a:t>
            </a:r>
          </a:p>
          <a:p>
            <a:pPr>
              <a:spcBef>
                <a:spcPts val="200"/>
              </a:spcBef>
              <a:spcAft>
                <a:spcPts val="600"/>
              </a:spcAft>
            </a:pPr>
            <a:r>
              <a:rPr sz="1100" b="0" i="0">
                <a:solidFill>
                  <a:srgbClr val="1E3A5F"/>
                </a:solidFill>
                <a:latin typeface="Helvetica Neue"/>
              </a:rPr>
              <a:t>→  Fixed — set the context length explicitly to 8,192 in config rather than inheriting a default, and log the prompt length so the next cut is visible.</a:t>
            </a:r>
          </a:p>
          <a:p>
            <a:pPr>
              <a:spcBef>
                <a:spcPts val="1200"/>
              </a:spcBef>
              <a:spcAft>
                <a:spcPts val="200"/>
              </a:spcAft>
            </a:pPr>
            <a:r>
              <a:rPr sz="1100" b="1" i="0">
                <a:solidFill>
                  <a:srgbClr val="4A5158"/>
                </a:solidFill>
                <a:latin typeface="Helvetica Neue"/>
              </a:rPr>
              <a:t>4 · BIGGER MODEL, WORSE RESULTS</a:t>
            </a:r>
          </a:p>
          <a:p>
            <a:pPr>
              <a:spcBef>
                <a:spcPts val="700"/>
              </a:spcBef>
              <a:spcAft>
                <a:spcPts val="400"/>
              </a:spcAft>
            </a:pPr>
            <a:r>
              <a:rPr sz="1200" b="0" i="0">
                <a:solidFill>
                  <a:srgbClr val="14171B"/>
                </a:solidFill>
                <a:latin typeface="Helvetica Neue"/>
              </a:rPr>
              <a:t>A 30-billion-parameter model of the mixture-of-experts kind scored 11/16. A plain 8-billion model scored 15/16, at the same speed.</a:t>
            </a:r>
          </a:p>
          <a:p>
            <a:pPr>
              <a:spcBef>
                <a:spcPts val="200"/>
              </a:spcBef>
              <a:spcAft>
                <a:spcPts val="600"/>
              </a:spcAft>
            </a:pPr>
            <a:r>
              <a:rPr sz="1100" b="0" i="0">
                <a:solidFill>
                  <a:srgbClr val="1E3A5F"/>
                </a:solidFill>
                <a:latin typeface="Helvetica Neue"/>
              </a:rPr>
              <a:t>→  Settled — kept the smaller model, on the evidence. I also abandoned a prompt change that made both models worse, rather than trying to rescue it.</a:t>
            </a:r>
          </a:p>
          <a:p>
            <a:pPr>
              <a:spcBef>
                <a:spcPts val="700"/>
              </a:spcBef>
              <a:spcAft>
                <a:spcPts val="400"/>
              </a:spcAft>
            </a:pPr>
            <a:r>
              <a:rPr sz="1200" b="0" i="1">
                <a:solidFill>
                  <a:srgbClr val="1E3A5F"/>
                </a:solidFill>
                <a:latin typeface="Helvetica Neue"/>
              </a:rPr>
              <a:t>Every one was found by auditing real output — not by reading code, and not by a test. Every one is fixed and re-measured.</a:t>
            </a:r>
          </a:p>
          <a:p>
            <a:pPr>
              <a:spcBef>
                <a:spcPts val="700"/>
              </a:spcBef>
              <a:spcAft>
                <a:spcPts val="400"/>
              </a:spcAft>
            </a:pPr>
            <a:r>
              <a:rPr sz="1200" b="0" i="1">
                <a:solidFill>
                  <a:srgbClr val="1E3A5F"/>
                </a:solidFill>
                <a:latin typeface="Helvetica Neue"/>
              </a:rPr>
              <a:t>A human stayed in the middle of every step. Claude Code wrote most of the code. Every data structure, threshold and algorithm choice was argued out before it went in. Working the problem with the model rather than delegating it to the model is where the experience compounded.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RETRIEVAL</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Four channels, fused by rank</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130552"/>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Channel</a:t>
                      </a:r>
                    </a:p>
                  </a:txBody>
                  <a:tcPr marL="64008" marR="64008" marT="27432" marB="27432" anchor="t">
                    <a:solidFill>
                      <a:srgbClr val="E7EBF1"/>
                    </a:solidFill>
                  </a:tcPr>
                </a:tc>
                <a:tc>
                  <a:txBody>
                    <a:bodyPr wrap="square"/>
                    <a:lstStyle/>
                    <a:p>
                      <a:r>
                        <a:rPr sz="1000" b="1" i="0">
                          <a:solidFill>
                            <a:srgbClr val="4A5158"/>
                          </a:solidFill>
                          <a:latin typeface="Helvetica Neue"/>
                        </a:rPr>
                        <a:t>Mechanism</a:t>
                      </a:r>
                    </a:p>
                  </a:txBody>
                  <a:tcPr marL="64008" marR="64008" marT="27432" marB="27432" anchor="t">
                    <a:solidFill>
                      <a:srgbClr val="E7EBF1"/>
                    </a:solidFill>
                  </a:tcPr>
                </a:tc>
                <a:tc>
                  <a:txBody>
                    <a:bodyPr wrap="square"/>
                    <a:lstStyle/>
                    <a:p>
                      <a:r>
                        <a:rPr sz="1000" b="1" i="0">
                          <a:solidFill>
                            <a:srgbClr val="4A5158"/>
                          </a:solidFill>
                          <a:latin typeface="Helvetica Neue"/>
                        </a:rPr>
                        <a:t>The question that justified it</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a:t>
                      </a:r>
                    </a:p>
                  </a:txBody>
                  <a:tcPr marL="64008" marR="64008" marT="27432" marB="27432" anchor="t">
                    <a:solidFill>
                      <a:srgbClr val="FBFAF8"/>
                    </a:solidFill>
                  </a:tcPr>
                </a:tc>
                <a:tc>
                  <a:txBody>
                    <a:bodyPr wrap="square"/>
                    <a:lstStyle/>
                    <a:p>
                      <a:r>
                        <a:rPr sz="1100" b="0" i="0">
                          <a:solidFill>
                            <a:srgbClr val="14171B"/>
                          </a:solidFill>
                          <a:latin typeface="Helvetica Neue"/>
                        </a:rPr>
                        <a:t>Meaning-based similarity (cosine)</a:t>
                      </a:r>
                    </a:p>
                  </a:txBody>
                  <a:tcPr marL="64008" marR="64008" marT="27432" marB="27432" anchor="t">
                    <a:solidFill>
                      <a:srgbClr val="FBFAF8"/>
                    </a:solidFill>
                  </a:tcPr>
                </a:tc>
                <a:tc>
                  <a:txBody>
                    <a:bodyPr wrap="square"/>
                    <a:lstStyle/>
                    <a:p>
                      <a:r>
                        <a:rPr sz="1100" b="0" i="0">
                          <a:solidFill>
                            <a:srgbClr val="14171B"/>
                          </a:solidFill>
                          <a:latin typeface="Helvetica Neue"/>
                        </a:rPr>
                        <a:t>One passage names him, and it ranks first by similarity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density</a:t>
                      </a:r>
                    </a:p>
                  </a:txBody>
                  <a:tcPr marL="64008" marR="64008" marT="27432" marB="27432" anchor="t">
                    <a:solidFill>
                      <a:srgbClr val="FBFAF8"/>
                    </a:solidFill>
                  </a:tcPr>
                </a:tc>
                <a:tc>
                  <a:txBody>
                    <a:bodyPr wrap="square"/>
                    <a:lstStyle/>
                    <a:p>
                      <a:r>
                        <a:rPr sz="1100" b="0" i="0">
                          <a:solidFill>
                            <a:srgbClr val="14171B"/>
                          </a:solidFill>
                          <a:latin typeface="Helvetica Neue"/>
                        </a:rPr>
                        <a:t>Documents with the most passages in the shortlist</a:t>
                      </a:r>
                    </a:p>
                  </a:txBody>
                  <a:tcPr marL="64008" marR="64008" marT="27432" marB="27432" anchor="t">
                    <a:solidFill>
                      <a:srgbClr val="FBFAF8"/>
                    </a:solidFill>
                  </a:tcPr>
                </a:tc>
                <a:tc>
                  <a:txBody>
                    <a:bodyPr wrap="square"/>
                    <a:lstStyle/>
                    <a:p>
                      <a:r>
                        <a:rPr sz="1100" b="0" i="0">
                          <a:solidFill>
                            <a:srgbClr val="14171B"/>
                          </a:solidFill>
                          <a:latin typeface="Helvetica Neue"/>
                        </a:rPr>
                        <a:t>A 102-passage transcript: ranked 14th by its best passage, 2nd by density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lexical</a:t>
                      </a:r>
                    </a:p>
                  </a:txBody>
                  <a:tcPr marL="64008" marR="64008" marT="27432" marB="27432" anchor="t">
                    <a:solidFill>
                      <a:srgbClr val="FBFAF8"/>
                    </a:solidFill>
                  </a:tcPr>
                </a:tc>
                <a:tc>
                  <a:txBody>
                    <a:bodyPr wrap="square"/>
                    <a:lstStyle/>
                    <a:p>
                      <a:r>
                        <a:rPr sz="1100" b="0" i="0">
                          <a:solidFill>
                            <a:srgbClr val="14171B"/>
                          </a:solidFill>
                          <a:latin typeface="Helvetica Neue"/>
                        </a:rPr>
                        <a:t>Keyword search after the model widens the query (BM25)</a:t>
                      </a:r>
                    </a:p>
                  </a:txBody>
                  <a:tcPr marL="64008" marR="64008" marT="27432" marB="27432" anchor="t">
                    <a:solidFill>
                      <a:srgbClr val="FBFAF8"/>
                    </a:solidFill>
                  </a:tcPr>
                </a:tc>
                <a:tc>
                  <a:txBody>
                    <a:bodyPr wrap="square"/>
                    <a:lstStyle/>
                    <a:p>
                      <a:r>
                        <a:rPr sz="1100" b="0" i="0">
                          <a:solidFill>
                            <a:srgbClr val="14171B"/>
                          </a:solidFill>
                          <a:latin typeface="Helvetica Neue"/>
                        </a:rPr>
                        <a:t>The word "obiter" appears nowhere; 35 passages say "held that"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graph</a:t>
                      </a:r>
                    </a:p>
                  </a:txBody>
                  <a:tcPr marL="64008" marR="64008" marT="27432" marB="27432" anchor="t">
                    <a:solidFill>
                      <a:srgbClr val="FBFAF8"/>
                    </a:solidFill>
                  </a:tcPr>
                </a:tc>
                <a:tc>
                  <a:txBody>
                    <a:bodyPr wrap="square"/>
                    <a:lstStyle/>
                    <a:p>
                      <a:r>
                        <a:rPr sz="1100" b="0" i="0">
                          <a:solidFill>
                            <a:srgbClr val="14171B"/>
                          </a:solidFill>
                          <a:latin typeface="Helvetica Neue"/>
                        </a:rPr>
                        <a:t>Match a name, follow one link, collect its mentions</a:t>
                      </a:r>
                    </a:p>
                  </a:txBody>
                  <a:tcPr marL="64008" marR="64008" marT="27432" marB="27432" anchor="t">
                    <a:solidFill>
                      <a:srgbClr val="FBFAF8"/>
                    </a:solidFill>
                  </a:tcPr>
                </a:tc>
                <a:tc>
                  <a:txBody>
                    <a:bodyPr wrap="square"/>
                    <a:lstStyle/>
                    <a:p>
                      <a:r>
                        <a:rPr sz="1100" b="0" i="0">
                          <a:solidFill>
                            <a:srgbClr val="14171B"/>
                          </a:solidFill>
                          <a:latin typeface="Helvetica Neue"/>
                        </a:rPr>
                        <a:t>"Both Maxwell and Epstein" — a single vector cannot express "both"</a:t>
                      </a:r>
                    </a:p>
                  </a:txBody>
                  <a:tcPr marL="64008" marR="64008" marT="27432" marB="27432" anchor="t">
                    <a:solidFill>
                      <a:srgbClr val="FBFAF8"/>
                    </a:solidFill>
                  </a:tcPr>
                </a:tc>
              </a:tr>
            </a:tbl>
          </a:graphicData>
        </a:graphic>
      </p:graphicFrame>
      <p:sp>
        <p:nvSpPr>
          <p:cNvPr id="7" name="TextBox 6"/>
          <p:cNvSpPr txBox="1"/>
          <p:nvPr/>
        </p:nvSpPr>
        <p:spPr>
          <a:xfrm>
            <a:off x="566928" y="3877056"/>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RANK FUSION (RRF)</a:t>
            </a:r>
          </a:p>
          <a:p>
            <a:pPr>
              <a:spcBef>
                <a:spcPts val="700"/>
              </a:spcBef>
              <a:spcAft>
                <a:spcPts val="400"/>
              </a:spcAft>
            </a:pPr>
            <a:r>
              <a:rPr sz="1200" b="0" i="0">
                <a:solidFill>
                  <a:srgbClr val="14171B"/>
                </a:solidFill>
                <a:latin typeface="Helvetica Neue"/>
              </a:rPr>
              <a:t>Σ 1/(60 + rank). It uses position only, so channels that score on completely different scales can be combined without anyone inventing weights.</a:t>
            </a:r>
          </a:p>
          <a:p>
            <a:pPr>
              <a:spcBef>
                <a:spcPts val="1200"/>
              </a:spcBef>
              <a:spcAft>
                <a:spcPts val="200"/>
              </a:spcAft>
            </a:pPr>
            <a:r>
              <a:rPr sz="1100" b="1" i="0">
                <a:solidFill>
                  <a:srgbClr val="4A5158"/>
                </a:solidFill>
                <a:latin typeface="Helvetica Neue"/>
              </a:rPr>
              <a:t>WHY HALF THE SLOTS ARE RESERVED</a:t>
            </a:r>
          </a:p>
          <a:p>
            <a:pPr>
              <a:spcBef>
                <a:spcPts val="700"/>
              </a:spcBef>
              <a:spcAft>
                <a:spcPts val="400"/>
              </a:spcAft>
            </a:pPr>
            <a:r>
              <a:rPr sz="1200" b="0" i="0">
                <a:solidFill>
                  <a:srgbClr val="14171B"/>
                </a:solidFill>
                <a:latin typeface="Helvetica Neue"/>
              </a:rPr>
              <a:t>Half always go to plain similarity search. Treating all four channels equally once fixed one question and broke another in the same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THE HARDEST FIX</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Saying "I don't know" — two bugs, pulling opposite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8688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Fixing the first one caused the second. Only measurement found it.</a:t>
            </a:r>
          </a:p>
          <a:p>
            <a:pPr>
              <a:spcBef>
                <a:spcPts val="1200"/>
              </a:spcBef>
              <a:spcAft>
                <a:spcPts val="200"/>
              </a:spcAft>
            </a:pPr>
            <a:r>
              <a:rPr sz="1100" b="1" i="0">
                <a:solidFill>
                  <a:srgbClr val="4A5158"/>
                </a:solidFill>
                <a:latin typeface="Helvetica Neue"/>
              </a:rPr>
              <a:t>FIRST: IT ANSWERED EVERYTHING</a:t>
            </a:r>
          </a:p>
          <a:p>
            <a:pPr>
              <a:spcBef>
                <a:spcPts val="700"/>
              </a:spcBef>
              <a:spcAft>
                <a:spcPts val="400"/>
              </a:spcAft>
            </a:pPr>
            <a:r>
              <a:rPr sz="1200" b="0" i="0">
                <a:solidFill>
                  <a:srgbClr val="14171B"/>
                </a:solidFill>
                <a:latin typeface="Helvetica Neue"/>
              </a:rPr>
              <a:t>Asked something the documents could not answer, it described what they did contain and offered that as the answer. Four prompt rewrites failed — the prompt already forbade it.</a:t>
            </a:r>
          </a:p>
          <a:p>
            <a:pPr>
              <a:spcBef>
                <a:spcPts val="700"/>
              </a:spcBef>
              <a:spcAft>
                <a:spcPts val="400"/>
              </a:spcAft>
            </a:pPr>
            <a:r>
              <a:rPr sz="1200" b="0" i="0">
                <a:solidFill>
                  <a:srgbClr val="14171B"/>
                </a:solidFill>
                <a:latin typeface="Helvetica Neue"/>
              </a:rPr>
              <a:t>The cause was structural: one model, in one pass, both decided whether it had enough evidence and wrote the answer. Writing something is the easier path.</a:t>
            </a:r>
          </a:p>
          <a:p>
            <a:pPr>
              <a:spcBef>
                <a:spcPts val="200"/>
              </a:spcBef>
              <a:spcAft>
                <a:spcPts val="600"/>
              </a:spcAft>
            </a:pPr>
            <a:r>
              <a:rPr sz="1100" b="0" i="0">
                <a:solidFill>
                  <a:srgbClr val="1E3A5F"/>
                </a:solidFill>
                <a:latin typeface="Helvetica Neue"/>
              </a:rPr>
              <a:t>→  Fixed — split the two. Step 1 decides, and its reply format has no field big enough to hold prose. Step 2 writes, and runs only if step 1 said yes.</a:t>
            </a:r>
          </a:p>
          <a:p>
            <a:pPr>
              <a:spcBef>
                <a:spcPts val="1200"/>
              </a:spcBef>
              <a:spcAft>
                <a:spcPts val="200"/>
              </a:spcAft>
            </a:pPr>
            <a:r>
              <a:rPr sz="1100" b="1" i="0">
                <a:solidFill>
                  <a:srgbClr val="4A5158"/>
                </a:solidFill>
                <a:latin typeface="Helvetica Neue"/>
              </a:rPr>
              <a:t>THEN: IT REFUSED THINGS IT COULD ANSWER</a:t>
            </a:r>
          </a:p>
          <a:p>
            <a:pPr>
              <a:spcBef>
                <a:spcPts val="700"/>
              </a:spcBef>
              <a:spcAft>
                <a:spcPts val="400"/>
              </a:spcAft>
            </a:pPr>
            <a:r>
              <a:rPr sz="1200" b="0" i="0">
                <a:solidFill>
                  <a:srgbClr val="14171B"/>
                </a:solidFill>
                <a:latin typeface="Helvetica Neue"/>
              </a:rPr>
              <a:t>"Who were the defense attorneys in this case?" was declined. The answer was sitting in the top result: "MS. BORJA: Mary Borja for Defendant, Alan Dershowitz."</a:t>
            </a:r>
          </a:p>
          <a:p>
            <a:pPr>
              <a:spcBef>
                <a:spcPts val="700"/>
              </a:spcBef>
              <a:spcAft>
                <a:spcPts val="400"/>
              </a:spcAft>
            </a:pPr>
            <a:r>
              <a:rPr sz="1200" b="0" i="0">
                <a:solidFill>
                  <a:srgbClr val="14171B"/>
                </a:solidFill>
                <a:latin typeface="Helvetica Neue"/>
              </a:rPr>
              <a:t>Step 1 read all eight passages in one call and gave a yes/no for each. That looks independent. It is not — remove one unrelated passage and the verdict on the top result flipped to yes. Swap in a different one and it flipped back.</a:t>
            </a:r>
          </a:p>
          <a:p>
            <a:pPr>
              <a:spcBef>
                <a:spcPts val="200"/>
              </a:spcBef>
              <a:spcAft>
                <a:spcPts val="600"/>
              </a:spcAft>
            </a:pPr>
            <a:r>
              <a:rPr sz="1100" b="0" i="0">
                <a:solidFill>
                  <a:srgbClr val="1E3A5F"/>
                </a:solidFill>
                <a:latin typeface="Helvetica Neue"/>
              </a:rPr>
              <a:t>→  Fixed — one passage per call, each call seeing exactly one passage. The other seven can no longer affect the verdict on the first.</a:t>
            </a:r>
          </a:p>
          <a:p>
            <a:pPr>
              <a:spcBef>
                <a:spcPts val="600"/>
              </a:spcBef>
              <a:spcAft>
                <a:spcPts val="200"/>
              </a:spcAft>
            </a:pPr>
            <a:r>
              <a:rPr sz="2000" b="1" i="0">
                <a:solidFill>
                  <a:srgbClr val="A6382C"/>
                </a:solidFill>
                <a:latin typeface="Georgia"/>
              </a:rPr>
              <a:t>0 / 15   </a:t>
            </a:r>
            <a:r>
              <a:rPr sz="1000" b="0" i="0">
                <a:solidFill>
                  <a:srgbClr val="838B93"/>
                </a:solidFill>
                <a:latin typeface="Helvetica Neue"/>
              </a:rPr>
              <a:t>REFUSED BEFORE</a:t>
            </a:r>
          </a:p>
          <a:p>
            <a:pPr>
              <a:spcBef>
                <a:spcPts val="600"/>
              </a:spcBef>
              <a:spcAft>
                <a:spcPts val="200"/>
              </a:spcAft>
            </a:pPr>
            <a:r>
              <a:rPr sz="2000" b="1" i="0">
                <a:solidFill>
                  <a:srgbClr val="1E3A5F"/>
                </a:solidFill>
                <a:latin typeface="Georgia"/>
              </a:rPr>
              <a:t>11 / 15   </a:t>
            </a:r>
            <a:r>
              <a:rPr sz="1000" b="0" i="0">
                <a:solidFill>
                  <a:srgbClr val="838B93"/>
                </a:solidFill>
                <a:latin typeface="Helvetica Neue"/>
              </a:rPr>
              <a:t>REFUSED AFTER</a:t>
            </a:r>
          </a:p>
          <a:p>
            <a:pPr>
              <a:spcBef>
                <a:spcPts val="600"/>
              </a:spcBef>
              <a:spcAft>
                <a:spcPts val="200"/>
              </a:spcAft>
            </a:pPr>
            <a:r>
              <a:rPr sz="2000" b="1" i="0">
                <a:solidFill>
                  <a:srgbClr val="1E3A5F"/>
                </a:solidFill>
                <a:latin typeface="Georgia"/>
              </a:rPr>
              <a:t>0   </a:t>
            </a:r>
            <a:r>
              <a:rPr sz="1000" b="0" i="0">
                <a:solidFill>
                  <a:srgbClr val="838B93"/>
                </a:solidFill>
                <a:latin typeface="Helvetica Neue"/>
              </a:rPr>
              <a:t>WRONG REFUSALS IN 105 RUNS</a:t>
            </a:r>
          </a:p>
          <a:p>
            <a:pPr>
              <a:spcBef>
                <a:spcPts val="600"/>
              </a:spcBef>
              <a:spcAft>
                <a:spcPts val="200"/>
              </a:spcAft>
            </a:pPr>
            <a:r>
              <a:rPr sz="2000" b="1" i="0">
                <a:solidFill>
                  <a:srgbClr val="1E3A5F"/>
                </a:solidFill>
                <a:latin typeface="Georgia"/>
              </a:rPr>
              <a:t>49s   </a:t>
            </a:r>
            <a:r>
              <a:rPr sz="1000" b="0" i="0">
                <a:solidFill>
                  <a:srgbClr val="838B93"/>
                </a:solidFill>
                <a:latin typeface="Helvetica Neue"/>
              </a:rPr>
              <a:t>DOWN FROM 63S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MEASUREMENT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is measured, and what is not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1381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MEASURED</a:t>
            </a:r>
          </a:p>
          <a:p>
            <a:pPr>
              <a:spcBef>
                <a:spcPts val="700"/>
              </a:spcBef>
              <a:spcAft>
                <a:spcPts val="400"/>
              </a:spcAft>
            </a:pPr>
            <a:r>
              <a:rPr sz="1200" b="0" i="0">
                <a:solidFill>
                  <a:srgbClr val="14171B"/>
                </a:solidFill>
                <a:latin typeface="Helvetica Neue"/>
              </a:rPr>
              <a:t>35 questions in seven categories. The predicted winner was written down and locked before any strategy ran.</a:t>
            </a:r>
          </a:p>
          <a:p>
            <a:pPr>
              <a:spcBef>
                <a:spcPts val="300"/>
              </a:spcBef>
              <a:spcAft>
                <a:spcPts val="300"/>
              </a:spcAft>
            </a:pPr>
            <a:r>
              <a:rPr sz="1200" b="0" i="0">
                <a:solidFill>
                  <a:srgbClr val="14171B"/>
                </a:solidFill>
                <a:latin typeface="Helvetica Neue"/>
              </a:rPr>
              <a:t>•  Graph found no name to start from on 11 of 35</a:t>
            </a:r>
          </a:p>
          <a:p>
            <a:pPr>
              <a:spcBef>
                <a:spcPts val="300"/>
              </a:spcBef>
              <a:spcAft>
                <a:spcPts val="300"/>
              </a:spcAft>
            </a:pPr>
            <a:r>
              <a:rPr sz="1200" b="0" i="0">
                <a:solidFill>
                  <a:srgbClr val="14171B"/>
                </a:solidFill>
                <a:latin typeface="Helvetica Neue"/>
              </a:rPr>
              <a:t>•  Won at least one of the eight final slots on 18 of 35</a:t>
            </a:r>
          </a:p>
          <a:p>
            <a:pPr>
              <a:spcBef>
                <a:spcPts val="300"/>
              </a:spcBef>
              <a:spcAft>
                <a:spcPts val="300"/>
              </a:spcAft>
            </a:pPr>
            <a:r>
              <a:rPr sz="1200" b="0" i="0">
                <a:solidFill>
                  <a:srgbClr val="14171B"/>
                </a:solidFill>
                <a:latin typeface="Helvetica Neue"/>
              </a:rPr>
              <a:t>•  Changed the document set on 14 of 35</a:t>
            </a:r>
          </a:p>
          <a:p>
            <a:pPr>
              <a:spcBef>
                <a:spcPts val="1200"/>
              </a:spcBef>
              <a:spcAft>
                <a:spcPts val="200"/>
              </a:spcAft>
            </a:pPr>
            <a:r>
              <a:rPr sz="1100" b="1" i="0">
                <a:solidFill>
                  <a:srgbClr val="4A5158"/>
                </a:solidFill>
                <a:latin typeface="Helvetica Neue"/>
              </a:rPr>
              <a:t>NOT MEASURED — DELIBERATELY</a:t>
            </a:r>
          </a:p>
          <a:p>
            <a:pPr>
              <a:spcBef>
                <a:spcPts val="700"/>
              </a:spcBef>
              <a:spcAft>
                <a:spcPts val="400"/>
              </a:spcAft>
            </a:pPr>
            <a:r>
              <a:rPr sz="1200" b="0" i="0">
                <a:solidFill>
                  <a:srgbClr val="14171B"/>
                </a:solidFill>
                <a:latin typeface="Helvetica Neue"/>
              </a:rPr>
              <a:t>No human-marked correct answers, so none of the standard ranking scores (recall@k, nDCG) can be computed. Judging correctness requires a person, and cannot be delegated.</a:t>
            </a:r>
          </a:p>
          <a:p>
            <a:pPr>
              <a:spcBef>
                <a:spcPts val="700"/>
              </a:spcBef>
              <a:spcAft>
                <a:spcPts val="400"/>
              </a:spcAft>
            </a:pPr>
            <a:r>
              <a:rPr sz="1200" b="0" i="0">
                <a:solidFill>
                  <a:srgbClr val="14171B"/>
                </a:solidFill>
                <a:latin typeface="Helvetica Neue"/>
              </a:rPr>
              <a:t>An answer key written by a model would measure the judge, not the systems.</a:t>
            </a:r>
          </a:p>
          <a:p>
            <a:pPr>
              <a:spcBef>
                <a:spcPts val="700"/>
              </a:spcBef>
              <a:spcAft>
                <a:spcPts val="400"/>
              </a:spcAft>
            </a:pPr>
            <a:r>
              <a:rPr sz="1200" b="0" i="1">
                <a:solidFill>
                  <a:srgbClr val="1E3A5F"/>
                </a:solidFill>
                <a:latin typeface="Helvetica Neue"/>
              </a:rPr>
              <a:t>The evaluation shows that the strategies behave differently. It does not show which one is right. I would rather say that than quote a number I cannot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BACKUP · ROADMAP</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Challenges for improving the system</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92836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is scoped, understood and costed. None of them is a surprise, which is the point of measuring a system rather than only building it.</a:t>
            </a:r>
          </a:p>
          <a:p>
            <a:pPr>
              <a:spcBef>
                <a:spcPts val="300"/>
              </a:spcBef>
              <a:spcAft>
                <a:spcPts val="300"/>
              </a:spcAft>
            </a:pPr>
            <a:r>
              <a:rPr sz="1200" b="0" i="0">
                <a:solidFill>
                  <a:srgbClr val="14171B"/>
                </a:solidFill>
                <a:latin typeface="Helvetica Neue"/>
              </a:rPr>
              <a:t>•  Same-person links for places and organisations. Limited to people for now; the matching rule has to change depending on the type.</a:t>
            </a:r>
          </a:p>
          <a:p>
            <a:pPr>
              <a:spcBef>
                <a:spcPts val="300"/>
              </a:spcBef>
              <a:spcAft>
                <a:spcPts val="300"/>
              </a:spcAft>
            </a:pPr>
            <a:r>
              <a:rPr sz="1200" b="0" i="0">
                <a:solidFill>
                  <a:srgbClr val="14171B"/>
                </a:solidFill>
                <a:latin typeface="Helvetica Neue"/>
              </a:rPr>
              <a:t>•  413 flagged pairs awaiting a decision. The system knows what it is unsure about. It needs a screen that shows a reviewer.</a:t>
            </a:r>
          </a:p>
          <a:p>
            <a:pPr>
              <a:spcBef>
                <a:spcPts val="300"/>
              </a:spcBef>
              <a:spcAft>
                <a:spcPts val="300"/>
              </a:spcAft>
            </a:pPr>
            <a:r>
              <a:rPr sz="1200" b="0" i="0">
                <a:solidFill>
                  <a:srgbClr val="14171B"/>
                </a:solidFill>
                <a:latin typeface="Helvetica Neue"/>
              </a:rPr>
              <a:t>•  Correctness not yet verified by a person. Human work by design, not a gap waiting on automation.</a:t>
            </a:r>
          </a:p>
          <a:p>
            <a:pPr>
              <a:spcBef>
                <a:spcPts val="300"/>
              </a:spcBef>
              <a:spcAft>
                <a:spcPts val="300"/>
              </a:spcAft>
            </a:pPr>
            <a:r>
              <a:rPr sz="1200" b="0" i="0">
                <a:solidFill>
                  <a:srgbClr val="14171B"/>
                </a:solidFill>
                <a:latin typeface="Helvetica Neue"/>
              </a:rPr>
              <a:t>•  Answering a different question than the one asked. Separate from declining to answer, and not fixed by it.</a:t>
            </a:r>
          </a:p>
          <a:p>
            <a:pPr>
              <a:spcBef>
                <a:spcPts val="300"/>
              </a:spcBef>
              <a:spcAft>
                <a:spcPts val="300"/>
              </a:spcAft>
            </a:pPr>
            <a:r>
              <a:rPr sz="1200" b="0" i="0">
                <a:solidFill>
                  <a:srgbClr val="14171B"/>
                </a:solidFill>
                <a:latin typeface="Helvetica Neue"/>
              </a:rPr>
              <a:t>•  Adding new documents without rebuilding. The hardest, and the one that matters most at scale.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