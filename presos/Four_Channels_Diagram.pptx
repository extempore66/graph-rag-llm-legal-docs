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 is not a funnel. The usual design retrieves cheaply, then re-orders the survivors -- so anything ranked badly by the first stage is lost for good. Asked about obiter dicta, the passages that answer it sit at #329 and #2970 by similarity. Only a channel that reads the whole corpus on its own terms ever finds them.</a:t>
            </a:r>
          </a:p>
          <a:p>
            <a:r>
              <a:t>Vector and density share one embedding. They are not four independent opinions -- they are two independent searches plus two readings of the same similarity ranking. That shared origin is exactly why the reserved slots exist: channels correlated by construction cannot be fused with equal weight.</a:t>
            </a:r>
          </a:p>
          <a:p>
            <a:r>
              <a:t>† Widening the query is best-effort. Measured across eight demo questions, four came back unusable -- the model loops on synonyms until it runs out of room, always on the enumerative ones (“which courts appear...”). The lexical channel then searches the raw question instead, and now logs that it did.</a:t>
            </a:r>
          </a:p>
          <a:p>
            <a:r>
              <a:t>For the business half of the room: four opinions, combined by rank rather than by score, so nobody has to invent how much each one is worth. And when several channels independently pick the same passage, that agreement is the strongest signal the system produces.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8"/>
        </a:solidFill>
        <a:effectLst/>
      </p:bgPr>
    </p:bg>
    <p:spTree>
      <p:nvGrpSpPr>
        <p:cNvPr id="1" name=""/>
        <p:cNvGrpSpPr/>
        <p:nvPr/>
      </p:nvGrpSpPr>
      <p:grpSpPr/>
      <p:sp>
        <p:nvSpPr>
          <p:cNvPr id="2" name="TextBox 1"/>
          <p:cNvSpPr txBox="1"/>
          <p:nvPr/>
        </p:nvSpPr>
        <p:spPr>
          <a:xfrm>
            <a:off x="566928" y="329184"/>
            <a:ext cx="8229600" cy="219456"/>
          </a:xfrm>
          <a:prstGeom prst="rect">
            <a:avLst/>
          </a:prstGeom>
          <a:noFill/>
        </p:spPr>
        <p:txBody>
          <a:bodyPr wrap="none">
            <a:spAutoFit/>
          </a:bodyPr>
          <a:lstStyle/>
          <a:p>
            <a:r>
              <a:rPr sz="900">
                <a:solidFill>
                  <a:srgbClr val="1E3A5F"/>
                </a:solidFill>
                <a:latin typeface="Menlo"/>
              </a:rPr>
              <a:t>THE SOLUTION · RETRIEVAL</a:t>
            </a:r>
          </a:p>
        </p:txBody>
      </p:sp>
      <p:sp>
        <p:nvSpPr>
          <p:cNvPr id="3" name="TextBox 2"/>
          <p:cNvSpPr txBox="1"/>
          <p:nvPr/>
        </p:nvSpPr>
        <p:spPr>
          <a:xfrm>
            <a:off x="566928" y="566928"/>
            <a:ext cx="10058400" cy="457200"/>
          </a:xfrm>
          <a:prstGeom prst="rect">
            <a:avLst/>
          </a:prstGeom>
          <a:noFill/>
        </p:spPr>
        <p:txBody>
          <a:bodyPr wrap="none">
            <a:spAutoFit/>
          </a:bodyPr>
          <a:lstStyle/>
          <a:p>
            <a:r>
              <a:rPr sz="2600" b="1">
                <a:solidFill>
                  <a:srgbClr val="14171B"/>
                </a:solidFill>
                <a:latin typeface="Georgia"/>
              </a:rPr>
              <a:t>Four searches, one shortlist</a:t>
            </a:r>
          </a:p>
        </p:txBody>
      </p:sp>
      <p:sp>
        <p:nvSpPr>
          <p:cNvPr id="4" name="Rectangle 3"/>
          <p:cNvSpPr/>
          <p:nvPr/>
        </p:nvSpPr>
        <p:spPr>
          <a:xfrm>
            <a:off x="566928" y="1097280"/>
            <a:ext cx="11055096" cy="9525"/>
          </a:xfrm>
          <a:prstGeom prst="rect">
            <a:avLst/>
          </a:prstGeom>
          <a:solidFill>
            <a:srgbClr val="D8D5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89780" y="1284877"/>
            <a:ext cx="3818534" cy="327699"/>
          </a:xfrm>
          <a:prstGeom prst="roundRect">
            <a:avLst>
              <a:gd name="adj" fmla="val 5000"/>
            </a:avLst>
          </a:prstGeom>
          <a:solidFill>
            <a:srgbClr val="E7EBF1"/>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300" b="1">
                <a:solidFill>
                  <a:srgbClr val="1E3A5F"/>
                </a:solidFill>
                <a:latin typeface="Helvetica Neue"/>
              </a:rPr>
              <a:t>A question</a:t>
            </a:r>
          </a:p>
        </p:txBody>
      </p:sp>
      <p:cxnSp>
        <p:nvCxnSpPr>
          <p:cNvPr id="6" name="Connector 5"/>
          <p:cNvCxnSpPr/>
          <p:nvPr/>
        </p:nvCxnSpPr>
        <p:spPr>
          <a:xfrm>
            <a:off x="6099048" y="1612577"/>
            <a:ext cx="0" cy="193641"/>
          </a:xfrm>
          <a:prstGeom prst="line">
            <a:avLst/>
          </a:prstGeom>
          <a:ln w="12700">
            <a:solidFill>
              <a:srgbClr val="838B9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510930" y="1806218"/>
            <a:ext cx="6470294" cy="0"/>
          </a:xfrm>
          <a:prstGeom prst="line">
            <a:avLst/>
          </a:prstGeom>
          <a:ln w="12700">
            <a:solidFill>
              <a:srgbClr val="838B9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510930" y="1806218"/>
            <a:ext cx="0" cy="148954"/>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93106" y="1806218"/>
            <a:ext cx="0" cy="148954"/>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981224" y="1806218"/>
            <a:ext cx="0" cy="148954"/>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28882" y="1970068"/>
            <a:ext cx="4964094" cy="402176"/>
          </a:xfrm>
          <a:prstGeom prst="roundRect">
            <a:avLst>
              <a:gd name="adj" fmla="val 5000"/>
            </a:avLst>
          </a:prstGeom>
          <a:solidFill>
            <a:srgbClr val="F4F2EE"/>
          </a:solidFill>
          <a:ln w="12700">
            <a:solidFill>
              <a:srgbClr val="D8D5C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100" b="1">
                <a:solidFill>
                  <a:srgbClr val="14171B"/>
                </a:solidFill>
                <a:latin typeface="Helvetica Neue"/>
              </a:rPr>
              <a:t>Embed the question once</a:t>
            </a:r>
          </a:p>
          <a:p>
            <a:pPr algn="ctr">
              <a:spcBef>
                <a:spcPts val="0"/>
              </a:spcBef>
              <a:spcAft>
                <a:spcPts val="100"/>
              </a:spcAft>
            </a:pPr>
            <a:r>
              <a:rPr sz="850" b="0">
                <a:solidFill>
                  <a:srgbClr val="4A5158"/>
                </a:solidFill>
                <a:latin typeface="Helvetica Neue"/>
              </a:rPr>
              <a:t>one similarity search, read two different ways</a:t>
            </a:r>
          </a:p>
        </p:txBody>
      </p:sp>
      <p:sp>
        <p:nvSpPr>
          <p:cNvPr id="12" name="Rounded Rectangle 11"/>
          <p:cNvSpPr/>
          <p:nvPr/>
        </p:nvSpPr>
        <p:spPr>
          <a:xfrm>
            <a:off x="6205118" y="1970068"/>
            <a:ext cx="2375976" cy="402176"/>
          </a:xfrm>
          <a:prstGeom prst="roundRect">
            <a:avLst>
              <a:gd name="adj" fmla="val 5000"/>
            </a:avLst>
          </a:prstGeom>
          <a:solidFill>
            <a:srgbClr val="F4F2EE"/>
          </a:solidFill>
          <a:ln w="12700">
            <a:solidFill>
              <a:srgbClr val="D8D5C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100" b="1">
                <a:solidFill>
                  <a:srgbClr val="14171B"/>
                </a:solidFill>
                <a:latin typeface="Helvetica Neue"/>
              </a:rPr>
              <a:t>Widen the query  †</a:t>
            </a:r>
          </a:p>
          <a:p>
            <a:pPr algn="ctr">
              <a:spcBef>
                <a:spcPts val="0"/>
              </a:spcBef>
              <a:spcAft>
                <a:spcPts val="100"/>
              </a:spcAft>
            </a:pPr>
            <a:r>
              <a:rPr sz="850" b="0">
                <a:solidFill>
                  <a:srgbClr val="4A5158"/>
                </a:solidFill>
                <a:latin typeface="Helvetica Neue"/>
              </a:rPr>
              <a:t>synonyms + an invented passage</a:t>
            </a:r>
          </a:p>
        </p:txBody>
      </p:sp>
      <p:sp>
        <p:nvSpPr>
          <p:cNvPr id="13" name="Rounded Rectangle 12"/>
          <p:cNvSpPr/>
          <p:nvPr/>
        </p:nvSpPr>
        <p:spPr>
          <a:xfrm>
            <a:off x="8793236" y="1970068"/>
            <a:ext cx="2375976" cy="402176"/>
          </a:xfrm>
          <a:prstGeom prst="roundRect">
            <a:avLst>
              <a:gd name="adj" fmla="val 5000"/>
            </a:avLst>
          </a:prstGeom>
          <a:solidFill>
            <a:srgbClr val="F4F2EE"/>
          </a:solidFill>
          <a:ln w="12700">
            <a:solidFill>
              <a:srgbClr val="D8D5C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100" b="1">
                <a:solidFill>
                  <a:srgbClr val="14171B"/>
                </a:solidFill>
                <a:latin typeface="Helvetica Neue"/>
              </a:rPr>
              <a:t>Link the names</a:t>
            </a:r>
          </a:p>
          <a:p>
            <a:pPr algn="ctr">
              <a:spcBef>
                <a:spcPts val="0"/>
              </a:spcBef>
              <a:spcAft>
                <a:spcPts val="100"/>
              </a:spcAft>
            </a:pPr>
            <a:r>
              <a:rPr sz="850" b="0">
                <a:solidFill>
                  <a:srgbClr val="4A5158"/>
                </a:solidFill>
                <a:latin typeface="Helvetica Neue"/>
              </a:rPr>
              <a:t>then expand to every spelling</a:t>
            </a:r>
          </a:p>
        </p:txBody>
      </p:sp>
      <p:cxnSp>
        <p:nvCxnSpPr>
          <p:cNvPr id="14" name="Connector 13"/>
          <p:cNvCxnSpPr/>
          <p:nvPr/>
        </p:nvCxnSpPr>
        <p:spPr>
          <a:xfrm>
            <a:off x="3510930" y="2372245"/>
            <a:ext cx="0" cy="134059"/>
          </a:xfrm>
          <a:prstGeom prst="line">
            <a:avLst/>
          </a:prstGeom>
          <a:ln w="12700">
            <a:solidFill>
              <a:srgbClr val="838B9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216871" y="2506304"/>
            <a:ext cx="2588118" cy="0"/>
          </a:xfrm>
          <a:prstGeom prst="line">
            <a:avLst/>
          </a:prstGeom>
          <a:ln w="12700">
            <a:solidFill>
              <a:srgbClr val="838B9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216871" y="2506304"/>
            <a:ext cx="0" cy="178745"/>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804989" y="2506304"/>
            <a:ext cx="0" cy="178745"/>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393106" y="2372245"/>
            <a:ext cx="0" cy="312804"/>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981224" y="2372245"/>
            <a:ext cx="0" cy="312804"/>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28882" y="2699944"/>
            <a:ext cx="2375976" cy="774563"/>
          </a:xfrm>
          <a:prstGeom prst="roundRect">
            <a:avLst>
              <a:gd name="adj" fmla="val 5000"/>
            </a:avLst>
          </a:prstGeom>
          <a:solidFill>
            <a:srgbClr val="F4F2EE"/>
          </a:solidFill>
          <a:ln w="12700">
            <a:solidFill>
              <a:srgbClr val="D8D5C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200" b="1">
                <a:solidFill>
                  <a:srgbClr val="14171B"/>
                </a:solidFill>
                <a:latin typeface="Helvetica Neue"/>
              </a:rPr>
              <a:t>vector</a:t>
            </a:r>
          </a:p>
          <a:p>
            <a:pPr algn="ctr">
              <a:spcBef>
                <a:spcPts val="0"/>
              </a:spcBef>
              <a:spcAft>
                <a:spcPts val="100"/>
              </a:spcAft>
            </a:pPr>
            <a:r>
              <a:rPr sz="800" b="0">
                <a:solidFill>
                  <a:srgbClr val="1E3A5F"/>
                </a:solidFill>
                <a:latin typeface="Menlo"/>
              </a:rPr>
              <a:t>dense cosine</a:t>
            </a:r>
          </a:p>
          <a:p>
            <a:pPr algn="ctr">
              <a:spcBef>
                <a:spcPts val="0"/>
              </a:spcBef>
              <a:spcAft>
                <a:spcPts val="100"/>
              </a:spcAft>
            </a:pPr>
            <a:r>
              <a:rPr sz="850" b="0">
                <a:solidFill>
                  <a:srgbClr val="4A5158"/>
                </a:solidFill>
                <a:latin typeface="Helvetica Neue"/>
              </a:rPr>
              <a:t>passages about the same idea,</a:t>
            </a:r>
          </a:p>
          <a:p>
            <a:pPr algn="ctr">
              <a:spcBef>
                <a:spcPts val="0"/>
              </a:spcBef>
              <a:spcAft>
                <a:spcPts val="100"/>
              </a:spcAft>
            </a:pPr>
            <a:r>
              <a:rPr sz="850" b="0">
                <a:solidFill>
                  <a:srgbClr val="4A5158"/>
                </a:solidFill>
                <a:latin typeface="Helvetica Neue"/>
              </a:rPr>
              <a:t>in different words</a:t>
            </a:r>
          </a:p>
        </p:txBody>
      </p:sp>
      <p:cxnSp>
        <p:nvCxnSpPr>
          <p:cNvPr id="21" name="Connector 20"/>
          <p:cNvCxnSpPr/>
          <p:nvPr/>
        </p:nvCxnSpPr>
        <p:spPr>
          <a:xfrm>
            <a:off x="2216871" y="3474507"/>
            <a:ext cx="0" cy="193641"/>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617000" y="2699944"/>
            <a:ext cx="2375976" cy="774563"/>
          </a:xfrm>
          <a:prstGeom prst="roundRect">
            <a:avLst>
              <a:gd name="adj" fmla="val 5000"/>
            </a:avLst>
          </a:prstGeom>
          <a:solidFill>
            <a:srgbClr val="F4F2EE"/>
          </a:solidFill>
          <a:ln w="12700">
            <a:solidFill>
              <a:srgbClr val="D8D5C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200" b="1">
                <a:solidFill>
                  <a:srgbClr val="14171B"/>
                </a:solidFill>
                <a:latin typeface="Helvetica Neue"/>
              </a:rPr>
              <a:t>density</a:t>
            </a:r>
          </a:p>
          <a:p>
            <a:pPr algn="ctr">
              <a:spcBef>
                <a:spcPts val="0"/>
              </a:spcBef>
              <a:spcAft>
                <a:spcPts val="100"/>
              </a:spcAft>
            </a:pPr>
            <a:r>
              <a:rPr sz="800" b="0">
                <a:solidFill>
                  <a:srgbClr val="1E3A5F"/>
                </a:solidFill>
                <a:latin typeface="Menlo"/>
              </a:rPr>
              <a:t>document mass in the pool</a:t>
            </a:r>
          </a:p>
          <a:p>
            <a:pPr algn="ctr">
              <a:spcBef>
                <a:spcPts val="0"/>
              </a:spcBef>
              <a:spcAft>
                <a:spcPts val="100"/>
              </a:spcAft>
            </a:pPr>
            <a:r>
              <a:rPr sz="850" b="0">
                <a:solidFill>
                  <a:srgbClr val="4A5158"/>
                </a:solidFill>
                <a:latin typeface="Helvetica Neue"/>
              </a:rPr>
              <a:t>a document that keeps coming up</a:t>
            </a:r>
          </a:p>
          <a:p>
            <a:pPr algn="ctr">
              <a:spcBef>
                <a:spcPts val="0"/>
              </a:spcBef>
              <a:spcAft>
                <a:spcPts val="100"/>
              </a:spcAft>
            </a:pPr>
            <a:r>
              <a:rPr sz="850" b="0">
                <a:solidFill>
                  <a:srgbClr val="4A5158"/>
                </a:solidFill>
                <a:latin typeface="Helvetica Neue"/>
              </a:rPr>
              <a:t>is probably the right one</a:t>
            </a:r>
          </a:p>
        </p:txBody>
      </p:sp>
      <p:cxnSp>
        <p:nvCxnSpPr>
          <p:cNvPr id="23" name="Connector 22"/>
          <p:cNvCxnSpPr/>
          <p:nvPr/>
        </p:nvCxnSpPr>
        <p:spPr>
          <a:xfrm>
            <a:off x="4804989" y="3474507"/>
            <a:ext cx="0" cy="193641"/>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05118" y="2699944"/>
            <a:ext cx="2375976" cy="774563"/>
          </a:xfrm>
          <a:prstGeom prst="roundRect">
            <a:avLst>
              <a:gd name="adj" fmla="val 5000"/>
            </a:avLst>
          </a:prstGeom>
          <a:solidFill>
            <a:srgbClr val="F4F2EE"/>
          </a:solidFill>
          <a:ln w="12700">
            <a:solidFill>
              <a:srgbClr val="D8D5C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200" b="1">
                <a:solidFill>
                  <a:srgbClr val="14171B"/>
                </a:solidFill>
                <a:latin typeface="Helvetica Neue"/>
              </a:rPr>
              <a:t>lexical</a:t>
            </a:r>
          </a:p>
          <a:p>
            <a:pPr algn="ctr">
              <a:spcBef>
                <a:spcPts val="0"/>
              </a:spcBef>
              <a:spcAft>
                <a:spcPts val="100"/>
              </a:spcAft>
            </a:pPr>
            <a:r>
              <a:rPr sz="800" b="0">
                <a:solidFill>
                  <a:srgbClr val="1E3A5F"/>
                </a:solidFill>
                <a:latin typeface="Menlo"/>
              </a:rPr>
              <a:t>BM25</a:t>
            </a:r>
          </a:p>
          <a:p>
            <a:pPr algn="ctr">
              <a:spcBef>
                <a:spcPts val="0"/>
              </a:spcBef>
              <a:spcAft>
                <a:spcPts val="100"/>
              </a:spcAft>
            </a:pPr>
            <a:r>
              <a:rPr sz="850" b="0">
                <a:solidFill>
                  <a:srgbClr val="4A5158"/>
                </a:solidFill>
                <a:latin typeface="Helvetica Neue"/>
              </a:rPr>
              <a:t>catches the exact term</a:t>
            </a:r>
          </a:p>
          <a:p>
            <a:pPr algn="ctr">
              <a:spcBef>
                <a:spcPts val="0"/>
              </a:spcBef>
              <a:spcAft>
                <a:spcPts val="100"/>
              </a:spcAft>
            </a:pPr>
            <a:r>
              <a:rPr sz="850" b="0">
                <a:solidFill>
                  <a:srgbClr val="4A5158"/>
                </a:solidFill>
                <a:latin typeface="Helvetica Neue"/>
              </a:rPr>
              <a:t>the question used</a:t>
            </a:r>
          </a:p>
        </p:txBody>
      </p:sp>
      <p:cxnSp>
        <p:nvCxnSpPr>
          <p:cNvPr id="25" name="Connector 24"/>
          <p:cNvCxnSpPr/>
          <p:nvPr/>
        </p:nvCxnSpPr>
        <p:spPr>
          <a:xfrm>
            <a:off x="7393106" y="3474507"/>
            <a:ext cx="0" cy="193641"/>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793236" y="2699944"/>
            <a:ext cx="2375976" cy="774563"/>
          </a:xfrm>
          <a:prstGeom prst="roundRect">
            <a:avLst>
              <a:gd name="adj" fmla="val 5000"/>
            </a:avLst>
          </a:prstGeom>
          <a:solidFill>
            <a:srgbClr val="F4F2EE"/>
          </a:solidFill>
          <a:ln w="12700">
            <a:solidFill>
              <a:srgbClr val="D8D5C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200" b="1">
                <a:solidFill>
                  <a:srgbClr val="14171B"/>
                </a:solidFill>
                <a:latin typeface="Helvetica Neue"/>
              </a:rPr>
              <a:t>graph</a:t>
            </a:r>
          </a:p>
          <a:p>
            <a:pPr algn="ctr">
              <a:spcBef>
                <a:spcPts val="0"/>
              </a:spcBef>
              <a:spcAft>
                <a:spcPts val="100"/>
              </a:spcAft>
            </a:pPr>
            <a:r>
              <a:rPr sz="800" b="0">
                <a:solidFill>
                  <a:srgbClr val="1E3A5F"/>
                </a:solidFill>
                <a:latin typeface="Menlo"/>
              </a:rPr>
              <a:t>entity → family → one hop</a:t>
            </a:r>
          </a:p>
          <a:p>
            <a:pPr algn="ctr">
              <a:spcBef>
                <a:spcPts val="0"/>
              </a:spcBef>
              <a:spcAft>
                <a:spcPts val="100"/>
              </a:spcAft>
            </a:pPr>
            <a:r>
              <a:rPr sz="850" b="0">
                <a:solidFill>
                  <a:srgbClr val="4A5158"/>
                </a:solidFill>
                <a:latin typeface="Helvetica Neue"/>
              </a:rPr>
              <a:t>follows the person, under</a:t>
            </a:r>
          </a:p>
          <a:p>
            <a:pPr algn="ctr">
              <a:spcBef>
                <a:spcPts val="0"/>
              </a:spcBef>
              <a:spcAft>
                <a:spcPts val="100"/>
              </a:spcAft>
            </a:pPr>
            <a:r>
              <a:rPr sz="850" b="0">
                <a:solidFill>
                  <a:srgbClr val="4A5158"/>
                </a:solidFill>
                <a:latin typeface="Helvetica Neue"/>
              </a:rPr>
              <a:t>every spelling</a:t>
            </a:r>
          </a:p>
        </p:txBody>
      </p:sp>
      <p:cxnSp>
        <p:nvCxnSpPr>
          <p:cNvPr id="27" name="Connector 26"/>
          <p:cNvCxnSpPr/>
          <p:nvPr/>
        </p:nvCxnSpPr>
        <p:spPr>
          <a:xfrm>
            <a:off x="9981224" y="3474507"/>
            <a:ext cx="0" cy="193641"/>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28882" y="3697939"/>
            <a:ext cx="10140330" cy="268117"/>
          </a:xfrm>
          <a:prstGeom prst="roundRect">
            <a:avLst>
              <a:gd name="adj" fmla="val 2000"/>
            </a:avLst>
          </a:prstGeom>
          <a:solidFill>
            <a:srgbClr val="E7EBF1"/>
          </a:solidFill>
          <a:ln w="12700">
            <a:solidFill>
              <a:srgbClr val="E7EBF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200" b="1">
                <a:solidFill>
                  <a:srgbClr val="1E3A5F"/>
                </a:solidFill>
                <a:latin typeface="Helvetica Neue"/>
              </a:rPr>
              <a:t>each ranks all 3,338 passages — nothing is narrowed before fusion</a:t>
            </a:r>
          </a:p>
        </p:txBody>
      </p:sp>
      <p:cxnSp>
        <p:nvCxnSpPr>
          <p:cNvPr id="29" name="Connector 28"/>
          <p:cNvCxnSpPr/>
          <p:nvPr/>
        </p:nvCxnSpPr>
        <p:spPr>
          <a:xfrm>
            <a:off x="6099048" y="3966057"/>
            <a:ext cx="0" cy="223432"/>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659428" y="4204384"/>
            <a:ext cx="4879238" cy="491549"/>
          </a:xfrm>
          <a:prstGeom prst="roundRect">
            <a:avLst>
              <a:gd name="adj" fmla="val 5000"/>
            </a:avLst>
          </a:prstGeom>
          <a:solidFill>
            <a:srgbClr val="E7EBF1"/>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250" b="1">
                <a:solidFill>
                  <a:srgbClr val="1E3A5F"/>
                </a:solidFill>
                <a:latin typeface="Helvetica Neue"/>
              </a:rPr>
              <a:t>Rank fusion</a:t>
            </a:r>
          </a:p>
          <a:p>
            <a:pPr algn="ctr">
              <a:spcBef>
                <a:spcPts val="0"/>
              </a:spcBef>
              <a:spcAft>
                <a:spcPts val="100"/>
              </a:spcAft>
            </a:pPr>
            <a:r>
              <a:rPr sz="900" b="0">
                <a:solidFill>
                  <a:srgbClr val="1E3A5F"/>
                </a:solidFill>
                <a:latin typeface="Menlo"/>
              </a:rPr>
              <a:t>score = Σ 1 / (60 + rank)</a:t>
            </a:r>
          </a:p>
          <a:p>
            <a:pPr algn="ctr">
              <a:spcBef>
                <a:spcPts val="0"/>
              </a:spcBef>
              <a:spcAft>
                <a:spcPts val="100"/>
              </a:spcAft>
            </a:pPr>
            <a:r>
              <a:rPr sz="850" b="0">
                <a:solidFill>
                  <a:srgbClr val="4A5158"/>
                </a:solidFill>
                <a:latin typeface="Helvetica Neue"/>
              </a:rPr>
              <a:t>position only — no channel needs a weight</a:t>
            </a:r>
          </a:p>
        </p:txBody>
      </p:sp>
      <p:cxnSp>
        <p:nvCxnSpPr>
          <p:cNvPr id="31" name="Connector 30"/>
          <p:cNvCxnSpPr/>
          <p:nvPr/>
        </p:nvCxnSpPr>
        <p:spPr>
          <a:xfrm>
            <a:off x="6099048" y="4695934"/>
            <a:ext cx="0" cy="238327"/>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919874" y="4949156"/>
            <a:ext cx="933419" cy="312804"/>
          </a:xfrm>
          <a:prstGeom prst="roundRect">
            <a:avLst>
              <a:gd name="adj" fmla="val 5000"/>
            </a:avLst>
          </a:prstGeom>
          <a:solidFill>
            <a:srgbClr val="F6E9E7"/>
          </a:solidFill>
          <a:ln w="12700">
            <a:solidFill>
              <a:srgbClr val="A6382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950" b="0">
                <a:solidFill>
                  <a:srgbClr val="A6382C"/>
                </a:solidFill>
                <a:latin typeface="Helvetica Neue"/>
              </a:rPr>
              <a:t>vector</a:t>
            </a:r>
          </a:p>
        </p:txBody>
      </p:sp>
      <p:sp>
        <p:nvSpPr>
          <p:cNvPr id="33" name="Rounded Rectangle 32"/>
          <p:cNvSpPr/>
          <p:nvPr/>
        </p:nvSpPr>
        <p:spPr>
          <a:xfrm>
            <a:off x="2980578" y="4949156"/>
            <a:ext cx="933419" cy="312804"/>
          </a:xfrm>
          <a:prstGeom prst="roundRect">
            <a:avLst>
              <a:gd name="adj" fmla="val 5000"/>
            </a:avLst>
          </a:prstGeom>
          <a:solidFill>
            <a:srgbClr val="F6E9E7"/>
          </a:solidFill>
          <a:ln w="12700">
            <a:solidFill>
              <a:srgbClr val="A6382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950" b="0">
                <a:solidFill>
                  <a:srgbClr val="A6382C"/>
                </a:solidFill>
                <a:latin typeface="Helvetica Neue"/>
              </a:rPr>
              <a:t>vector</a:t>
            </a:r>
          </a:p>
        </p:txBody>
      </p:sp>
      <p:sp>
        <p:nvSpPr>
          <p:cNvPr id="34" name="Rounded Rectangle 33"/>
          <p:cNvSpPr/>
          <p:nvPr/>
        </p:nvSpPr>
        <p:spPr>
          <a:xfrm>
            <a:off x="4041282" y="4949156"/>
            <a:ext cx="933419" cy="312804"/>
          </a:xfrm>
          <a:prstGeom prst="roundRect">
            <a:avLst>
              <a:gd name="adj" fmla="val 5000"/>
            </a:avLst>
          </a:prstGeom>
          <a:solidFill>
            <a:srgbClr val="F6E9E7"/>
          </a:solidFill>
          <a:ln w="12700">
            <a:solidFill>
              <a:srgbClr val="A6382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950" b="0">
                <a:solidFill>
                  <a:srgbClr val="A6382C"/>
                </a:solidFill>
                <a:latin typeface="Helvetica Neue"/>
              </a:rPr>
              <a:t>vector</a:t>
            </a:r>
          </a:p>
        </p:txBody>
      </p:sp>
      <p:sp>
        <p:nvSpPr>
          <p:cNvPr id="35" name="Rounded Rectangle 34"/>
          <p:cNvSpPr/>
          <p:nvPr/>
        </p:nvSpPr>
        <p:spPr>
          <a:xfrm>
            <a:off x="5101986" y="4949156"/>
            <a:ext cx="933419" cy="312804"/>
          </a:xfrm>
          <a:prstGeom prst="roundRect">
            <a:avLst>
              <a:gd name="adj" fmla="val 5000"/>
            </a:avLst>
          </a:prstGeom>
          <a:solidFill>
            <a:srgbClr val="F6E9E7"/>
          </a:solidFill>
          <a:ln w="12700">
            <a:solidFill>
              <a:srgbClr val="A6382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950" b="0">
                <a:solidFill>
                  <a:srgbClr val="A6382C"/>
                </a:solidFill>
                <a:latin typeface="Helvetica Neue"/>
              </a:rPr>
              <a:t>vector</a:t>
            </a:r>
          </a:p>
        </p:txBody>
      </p:sp>
      <p:sp>
        <p:nvSpPr>
          <p:cNvPr id="36" name="Rounded Rectangle 35"/>
          <p:cNvSpPr/>
          <p:nvPr/>
        </p:nvSpPr>
        <p:spPr>
          <a:xfrm>
            <a:off x="6162690" y="4949156"/>
            <a:ext cx="933419" cy="312804"/>
          </a:xfrm>
          <a:prstGeom prst="roundRect">
            <a:avLst>
              <a:gd name="adj" fmla="val 5000"/>
            </a:avLst>
          </a:prstGeom>
          <a:solidFill>
            <a:srgbClr val="E7EBF1"/>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950" b="1">
                <a:solidFill>
                  <a:srgbClr val="1E3A5F"/>
                </a:solidFill>
                <a:latin typeface="Helvetica Neue"/>
              </a:rPr>
              <a:t>fused</a:t>
            </a:r>
          </a:p>
        </p:txBody>
      </p:sp>
      <p:sp>
        <p:nvSpPr>
          <p:cNvPr id="37" name="Rounded Rectangle 36"/>
          <p:cNvSpPr/>
          <p:nvPr/>
        </p:nvSpPr>
        <p:spPr>
          <a:xfrm>
            <a:off x="7223394" y="4949156"/>
            <a:ext cx="933419" cy="312804"/>
          </a:xfrm>
          <a:prstGeom prst="roundRect">
            <a:avLst>
              <a:gd name="adj" fmla="val 5000"/>
            </a:avLst>
          </a:prstGeom>
          <a:solidFill>
            <a:srgbClr val="E7EBF1"/>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950" b="1">
                <a:solidFill>
                  <a:srgbClr val="1E3A5F"/>
                </a:solidFill>
                <a:latin typeface="Helvetica Neue"/>
              </a:rPr>
              <a:t>fused</a:t>
            </a:r>
          </a:p>
        </p:txBody>
      </p:sp>
      <p:sp>
        <p:nvSpPr>
          <p:cNvPr id="38" name="Rounded Rectangle 37"/>
          <p:cNvSpPr/>
          <p:nvPr/>
        </p:nvSpPr>
        <p:spPr>
          <a:xfrm>
            <a:off x="8284098" y="4949156"/>
            <a:ext cx="933419" cy="312804"/>
          </a:xfrm>
          <a:prstGeom prst="roundRect">
            <a:avLst>
              <a:gd name="adj" fmla="val 5000"/>
            </a:avLst>
          </a:prstGeom>
          <a:solidFill>
            <a:srgbClr val="E7EBF1"/>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950" b="1">
                <a:solidFill>
                  <a:srgbClr val="1E3A5F"/>
                </a:solidFill>
                <a:latin typeface="Helvetica Neue"/>
              </a:rPr>
              <a:t>fused</a:t>
            </a:r>
          </a:p>
        </p:txBody>
      </p:sp>
      <p:sp>
        <p:nvSpPr>
          <p:cNvPr id="39" name="Rounded Rectangle 38"/>
          <p:cNvSpPr/>
          <p:nvPr/>
        </p:nvSpPr>
        <p:spPr>
          <a:xfrm>
            <a:off x="9344802" y="4949156"/>
            <a:ext cx="933419" cy="312804"/>
          </a:xfrm>
          <a:prstGeom prst="roundRect">
            <a:avLst>
              <a:gd name="adj" fmla="val 5000"/>
            </a:avLst>
          </a:prstGeom>
          <a:solidFill>
            <a:srgbClr val="E7EBF1"/>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950" b="1">
                <a:solidFill>
                  <a:srgbClr val="1E3A5F"/>
                </a:solidFill>
                <a:latin typeface="Helvetica Neue"/>
              </a:rPr>
              <a:t>fused</a:t>
            </a:r>
          </a:p>
        </p:txBody>
      </p:sp>
      <p:sp>
        <p:nvSpPr>
          <p:cNvPr id="40" name="TextBox 39"/>
          <p:cNvSpPr txBox="1"/>
          <p:nvPr/>
        </p:nvSpPr>
        <p:spPr>
          <a:xfrm>
            <a:off x="2386584" y="5306647"/>
            <a:ext cx="3182111" cy="201168"/>
          </a:xfrm>
          <a:prstGeom prst="rect">
            <a:avLst/>
          </a:prstGeom>
          <a:noFill/>
        </p:spPr>
        <p:txBody>
          <a:bodyPr wrap="square" lIns="0" rIns="0" tIns="0" bIns="0">
            <a:spAutoFit/>
          </a:bodyPr>
          <a:lstStyle/>
          <a:p>
            <a:pPr algn="ctr"/>
            <a:r>
              <a:rPr sz="900" b="0">
                <a:solidFill>
                  <a:srgbClr val="A6382C"/>
                </a:solidFill>
                <a:latin typeface="Helvetica Neue"/>
              </a:rPr>
              <a:t>four slots reserved, so fusion can only add</a:t>
            </a:r>
          </a:p>
        </p:txBody>
      </p:sp>
      <p:sp>
        <p:nvSpPr>
          <p:cNvPr id="41" name="TextBox 40"/>
          <p:cNvSpPr txBox="1"/>
          <p:nvPr/>
        </p:nvSpPr>
        <p:spPr>
          <a:xfrm>
            <a:off x="6629400" y="5306647"/>
            <a:ext cx="3182111" cy="201168"/>
          </a:xfrm>
          <a:prstGeom prst="rect">
            <a:avLst/>
          </a:prstGeom>
          <a:noFill/>
        </p:spPr>
        <p:txBody>
          <a:bodyPr wrap="square" lIns="0" rIns="0" tIns="0" bIns="0">
            <a:spAutoFit/>
          </a:bodyPr>
          <a:lstStyle/>
          <a:p>
            <a:pPr algn="ctr"/>
            <a:r>
              <a:rPr sz="900" b="0">
                <a:solidFill>
                  <a:srgbClr val="4A5158"/>
                </a:solidFill>
                <a:latin typeface="Helvetica Neue"/>
              </a:rPr>
              <a:t>four slots decided by the vote</a:t>
            </a:r>
          </a:p>
        </p:txBody>
      </p:sp>
      <p:sp>
        <p:nvSpPr>
          <p:cNvPr id="42" name="TextBox 41"/>
          <p:cNvSpPr txBox="1"/>
          <p:nvPr/>
        </p:nvSpPr>
        <p:spPr>
          <a:xfrm>
            <a:off x="4507992" y="5485392"/>
            <a:ext cx="3182111" cy="201168"/>
          </a:xfrm>
          <a:prstGeom prst="rect">
            <a:avLst/>
          </a:prstGeom>
          <a:noFill/>
        </p:spPr>
        <p:txBody>
          <a:bodyPr wrap="square" lIns="0" rIns="0" tIns="0" bIns="0">
            <a:spAutoFit/>
          </a:bodyPr>
          <a:lstStyle/>
          <a:p>
            <a:pPr algn="ctr"/>
            <a:r>
              <a:rPr sz="800" b="0">
                <a:solidFill>
                  <a:srgbClr val="838B93"/>
                </a:solidFill>
                <a:latin typeface="Menlo"/>
              </a:rPr>
              <a:t>EIGHT PASSAGES</a:t>
            </a:r>
          </a:p>
        </p:txBody>
      </p:sp>
      <p:cxnSp>
        <p:nvCxnSpPr>
          <p:cNvPr id="43" name="Connector 42"/>
          <p:cNvCxnSpPr/>
          <p:nvPr/>
        </p:nvCxnSpPr>
        <p:spPr>
          <a:xfrm>
            <a:off x="6099048" y="5649242"/>
            <a:ext cx="0" cy="223432"/>
          </a:xfrm>
          <a:prstGeom prst="line">
            <a:avLst/>
          </a:prstGeom>
          <a:ln w="12700">
            <a:solidFill>
              <a:srgbClr val="838B93"/>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659428" y="5902465"/>
            <a:ext cx="4879238" cy="446863"/>
          </a:xfrm>
          <a:prstGeom prst="roundRect">
            <a:avLst>
              <a:gd name="adj" fmla="val 5000"/>
            </a:avLst>
          </a:prstGeom>
          <a:solidFill>
            <a:srgbClr val="F4F2EE"/>
          </a:solidFill>
          <a:ln w="12700">
            <a:solidFill>
              <a:srgbClr val="D8D5CD"/>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Bef>
                <a:spcPts val="0"/>
              </a:spcBef>
              <a:spcAft>
                <a:spcPts val="100"/>
              </a:spcAft>
            </a:pPr>
            <a:r>
              <a:rPr sz="1200" b="1">
                <a:solidFill>
                  <a:srgbClr val="14171B"/>
                </a:solidFill>
                <a:latin typeface="Helvetica Neue"/>
              </a:rPr>
              <a:t>Judge each passage on its own, then write</a:t>
            </a:r>
          </a:p>
          <a:p>
            <a:pPr algn="ctr">
              <a:spcBef>
                <a:spcPts val="0"/>
              </a:spcBef>
              <a:spcAft>
                <a:spcPts val="100"/>
              </a:spcAft>
            </a:pPr>
            <a:r>
              <a:rPr sz="850" b="0">
                <a:solidFill>
                  <a:srgbClr val="4A5158"/>
                </a:solidFill>
                <a:latin typeface="Helvetica Neue"/>
              </a:rPr>
              <a:t>one passage per call — never judged as a set</a:t>
            </a:r>
          </a:p>
          <a:p>
            <a:pPr algn="ctr">
              <a:spcBef>
                <a:spcPts val="0"/>
              </a:spcBef>
              <a:spcAft>
                <a:spcPts val="100"/>
              </a:spcAft>
            </a:pPr>
            <a:r>
              <a:rPr sz="850" b="0">
                <a:solidFill>
                  <a:srgbClr val="4A5158"/>
                </a:solidFill>
                <a:latin typeface="Helvetica Neue"/>
              </a:rPr>
              <a:t>if none of them helps, say so and stop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